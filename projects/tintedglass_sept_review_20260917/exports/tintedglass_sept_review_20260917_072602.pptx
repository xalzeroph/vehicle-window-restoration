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这个月的汇报，核心就是这一组数字：在最深的那一档贴膜、也就是 alpha 等于零点三时，raw PSNR 从零样本的十二点零五，做到了十八点五。下面我按时间线讲三件事：我们怎么把它做活的，哪些路走不通，以及接下来押哪两条腿。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先把任务和口径对齐。任务一句话：观测图等于逐像素衰减 alpha 乘上透射层 T，再加上反射层 R，我们要在只有单帧的条件下把 T 抠出来。深色车膜把光吃掉七成再叠上反射，所以这不是普通的去反射问题。路线是两阶段的，RDNet 先去反射，ExpoMamba 再提亮。基准用 v2.1，三档 alpha 乘十二个场景，口径是 raw 和 gm 两种 PSNR，并且强制并读常数基线与结构相关。另外我们立了三条护栏贯穿这个月：常数基线必须同框，结论必须在两个测试集上各自成立，统计一律用配对检验加场景聚类的百分之九十五置信区间。后面会看到，这三条每一条都救过一次结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起点是什么样的？直接拿 RDNet 官方权重在贴膜域跑，最深那一档只有十二点零五 dB。这个数字要和同档的常数基线一起看——一张涂成 GT 均值的平坦灰图，什么都不做，也能拿到十七点六八 dB，比零样本还高五点六 dB。结构相关只有零点二六，误差还随着 alpha 变小急剧上升。所以失败的性质很清楚：不是图像太暗，是内容被破坏了。这条判断决定了后面所有方法的方向。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这一个月的时间线大概是这样。九月九号做预演和实拍协议，十三号基准 v2.1 定版、跑了 pilot 的 A 和 B 两轮、也确认了 alpha 平台，十四号迁进共享机，十五号做数据卫生重建和分离器方案，十六号 S1 域适配判决，主结果落袋，十七号就是今天，出口判决、锚点探针和两个新方向。中间有两个明显的断点：搬迁占掉一整天，还有十五号那次数据卫生事故——训练池被测试集污染了，一批结论当场作废，我们按内容级核查重建之后才继续。渲染成橙色的两个节点就是这两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先说第一个困难。我们最开始的判断是 alpha 头没调好，但四个独立估计器——alpha 头、ridge、GLOBAL 和 B 臂，特征源和架构都不一样——估计结果全部落在零点六零五到零点七四一之间，而真值是一。四个独立方法撞在同一个平台上，说明这不是调参问题。理论上的原因也很清楚：在 I 等于 alpha T 加 R 这个模型下，把 alpha 放大 s 倍、同时把 T 缩小 s 倍，观测完全不变，所以单帧只能定下两者的乘积，这是本征分解的经典歧义。这和 Retinex、去雾、阴影消除是同一类问题，都要靠先验加锚点来消歧。所以方向不是继续调 alpha 头，而是把结构信息当锚点引进来——这一点在最后一页会回到。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第二个困难是一次事故。我们发现那个所谓的域匹配训练池，五百一十六个文件里其实只有十二张内容，而且这十二张全部就是测试集的 T。这意味着域匹配训练集整体泄漏，相关结果全部作废。麻烦的地方在于，按文件名查、按统计口径查都查不出来，必须按内容查。处置做了三件事：把内容级泄漏核查，md5 加感知哈希，固化进流程护栏；训练池按谱匹配加对比度加 JPEG 重编的配方重建；新引入的两个源也都过了内容级核查。教训只有一句：泄漏核查必须按内容，不能按文件名或统计口径。这条已经写进每一轮实验的准入检查。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第三个困难不是技术，是统计。这个月我们踩了三个都能翻转判断的坑。第一是常数基线：低对比的 GT 下，一张平坦图就能拿十七点六八 dB，所以低档位的 PSNR 必须和基线并读，否则会把平凡解当成进展。第二是结论跟着测试集走：同一个 w 重加权组件，在 v2.1 上是负的，在扩增集上是正的；R 的偏差在 v2.1 偏亮、在扩增集偏暗。单测试集的结论不能外推。第三是噪声和门槛同量级：seed 之间的极差就有零点四到零点六 dB，而我们的判据门槛也是这个量级，所以一律要用配对检验加场景聚类的百分之九十五置信区间，不读单 seed 的点估计。三条合起来是一句：口径先于结论——每一个数字旁边都要站着它的基线、测试集和不确定性。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这是这个月的主结果。零样本在最深那一档是十二点零五，域适配之后做到十八点五，提了六点四 dB；另外两档分别是十九点七，不低于官方权重。方法很简单：冻结 FocalNet 主干，做三万步的域适配微调，配上干净的数据管线。结构相关从零点二六提到零点六三。下面这六列对照，每一行是一个场景，从左到右是输入、GT、零样本、pilot 和域适配的结果——请重点看第三列和第五列的区别：零样本基本是坏掉的，域适配把内容找回回来了。这也印证了前面的判断：原来的失败是内容级损伤，域适配修的是内容，不是亮度。四条臂的结果在十八点三到十八点七之间，是稳健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接下来讲低 alpha 专支，这一页要说清楚增益和代价各自落在哪儿。在四十八个场景的扩增集上做无泄漏重评，freeze 减 plain 的增益是：alpha 等于零点零五时正一点三一，零点一时正一点七五，零点二时正一点零九，零点三时正零点五二，而到了一就变成负零点三六。三个低档的聚类置信区间下界都大于零，但零点三档已经贴线。代价这一侧，在 v2.1 上 alpha 等于零点六和一时分别是负一点七五和负零点九四——注意这个量级只在 v2.1 上成立，两个集之间不能直接换算。所以定位很清楚：这不是一个独立的增益，而是一个把工作点往低 alpha 搬的旋钮，价值主要在零点二档及以下。它是低 alpha 专支，和主臂分工，不作替代。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这一页是我们对"这题能到哪"的量化回答。四条参考线：最上面是真值天花板，用真 R 加精确的逐像素 alpha，能做到三十点七、三十四点一、三十四点九；往下是用我们自己训出来的 R̂ 配合真 alpha 做物理除法，掉到十七点二、二十点三、二十二点三；我们当前方法在十八点五、十九点七、十九点七；最下面是平坦图常数基线十七点六八。三档 alpha 顺序对应。这张图的价值在于：差距几乎全部出在 R̂ 和 alpha 这两处，不在方法结构上。别人问这个任务能到什么程度，我们有一张分档的答案。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这是本轮最关键的科学发现，也是两个负结果里的第一个。我们设计了一个物理除法出口：在冻结主干的基础上，加一个两万两千参数的出口头，公式是 T̂ 等于一减 beta 乘 T̂ head，加上 beta 乘 I 减 R̂ 除以 alpha 的估计。E 臂用估计的 alpha 做除法，G 臂用自由增益，各跑两个 seed。判决是：E 和 G 完全等价，差异不超过零点零二 dB，而且 alpha 等于一时相对 plain 还掉了二点零二 dB。也就是说，出口的净效应只是把工作点搬走。但接下来这个反事实诊断是决定性的：保留训练好的 beta，只把 alpha 换成真值，数值立刻跳到二十二点一五、二十一点一八、十八点八五，alpha 等于一时单档涨四点二六 dB，和训练前算的天花板二十二点二五几乎重合。结论就是标题这句：出口机制没问题，瓶颈是 alpha 的跨域校准。所以出口线我们条件性冻结了，重启条件是 alpha 的跨域误差足够小——目前测试端场景均值的 MAE 是零点二六、零点一七、零点零七，还远高于零点一这个门。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顺着上一页的归因往下追，瓶颈就落到 R̂ 上。误差预算是这样的：用真 R 时物理除法能到三十点七、三十四点一、三十四点九，换成我们训出来的 R̂ 就只剩十七点二、二十点三、二十二点三，落差十三点五、十三点七、十二点六 dB。原因是低 alpha 档的除法把 R̂ 的误差按 1 除以 alpha 放大了，零点三档这个倍数大约是二点四四。更麻烦的是 R̂ 的偏差还会跨域翻符号：在 v2.1 上偏亮，正四到正十五灰阶，百分之九十二同号；到了扩增集上反而偏暗。同一个根因的两种表现。根因假设是 R 训练池太小——只有一百三十一张，六百零一个候选里剔掉了四百七十个，而其中真正与测试 R 同簇的其实只有七十五张。下一页就说这两条腿怎么补。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两条腿里的第一条在特征侧。依据是一条同构的先例：CVPR 二〇二六的 GFRRN 发现全量微调掉分，从二十六点七掉到二十五点三五，而加 Mona 适配器反而涨分，从二十五点三五回到二十七点三三。我们在 pilot 上也见过同一个现象——长训之后 R̂ 反而下降。所以这是一个判别性实验：如果 Mona 有效，说明特征侧是瓶颈；如果无效，说明问题在数据侧。目前的进度是官方实现已经调研完，插入点确认在 FocalNet 块内两个残差之后，实现和冒烟测试正在进行。预期我给得比较诚实，正零点二到正零点八 dB，点估计正零点五；无论结果如何都有信息量。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第二条腿在数据侧，就是扩池。先解释池子为什么这么小：六百零一个候选里，只保留了一百三十一张，剔除构成是两百二十六张冗余副本、一百六十九张孪生、七十五张与测试 R 同簇。保留下来的这一百三十一张里，十七张来自 RRW 场景层，一百一十四张来自 wsoft。那是不是还有大片没开采？查过之后答案是否定的：本地 RRW 的一万零五百零八帧、四十二个场景已经全部开采完，未用场景是零。真正的余量在还没下载的场景上，一共一百零七个。扩池计划是把新提取的窗口过一遍孪生簇安全网，目标把干净池从一百三十一扩到两百八十七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第三个方向是储备，分两块。第一块是结构锚，两个都是零训练就能拿到的。边界台阶锚只读图像的硬边界结构，估计误差的 MAE 是零点零八零，场景聚类的置信区间零点零五九到零点一零一，R 真值的下界是零点零二三。多档配对不变量是无掩膜口径下误差百分之零点零六五，GT 掩膜口径是零点三一和零点二五；它描述的是同一物理量在两档之间的比值关系恒定。下一步是把这两个锚放进训练做一致性损失。第二块是全膜，也就是完全没有参照的场景：单帧不可辨，解不出唯一的 alpha，所以改用一个候选族加一次标定的协议——给出同一张图的若干亮度档，由一次外部标定来选。目前 oracle@k 扩档到 k 等于七是二十点九零 dB，标定之后的选择悔值是三点二零 dB，前二命中百分之八十六，按采纳门还需要改进，所以我们诚实地把它标成储备，不是已解决。新颖性上，文献调研确认单帧、硬边界、离散档、深衰减这个组合还没有人占位。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是我对这个项目的三条判断和推进节奏。判断一，主线：论文押域适配加可辨识性地图，也就是刚才那个十二到十八点五的主结果，加上把可辨识性边界量化成图；方法增量是上行空间，不是前提。判断二，止损：物理除法出口在低 alpha 档判死，判死的原因是 alpha 而不是机制，重启条件是 alpha 的跨域误差足够小，在此之前不再投入算力。判断三，新方向：特征侧的 Mona 适配器和数据侧的 RRW 扩池并行验证，本周内出判决。节奏上，本周跑 PEFT 和扩池并出判决，下周把结构锚放进训练做一致性损失，实拍 sanity 等数据到位就排，用来补定量缺口。风险我如实说：目前所有主结论都是合成域上的结论，实拍定量还待补。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tintedglass_sept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tintedglass_sept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6c60c2178eccea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5510a37b0d1f07e.png"/>
  <Relationship Id="rId3" Type="http://schemas.openxmlformats.org/officeDocument/2006/relationships/image" Target="../media/image_63c5f63e3d6f03c1.png"/>
  <Relationship Id="rId4" Type="http://schemas.openxmlformats.org/officeDocument/2006/relationships/image" Target="../media/image_05d9873ad925a3b2.png"/>
  <Relationship Id="rId5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70e782c9df973a4.png"/>
  <Relationship Id="rId3" Type="http://schemas.openxmlformats.org/officeDocument/2006/relationships/image" Target="../media/image_f9ef4531cf3f5984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d81cd88eb3f5090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1efbd9824a72632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d58435f8f3d81dc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f0145463893c608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fec55a1a3a112d7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2168e07e4e69863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8222436d0bb2646.png"/>
  <Relationship Id="rId3" Type="http://schemas.openxmlformats.org/officeDocument/2006/relationships/image" Target="../media/image_195bc16ce3a70361.png"/>
  <Relationship Id="rId4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headline"/>
          <p:cNvGrpSpPr/>
          <p:nvPr/>
        </p:nvGrpSpPr>
        <p:grpSpPr>
          <a:xfrm>
            <a:off x="590550" y="768668"/>
            <a:ext cx="7353300" cy="2488882"/>
            <a:chOff x="590550" y="768668"/>
            <a:chExt cx="7353300" cy="248888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68668"/>
              <a:ext cx="21423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9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组会汇报 · 2026-09-17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158240"/>
              <a:ext cx="7353300" cy="1695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深色贴膜玻璃透射成像增强</a:t>
              </a:r>
              <a:br/>
              <a:r>
                <a:rPr lang="zh-CN" sz="4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 月进展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7408" y="276987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域适配、可辨识性边界、与下一步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09600" y="3219450"/>
              <a:ext cx="1143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" name="cover-hook"/>
          <p:cNvGrpSpPr/>
          <p:nvPr/>
        </p:nvGrpSpPr>
        <p:grpSpPr>
          <a:xfrm>
            <a:off x="9390183" y="1435418"/>
            <a:ext cx="2211267" cy="1856422"/>
            <a:chOff x="9390183" y="1435418"/>
            <a:chExt cx="2211267" cy="1856422"/>
          </a:xfrm>
        </p:grpSpPr>
        <p:sp>
          <p:nvSpPr>
            <p:cNvPr id="7" name="TextBox 7"/>
            <p:cNvSpPr txBox="1"/>
            <p:nvPr/>
          </p:nvSpPr>
          <p:spPr>
            <a:xfrm>
              <a:off x="9390183" y="1435418"/>
              <a:ext cx="2199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α = 0.3 档 raw PSNR (dB)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786366" y="1691640"/>
              <a:ext cx="18150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dirty="0">
                  <a:solidFill>
                    <a:srgbClr val="8A9099"/>
                  </a:solidFill>
                  <a:latin typeface="+mn-lt"/>
                  <a:ea typeface="+mn-ea"/>
                  <a:cs typeface="+mn-cs"/>
                </a:rPr>
                <a:t>12.05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93971" y="2358390"/>
              <a:ext cx="210747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18.5</a:t>
              </a:r>
            </a:p>
          </p:txBody>
        </p:sp>
      </p:grpSp>
      <p:grpSp>
        <p:nvGrpSpPr>
          <p:cNvPr id="12" name="cover-evidence"/>
          <p:cNvGrpSpPr/>
          <p:nvPr/>
        </p:nvGrpSpPr>
        <p:grpSpPr>
          <a:xfrm>
            <a:off x="728662" y="3429000"/>
            <a:ext cx="10734675" cy="3429000"/>
            <a:chOff x="728662" y="3429000"/>
            <a:chExt cx="10734675" cy="3429000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662" y="3429000"/>
              <a:ext cx="10734675" cy="3429000"/>
            </a:xfrm>
            <a:prstGeom prst="rect">
              <a:avLst/>
            </a:prstGeom>
          </p:spPr>
        </p:pic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799427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任务是把 </a:t>
              </a:r>
              <a:r>
                <a:rPr lang="el-GR" sz="3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 = α(x)·T + R</a:t>
              </a:r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里的 T 抠出来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task-model"/>
          <p:cNvGrpSpPr/>
          <p:nvPr/>
        </p:nvGrpSpPr>
        <p:grpSpPr>
          <a:xfrm>
            <a:off x="597408" y="1436370"/>
            <a:ext cx="5727192" cy="2430780"/>
            <a:chOff x="597408" y="1436370"/>
            <a:chExt cx="5727192" cy="2430780"/>
          </a:xfrm>
        </p:grpSpPr>
        <p:sp>
          <p:nvSpPr>
            <p:cNvPr id="5" name="TextBox 5"/>
            <p:cNvSpPr txBox="1"/>
            <p:nvPr/>
          </p:nvSpPr>
          <p:spPr>
            <a:xfrm>
              <a:off x="597408" y="143637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场景与成像模型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1920240"/>
              <a:ext cx="349300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深色车膜（α ≪ 1）下的单帧成像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 I 由透射层 T 与反射层 R 叠加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而成；目标是只凭单帧 I 还原 T。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2990850"/>
              <a:ext cx="5715000" cy="876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6770" y="3109912"/>
              <a:ext cx="27788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22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 = α(x) · T + 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353091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车膜吃掉七成光再叠上反射，要还原「车里长什么样」</a:t>
              </a:r>
            </a:p>
          </p:txBody>
        </p:sp>
      </p:grpSp>
      <p:grpSp>
        <p:nvGrpSpPr>
          <p:cNvPr id="21" name="task-route"/>
          <p:cNvGrpSpPr/>
          <p:nvPr/>
        </p:nvGrpSpPr>
        <p:grpSpPr>
          <a:xfrm>
            <a:off x="6655308" y="1436370"/>
            <a:ext cx="4927092" cy="2282381"/>
            <a:chOff x="6655308" y="1436370"/>
            <a:chExt cx="4927092" cy="2282381"/>
          </a:xfrm>
        </p:grpSpPr>
        <p:sp>
          <p:nvSpPr>
            <p:cNvPr id="11" name="TextBox 11"/>
            <p:cNvSpPr txBox="1"/>
            <p:nvPr/>
          </p:nvSpPr>
          <p:spPr>
            <a:xfrm>
              <a:off x="6655308" y="14363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两阶段路线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0" y="2057400"/>
              <a:ext cx="180975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01506" y="2205990"/>
              <a:ext cx="741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RDNet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2912" y="2521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去反射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591550" y="2305050"/>
              <a:ext cx="571500" cy="41910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277350" y="2057400"/>
              <a:ext cx="230505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31565" y="2205990"/>
              <a:ext cx="13966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ExpoMamba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59543" y="2521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低光增强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8356" y="3082290"/>
              <a:ext cx="3107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基准 v2.1：3 档 α × 12 场景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0642" y="3454718"/>
              <a:ext cx="3465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 raw/gm PSNR · 常数基线 · 结构相关</a:t>
              </a:r>
            </a:p>
          </p:txBody>
        </p:sp>
      </p:grpSp>
      <p:grpSp>
        <p:nvGrpSpPr>
          <p:cNvPr id="31" name="guard-baseline"/>
          <p:cNvGrpSpPr/>
          <p:nvPr/>
        </p:nvGrpSpPr>
        <p:grpSpPr>
          <a:xfrm>
            <a:off x="602742" y="4152900"/>
            <a:ext cx="2003298" cy="1299401"/>
            <a:chOff x="602742" y="4152900"/>
            <a:chExt cx="2003298" cy="1299401"/>
          </a:xfrm>
        </p:grpSpPr>
        <p:sp>
          <p:nvSpPr>
            <p:cNvPr id="22" name="Rectangle 22"/>
            <p:cNvSpPr/>
            <p:nvPr/>
          </p:nvSpPr>
          <p:spPr>
            <a:xfrm>
              <a:off x="609600" y="415290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57225" y="4352925"/>
              <a:ext cx="285750" cy="279401"/>
              <a:chOff x="657225" y="4352925"/>
              <a:chExt cx="285750" cy="2794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20725" y="462280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4850" y="438467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0100" y="435292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7225" y="440055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47725" y="440055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133856" y="4396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常数基线同框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742" y="4940618"/>
              <a:ext cx="19682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低对比 GT 下涂成 GT 均值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也能拿 17.68 dB</a:t>
              </a:r>
            </a:p>
          </p:txBody>
        </p:sp>
      </p:grpSp>
      <p:grpSp>
        <p:nvGrpSpPr>
          <p:cNvPr id="40" name="guard-dual-set"/>
          <p:cNvGrpSpPr/>
          <p:nvPr/>
        </p:nvGrpSpPr>
        <p:grpSpPr>
          <a:xfrm>
            <a:off x="4336542" y="4152900"/>
            <a:ext cx="2071116" cy="1299401"/>
            <a:chOff x="4336542" y="4152900"/>
            <a:chExt cx="2071116" cy="1299401"/>
          </a:xfrm>
        </p:grpSpPr>
        <p:sp>
          <p:nvSpPr>
            <p:cNvPr id="32" name="Rectangle 32"/>
            <p:cNvSpPr/>
            <p:nvPr/>
          </p:nvSpPr>
          <p:spPr>
            <a:xfrm>
              <a:off x="4343400" y="415290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4422775" y="4368800"/>
              <a:ext cx="238125" cy="269876"/>
              <a:chOff x="4422775" y="4368800"/>
              <a:chExt cx="238125" cy="2698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4422775" y="4368800"/>
                <a:ext cx="190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54001">
                    <a:moveTo>
                      <a:pt x="73263" y="254001"/>
                    </a:moveTo>
                    <a:lnTo>
                      <a:pt x="31750" y="254001"/>
                    </a:lnTo>
                    <a:cubicBezTo>
                      <a:pt x="14215" y="254001"/>
                      <a:pt x="0" y="239786"/>
                      <a:pt x="0" y="2222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565650" y="45751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4486275" y="4432300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486275" y="449580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4867656" y="4396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双测试集固定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36542" y="494061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结论只在单集成立时不外推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v2.1 与扩增集各自报数</a:t>
              </a:r>
            </a:p>
          </p:txBody>
        </p:sp>
      </p:grpSp>
      <p:grpSp>
        <p:nvGrpSpPr>
          <p:cNvPr id="47" name="guard-ci"/>
          <p:cNvGrpSpPr/>
          <p:nvPr/>
        </p:nvGrpSpPr>
        <p:grpSpPr>
          <a:xfrm>
            <a:off x="8070342" y="4152900"/>
            <a:ext cx="2120421" cy="1299401"/>
            <a:chOff x="8070342" y="4152900"/>
            <a:chExt cx="2120421" cy="1299401"/>
          </a:xfrm>
        </p:grpSpPr>
        <p:sp>
          <p:nvSpPr>
            <p:cNvPr id="41" name="Rectangle 41"/>
            <p:cNvSpPr/>
            <p:nvPr/>
          </p:nvSpPr>
          <p:spPr>
            <a:xfrm>
              <a:off x="8077200" y="415290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140700" y="4400550"/>
              <a:ext cx="254001" cy="215901"/>
              <a:chOff x="8140700" y="4400550"/>
              <a:chExt cx="254001" cy="21590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140700" y="4606926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140700" y="440055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142875"/>
                    </a:moveTo>
                    <a:lnTo>
                      <a:pt x="63500" y="47625"/>
                    </a:lnTo>
                    <a:lnTo>
                      <a:pt x="127000" y="79375"/>
                    </a:lnTo>
                    <a:lnTo>
                      <a:pt x="190500" y="0"/>
                    </a:lnTo>
                    <a:lnTo>
                      <a:pt x="254001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601456" y="4396740"/>
              <a:ext cx="1589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配对 + 聚类 CI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70342" y="4940618"/>
              <a:ext cx="203682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一律配对检验 + 场景聚类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95% CI，不读单 seed 点估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603504" y="6252210"/>
              <a:ext cx="3976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 raw PSNR (dB) · 2 seed 均值 · 场景聚类 95% CI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72409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官方权重直接跑，还不如一张平坦灰图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" name="p03-testset"/>
          <p:cNvGrpSpPr/>
          <p:nvPr/>
        </p:nvGrpSpPr>
        <p:grpSpPr>
          <a:xfrm>
            <a:off x="609600" y="1437535"/>
            <a:ext cx="2072640" cy="3220930"/>
            <a:chOff x="609600" y="1437535"/>
            <a:chExt cx="2072640" cy="322093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37535"/>
              <a:ext cx="2072640" cy="3220930"/>
            </a:xfrm>
            <a:prstGeom prst="rect">
              <a:avLst/>
            </a:prstGeom>
          </p:spPr>
        </p:pic>
      </p:grpSp>
      <p:grpSp>
        <p:nvGrpSpPr>
          <p:cNvPr id="9" name="p03-error-chart"/>
          <p:cNvGrpSpPr/>
          <p:nvPr/>
        </p:nvGrpSpPr>
        <p:grpSpPr>
          <a:xfrm>
            <a:off x="2905506" y="1501140"/>
            <a:ext cx="3659600" cy="2708910"/>
            <a:chOff x="2905506" y="1501140"/>
            <a:chExt cx="3659600" cy="2708910"/>
          </a:xfrm>
        </p:grpSpPr>
        <p:sp>
          <p:nvSpPr>
            <p:cNvPr id="7" name="TextBox 7"/>
            <p:cNvSpPr txBox="1"/>
            <p:nvPr/>
          </p:nvSpPr>
          <p:spPr>
            <a:xfrm>
              <a:off x="2905506" y="1501140"/>
              <a:ext cx="24917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误差随 α 下降急剧上升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1794" y="1866900"/>
              <a:ext cx="3643312" cy="2343150"/>
            </a:xfrm>
            <a:prstGeom prst="rect">
              <a:avLst/>
            </a:prstGeom>
          </p:spPr>
        </p:pic>
      </p:grpSp>
      <p:grpSp>
        <p:nvGrpSpPr>
          <p:cNvPr id="15" name="p03-numbers"/>
          <p:cNvGrpSpPr/>
          <p:nvPr/>
        </p:nvGrpSpPr>
        <p:grpSpPr>
          <a:xfrm>
            <a:off x="6781800" y="1549718"/>
            <a:ext cx="4800600" cy="3218116"/>
            <a:chOff x="6781800" y="1549718"/>
            <a:chExt cx="4800600" cy="3218116"/>
          </a:xfrm>
        </p:grpSpPr>
        <p:sp>
          <p:nvSpPr>
            <p:cNvPr id="10" name="TextBox 10"/>
            <p:cNvSpPr txBox="1"/>
            <p:nvPr/>
          </p:nvSpPr>
          <p:spPr>
            <a:xfrm>
              <a:off x="6793992" y="1549718"/>
              <a:ext cx="352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零样本（官方权重）· α = 0.3 档 raw PSNR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0" y="1882140"/>
              <a:ext cx="29335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12.05 dB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00850" y="27051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91706" y="2910840"/>
              <a:ext cx="315010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同一档上，一张涂成 GT 均值的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平坦图能拿 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17.68 dB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，比它高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5.6 dB。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91706" y="4072890"/>
              <a:ext cx="3358134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结构相关仅 </a:t>
              </a:r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0.26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；失败是内容级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损伤，不是亮度问题。</a:t>
              </a:r>
            </a:p>
          </p:txBody>
        </p:sp>
      </p:grpSp>
      <p:grpSp>
        <p:nvGrpSpPr>
          <p:cNvPr id="17" name="p03-structure-chart"/>
          <p:cNvGrpSpPr/>
          <p:nvPr/>
        </p:nvGrpSpPr>
        <p:grpSpPr>
          <a:xfrm>
            <a:off x="686602" y="4857750"/>
            <a:ext cx="10818796" cy="1219200"/>
            <a:chOff x="686602" y="4857750"/>
            <a:chExt cx="10818796" cy="1219200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6602" y="4857750"/>
              <a:ext cx="10818796" cy="1219200"/>
            </a:xfrm>
            <a:prstGeom prst="rect">
              <a:avLst/>
            </a:prstGeom>
          </p:spPr>
        </p:pic>
      </p:grpSp>
      <p:grpSp>
        <p:nvGrpSpPr>
          <p:cNvPr id="20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252210"/>
              <a:ext cx="6777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eval/rdt_zeroshot_synth_rrw_v21_0913 · 常数基线 17.68 dB 为 GT 均值平坦图口径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九月这条路：从定基准到把边界量化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0" name="p04-timeline"/>
          <p:cNvGrpSpPr/>
          <p:nvPr/>
        </p:nvGrpSpPr>
        <p:grpSpPr>
          <a:xfrm>
            <a:off x="609600" y="3006090"/>
            <a:ext cx="10972800" cy="1608011"/>
            <a:chOff x="609600" y="3006090"/>
            <a:chExt cx="10972800" cy="1608011"/>
          </a:xfrm>
        </p:grpSpPr>
        <p:sp>
          <p:nvSpPr>
            <p:cNvPr id="5" name="Line 5"/>
            <p:cNvSpPr/>
            <p:nvPr/>
          </p:nvSpPr>
          <p:spPr>
            <a:xfrm>
              <a:off x="609600" y="3619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04950" y="3006090"/>
              <a:ext cx="438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9.9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524000" y="3333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438275" y="3533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1062" y="3854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预演与实拍协议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63781" y="30060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9.13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3352800" y="3333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267075" y="3533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63012" y="3854768"/>
              <a:ext cx="117957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基准 v2.1 定版</a:t>
              </a:r>
              <a:br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pilot A/B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平台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92581" y="30060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9.14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181600" y="3333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5095875" y="3533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46117" y="3854768"/>
              <a:ext cx="8709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迁入共享机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环境重建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21381" y="30060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9.15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010400" y="3333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6924675" y="3533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89192" y="3854768"/>
              <a:ext cx="10424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数据卫生重建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分离器方案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50181" y="30060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9.16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839200" y="3333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8753475" y="3533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83702" y="3854768"/>
              <a:ext cx="11109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S1 域适配判决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主结果落袋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78981" y="300609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9.17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0668000" y="3333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582275" y="3533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18242" y="3854768"/>
              <a:ext cx="69951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出口判决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锚点探针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新方向</a:t>
              </a:r>
            </a:p>
          </p:txBody>
        </p:sp>
      </p:grpSp>
      <p:grpSp>
        <p:nvGrpSpPr>
          <p:cNvPr id="33" name="p04-breaks"/>
          <p:cNvGrpSpPr/>
          <p:nvPr/>
        </p:nvGrpSpPr>
        <p:grpSpPr>
          <a:xfrm>
            <a:off x="600456" y="4987290"/>
            <a:ext cx="6128194" cy="960311"/>
            <a:chOff x="600456" y="4987290"/>
            <a:chExt cx="6128194" cy="960311"/>
          </a:xfrm>
        </p:grpSpPr>
        <p:sp>
          <p:nvSpPr>
            <p:cNvPr id="31" name="TextBox 31"/>
            <p:cNvSpPr txBox="1"/>
            <p:nvPr/>
          </p:nvSpPr>
          <p:spPr>
            <a:xfrm>
              <a:off x="600456" y="4987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两个断点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2742" y="5435918"/>
              <a:ext cx="612590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9.14 迁入共享机：环境重建占用一天，训练链整体重跑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9.15 数据卫生事故：训练池被测试集 T 污染，一批结论作废后按内容级核查重建</a:t>
              </a: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603504" y="6252210"/>
              <a:ext cx="2669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项目日志整理 · 橙点为节奏断点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89159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四个独立估计器全部撞在 0.7：这不是调参问题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" name="p05-curves"/>
          <p:cNvGrpSpPr/>
          <p:nvPr/>
        </p:nvGrpSpPr>
        <p:grpSpPr>
          <a:xfrm>
            <a:off x="609600" y="1371600"/>
            <a:ext cx="10972800" cy="3073718"/>
            <a:chOff x="609600" y="1371600"/>
            <a:chExt cx="10972800" cy="3073718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371600"/>
              <a:ext cx="10972800" cy="3073718"/>
            </a:xfrm>
            <a:prstGeom prst="rect">
              <a:avLst/>
            </a:prstGeom>
          </p:spPr>
        </p:pic>
      </p:grpSp>
      <p:grpSp>
        <p:nvGrpSpPr>
          <p:cNvPr id="8" name="p05-maps"/>
          <p:cNvGrpSpPr/>
          <p:nvPr/>
        </p:nvGrpSpPr>
        <p:grpSpPr>
          <a:xfrm>
            <a:off x="609600" y="4572000"/>
            <a:ext cx="4762500" cy="1428750"/>
            <a:chOff x="609600" y="4572000"/>
            <a:chExt cx="4762500" cy="142875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4572000"/>
              <a:ext cx="4762500" cy="1428750"/>
            </a:xfrm>
            <a:prstGeom prst="rect">
              <a:avLst/>
            </a:prstGeom>
          </p:spPr>
        </p:pic>
      </p:grpSp>
      <p:grpSp>
        <p:nvGrpSpPr>
          <p:cNvPr id="11" name="p05-reading"/>
          <p:cNvGrpSpPr/>
          <p:nvPr/>
        </p:nvGrpSpPr>
        <p:grpSpPr>
          <a:xfrm>
            <a:off x="5553456" y="4720590"/>
            <a:ext cx="3796474" cy="1360361"/>
            <a:chOff x="5553456" y="4720590"/>
            <a:chExt cx="3796474" cy="1360361"/>
          </a:xfrm>
        </p:grpSpPr>
        <p:sp>
          <p:nvSpPr>
            <p:cNvPr id="9" name="TextBox 9"/>
            <p:cNvSpPr txBox="1"/>
            <p:nvPr/>
          </p:nvSpPr>
          <p:spPr>
            <a:xfrm>
              <a:off x="5553456" y="4720590"/>
              <a:ext cx="31799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单帧只能定乘积，上限约 0.7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55742" y="5073968"/>
              <a:ext cx="3794188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四个独立估计器全部落在 0.605–0.741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（α 头 / ridge-ALL / GLOBAL / B 臂）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Retinex、去雾、阴影同属「先验 + 锚点」消歧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与其继续调 α 头，不如引入结构锚</a:t>
              </a:r>
            </a:p>
          </p:txBody>
        </p:sp>
      </p:grpSp>
      <p:grpSp>
        <p:nvGrpSpPr>
          <p:cNvPr id="14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252210"/>
              <a:ext cx="67081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docs/2026.9.13 α 线改进方向评审 · 上为四估计器饱和曲线，下为 α 估计图与真值对照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80678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域匹配训练池 516 个文件，只有 12 张内容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p06-story"/>
          <p:cNvGrpSpPr/>
          <p:nvPr/>
        </p:nvGrpSpPr>
        <p:grpSpPr>
          <a:xfrm>
            <a:off x="600456" y="1519781"/>
            <a:ext cx="3959352" cy="4218270"/>
            <a:chOff x="600456" y="1519781"/>
            <a:chExt cx="3959352" cy="4218270"/>
          </a:xfrm>
        </p:grpSpPr>
        <p:grpSp>
          <p:nvGrpSpPr>
            <p:cNvPr id="8" name="Group 8"/>
            <p:cNvGrpSpPr/>
            <p:nvPr/>
          </p:nvGrpSpPr>
          <p:grpSpPr>
            <a:xfrm>
              <a:off x="633919" y="1519781"/>
              <a:ext cx="256151" cy="220068"/>
              <a:chOff x="633919" y="1519781"/>
              <a:chExt cx="256151" cy="22006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762000" y="16002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33919" y="151978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62000" y="16890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19556" y="1558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1949768"/>
              <a:ext cx="33398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augmented 池 516 个文件，只有 12 张内容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而且这 12 张全部就是测试集的 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5869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影响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2959418"/>
              <a:ext cx="37856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域匹配训练集整体泄漏，相关结果全部作废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按文件名与统计口径都查不出来，必须按内容核查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3596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2742" y="3969068"/>
              <a:ext cx="395706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内容级泄漏核查（md5 + 感知哈希）固化为流程护栏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训练池按「谱匹配 + 对比度 + JPEG 重编」配方重建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新源 rrw_gt / real_tl 均已通过内容级核查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4853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5226368"/>
              <a:ext cx="36141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泄漏核查必须按内容，不能按文件名或统计口径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这条护栏已写进每一轮实验的准入检查</a:t>
              </a:r>
            </a:p>
          </p:txBody>
        </p:sp>
      </p:grpSp>
      <p:grpSp>
        <p:nvGrpSpPr>
          <p:cNvPr id="19" name="p06-leak-chart"/>
          <p:cNvGrpSpPr/>
          <p:nvPr/>
        </p:nvGrpSpPr>
        <p:grpSpPr>
          <a:xfrm>
            <a:off x="7533279" y="1428750"/>
            <a:ext cx="4040592" cy="3864292"/>
            <a:chOff x="7533279" y="1428750"/>
            <a:chExt cx="4040592" cy="386429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33279" y="1428750"/>
              <a:ext cx="4040592" cy="3864292"/>
            </a:xfrm>
            <a:prstGeom prst="rect">
              <a:avLst/>
            </a:prstGeom>
          </p:spPr>
        </p:pic>
      </p:grpSp>
      <p:grpSp>
        <p:nvGrpSpPr>
          <p:cNvPr id="22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603504" y="6252210"/>
              <a:ext cx="4769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docs/2026.9.15 训练池重建记录 · 右为孪生簇内容核查结果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三个足以翻转判断的统计陷阱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trap-baseline"/>
          <p:cNvGrpSpPr/>
          <p:nvPr/>
        </p:nvGrpSpPr>
        <p:grpSpPr>
          <a:xfrm>
            <a:off x="597408" y="1466850"/>
            <a:ext cx="3517392" cy="2537651"/>
            <a:chOff x="597408" y="1466850"/>
            <a:chExt cx="3517392" cy="2537651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57225" y="1666875"/>
              <a:ext cx="285750" cy="279401"/>
              <a:chOff x="657225" y="1666875"/>
              <a:chExt cx="285750" cy="2794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20725" y="19367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04850" y="16986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00100" y="16668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57225" y="17145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7725" y="17145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597408" y="22936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常数基线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7622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2742" y="2997518"/>
              <a:ext cx="184094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低对比 GT 下，一张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涂成 GT 均值的平坦图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就能拿 </a:t>
              </a:r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17.68 dB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。低档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PSNR 必须并读基线。</a:t>
              </a:r>
            </a:p>
          </p:txBody>
        </p:sp>
      </p:grpSp>
      <p:grpSp>
        <p:nvGrpSpPr>
          <p:cNvPr id="23" name="trap-testset-sign"/>
          <p:cNvGrpSpPr/>
          <p:nvPr/>
        </p:nvGrpSpPr>
        <p:grpSpPr>
          <a:xfrm>
            <a:off x="4331208" y="1466850"/>
            <a:ext cx="3517392" cy="2537651"/>
            <a:chOff x="4331208" y="1466850"/>
            <a:chExt cx="3517392" cy="2537651"/>
          </a:xfrm>
        </p:grpSpPr>
        <p:sp>
          <p:nvSpPr>
            <p:cNvPr id="16" name="Rectangle 16"/>
            <p:cNvSpPr/>
            <p:nvPr/>
          </p:nvSpPr>
          <p:spPr>
            <a:xfrm>
              <a:off x="4343400" y="146685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4406900" y="1714500"/>
              <a:ext cx="254001" cy="215901"/>
              <a:chOff x="4406900" y="1714500"/>
              <a:chExt cx="254001" cy="21590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406900" y="1920876"/>
                <a:ext cx="2540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">
                    <a:moveTo>
                      <a:pt x="0" y="0"/>
                    </a:move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406900" y="171450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142875"/>
                    </a:moveTo>
                    <a:lnTo>
                      <a:pt x="63500" y="47625"/>
                    </a:lnTo>
                    <a:lnTo>
                      <a:pt x="127000" y="79375"/>
                    </a:lnTo>
                    <a:lnTo>
                      <a:pt x="190500" y="0"/>
                    </a:lnTo>
                    <a:lnTo>
                      <a:pt x="254001" y="63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4331208" y="22936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跟测试集走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343400" y="27622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36542" y="2997518"/>
              <a:ext cx="202825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 重加权在 v2.1 为负、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在扩增集为正；R 偏差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v2.1 偏亮、v23 偏暗。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单集结论不可外推。</a:t>
              </a:r>
            </a:p>
          </p:txBody>
        </p:sp>
      </p:grpSp>
      <p:grpSp>
        <p:nvGrpSpPr>
          <p:cNvPr id="32" name="trap-noise-power"/>
          <p:cNvGrpSpPr/>
          <p:nvPr/>
        </p:nvGrpSpPr>
        <p:grpSpPr>
          <a:xfrm>
            <a:off x="8065008" y="1466850"/>
            <a:ext cx="3517392" cy="2537651"/>
            <a:chOff x="8065008" y="1466850"/>
            <a:chExt cx="3517392" cy="2537651"/>
          </a:xfrm>
        </p:grpSpPr>
        <p:sp>
          <p:nvSpPr>
            <p:cNvPr id="24" name="Rectangle 24"/>
            <p:cNvSpPr/>
            <p:nvPr/>
          </p:nvSpPr>
          <p:spPr>
            <a:xfrm>
              <a:off x="8077200" y="146685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107599" y="1661601"/>
              <a:ext cx="320191" cy="275086"/>
              <a:chOff x="8107599" y="1661601"/>
              <a:chExt cx="320191" cy="27508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267700" y="17621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07599" y="16616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67700" y="1873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065008" y="22936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噪声同量级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077200" y="276225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70342" y="2997518"/>
              <a:ext cx="182251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seed 极差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0.4–0.6 dB 与判据门槛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同量级；一律配对检验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场景聚类 95% CI。</a:t>
              </a:r>
            </a:p>
          </p:txBody>
        </p:sp>
      </p:grpSp>
      <p:grpSp>
        <p:nvGrpSpPr>
          <p:cNvPr id="36" name="traps-takeaway"/>
          <p:cNvGrpSpPr/>
          <p:nvPr/>
        </p:nvGrpSpPr>
        <p:grpSpPr>
          <a:xfrm>
            <a:off x="600456" y="4400550"/>
            <a:ext cx="10981944" cy="1185101"/>
            <a:chOff x="600456" y="4400550"/>
            <a:chExt cx="10981944" cy="1185101"/>
          </a:xfrm>
        </p:grpSpPr>
        <p:sp>
          <p:nvSpPr>
            <p:cNvPr id="33" name="Line 33"/>
            <p:cNvSpPr/>
            <p:nvPr/>
          </p:nvSpPr>
          <p:spPr>
            <a:xfrm>
              <a:off x="609600" y="4400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0456" y="46443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口径先于结论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2742" y="5054918"/>
              <a:ext cx="42999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每一个数字旁边，都要站着它的基线、测试集与不确定性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三条均已固化为流程护栏，写进每一轮实验的准入检查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25221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三个陷阱各自对应一次本项目的真实翻转，不是假想风险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82206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域适配把 α = 0.3 档从 12.05 拉到 18.5 dB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p08-kpi"/>
          <p:cNvGrpSpPr/>
          <p:nvPr/>
        </p:nvGrpSpPr>
        <p:grpSpPr>
          <a:xfrm>
            <a:off x="593598" y="1447800"/>
            <a:ext cx="9194521" cy="1451801"/>
            <a:chOff x="593598" y="1447800"/>
            <a:chExt cx="9194521" cy="1451801"/>
          </a:xfrm>
        </p:grpSpPr>
        <p:sp>
          <p:nvSpPr>
            <p:cNvPr id="5" name="Line 5"/>
            <p:cNvSpPr/>
            <p:nvPr/>
          </p:nvSpPr>
          <p:spPr>
            <a:xfrm>
              <a:off x="3124200" y="144780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867400" y="144780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610600" y="144780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2742" y="1606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零样本（官方权重）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3598" y="2003108"/>
              <a:ext cx="11981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8A9099"/>
                  </a:solidFill>
                  <a:latin typeface="+mn-lt"/>
                  <a:ea typeface="+mn-ea"/>
                  <a:cs typeface="+mn-cs"/>
                </a:rPr>
                <a:t>12.05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45942" y="1606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域适配后（主结果）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36798" y="2003108"/>
              <a:ext cx="10115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18.5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69892" y="2197418"/>
              <a:ext cx="686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+6.4 dB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9142" y="1606868"/>
              <a:ext cx="858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α = 0.6 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79998" y="2003108"/>
              <a:ext cx="9649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19.7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2342" y="1606868"/>
              <a:ext cx="8587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α = 1.0 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23198" y="2003108"/>
              <a:ext cx="9649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19.7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2635568"/>
              <a:ext cx="6415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方法：冻主干 + 30k iter 域适配微调 + 干净数据管线 ｜ 结构相关 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0.26 → 0.63</a:t>
              </a:r>
            </a:p>
          </p:txBody>
        </p:sp>
      </p:grpSp>
      <p:grpSp>
        <p:nvGrpSpPr>
          <p:cNvPr id="20" name="p08-evidence"/>
          <p:cNvGrpSpPr/>
          <p:nvPr/>
        </p:nvGrpSpPr>
        <p:grpSpPr>
          <a:xfrm>
            <a:off x="1352550" y="3067050"/>
            <a:ext cx="9477375" cy="3028950"/>
            <a:chOff x="1352550" y="3067050"/>
            <a:chExt cx="9477375" cy="3028950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2550" y="3067050"/>
              <a:ext cx="9477375" cy="3028950"/>
            </a:xfrm>
            <a:prstGeom prst="rect">
              <a:avLst/>
            </a:prstGeom>
          </p:spPr>
        </p:pic>
      </p:grpSp>
      <p:grpSp>
        <p:nvGrpSpPr>
          <p:cNvPr id="23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252210"/>
              <a:ext cx="8142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fig/rdt_s1_v21_t_alpha03.png · 六列对照（输入 / GT / 零样本 / pilot / 域适配），四臂 18.3–18.7 dB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645640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 α 专支：增益与代价分别落在哪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" name="p09-curve"/>
          <p:cNvGrpSpPr/>
          <p:nvPr/>
        </p:nvGrpSpPr>
        <p:grpSpPr>
          <a:xfrm>
            <a:off x="609600" y="1428750"/>
            <a:ext cx="5905500" cy="3810000"/>
            <a:chOff x="609600" y="1428750"/>
            <a:chExt cx="5905500" cy="3810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8750"/>
              <a:ext cx="5905500" cy="3810000"/>
            </a:xfrm>
            <a:prstGeom prst="rect">
              <a:avLst/>
            </a:prstGeom>
          </p:spPr>
        </p:pic>
      </p:grpSp>
      <p:grpSp>
        <p:nvGrpSpPr>
          <p:cNvPr id="15" name="p09-numbers"/>
          <p:cNvGrpSpPr/>
          <p:nvPr/>
        </p:nvGrpSpPr>
        <p:grpSpPr>
          <a:xfrm>
            <a:off x="6848856" y="1577340"/>
            <a:ext cx="4733544" cy="4217861"/>
            <a:chOff x="6848856" y="1577340"/>
            <a:chExt cx="4733544" cy="4217861"/>
          </a:xfrm>
        </p:grpSpPr>
        <p:sp>
          <p:nvSpPr>
            <p:cNvPr id="7" name="TextBox 7"/>
            <p:cNvSpPr txBox="1"/>
            <p:nvPr/>
          </p:nvSpPr>
          <p:spPr>
            <a:xfrm>
              <a:off x="6848856" y="1577340"/>
              <a:ext cx="3508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扩增集（48 场景，leak-free）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51142" y="1949768"/>
              <a:ext cx="2774061" cy="1254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0.05：+1.31　[+0.93, +1.69]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0.1 ：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+1.75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[+1.18, +2.26]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0.2 ：+1.09　[+0.55, +1.64]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0.3 ：</a:t>
              </a:r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+0.52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[+0.06, +0.99]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1.0 ：−0.36　[−0.79, +0.08]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858000" y="33528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8856" y="3501390"/>
              <a:ext cx="26304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代价（v2.1，12 场景）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51142" y="3873818"/>
              <a:ext cx="30312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v2.1：α = 0.6 / 1.0 档 −1.75 / −0.94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代价量级只在 v2.1，两集不可直接换算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858000" y="451485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48856" y="46634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51142" y="5035868"/>
              <a:ext cx="363988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这不是独立增益，而是把工作点往低 α 搬的旋钮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价值主要在 0.2 档及以下；0.3 档已贴线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定位：低 α 专支，与主臂分工，不作替代</a:t>
              </a:r>
            </a:p>
          </p:txBody>
        </p:sp>
      </p:grpSp>
      <p:grpSp>
        <p:nvGrpSpPr>
          <p:cNvPr id="18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252210"/>
              <a:ext cx="4595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eval/ · Δ = freeze − plain，raw PSNR，场景聚类 95% CI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80890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可辨识性地图：天花板在哪，我们卡在哪级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" name="p10-chart"/>
          <p:cNvGrpSpPr/>
          <p:nvPr/>
        </p:nvGrpSpPr>
        <p:grpSpPr>
          <a:xfrm>
            <a:off x="609600" y="1428750"/>
            <a:ext cx="5905500" cy="4045268"/>
            <a:chOff x="609600" y="1428750"/>
            <a:chExt cx="5905500" cy="4045268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8750"/>
              <a:ext cx="5905500" cy="4045268"/>
            </a:xfrm>
            <a:prstGeom prst="rect">
              <a:avLst/>
            </a:prstGeom>
          </p:spPr>
        </p:pic>
      </p:grpSp>
      <p:grpSp>
        <p:nvGrpSpPr>
          <p:cNvPr id="21" name="p10-ladder"/>
          <p:cNvGrpSpPr/>
          <p:nvPr/>
        </p:nvGrpSpPr>
        <p:grpSpPr>
          <a:xfrm>
            <a:off x="6846570" y="1600200"/>
            <a:ext cx="4735830" cy="4271201"/>
            <a:chOff x="6846570" y="1600200"/>
            <a:chExt cx="4735830" cy="4271201"/>
          </a:xfrm>
        </p:grpSpPr>
        <p:sp>
          <p:nvSpPr>
            <p:cNvPr id="7" name="Rectangle 7"/>
            <p:cNvSpPr/>
            <p:nvPr/>
          </p:nvSpPr>
          <p:spPr>
            <a:xfrm>
              <a:off x="6858000" y="1600200"/>
              <a:ext cx="190500" cy="190500"/>
            </a:xfrm>
            <a:prstGeom prst="rect">
              <a:avLst/>
            </a:prstGeom>
            <a:solidFill>
              <a:srgbClr val="8A9099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94042" y="1606868"/>
              <a:ext cx="2187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真值天花板（真 R / 真 α）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46570" y="1871662"/>
              <a:ext cx="2718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30.7 / 34.1 / 34.9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0" y="2495550"/>
              <a:ext cx="190500" cy="19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94042" y="2502218"/>
              <a:ext cx="2169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R̂ 除法（我们的 R / 真 α）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46570" y="2767012"/>
              <a:ext cx="2718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17.2 / 20.3 / 22.3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858000" y="3390900"/>
              <a:ext cx="190500" cy="190500"/>
            </a:xfrm>
            <a:prstGeom prst="rect">
              <a:avLst/>
            </a:prstGeom>
            <a:solidFill>
              <a:srgbClr val="1F5C8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94042" y="3397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当前方法（域适配后）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46570" y="3662362"/>
              <a:ext cx="2718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18.5 / 19.7 / 19.7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858000" y="4286250"/>
              <a:ext cx="190500" cy="190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94042" y="4292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平坦图常数基线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46570" y="455771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17.68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858000" y="5143500"/>
              <a:ext cx="4724400" cy="9525"/>
            </a:xfrm>
            <a:custGeom>
              <a:avLst/>
              <a:gdLst/>
              <a:ahLst/>
              <a:cxnLst/>
              <a:rect l="l" t="t" r="r" b="b"/>
              <a:pathLst>
                <a:path w="4724400" h="9525">
                  <a:moveTo>
                    <a:pt x="0" y="0"/>
                  </a:moveTo>
                  <a:lnTo>
                    <a:pt x="4724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51142" y="5359718"/>
              <a:ext cx="285121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α = 0.3 / 0.6 / 1.0 档顺次给出。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差距几乎全在 R̂ 与 α 上，不在出口。</a:t>
              </a:r>
            </a:p>
          </p:txBody>
        </p:sp>
      </p:grpSp>
      <p:grpSp>
        <p:nvGrpSpPr>
          <p:cNvPr id="24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252210"/>
              <a:ext cx="5870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eval/e2_oracle 与 probe_s2_exit · 真值天花板 = 完美去 R + 精确逐像素 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73045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出口机制没问题，瓶颈是 α 的跨域校准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p11-findings"/>
          <p:cNvGrpSpPr/>
          <p:nvPr/>
        </p:nvGrpSpPr>
        <p:grpSpPr>
          <a:xfrm>
            <a:off x="600456" y="1577340"/>
            <a:ext cx="5971794" cy="3970211"/>
            <a:chOff x="600456" y="1577340"/>
            <a:chExt cx="5971794" cy="39702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77340"/>
              <a:ext cx="2494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判决：E 与 G 完全等价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949768"/>
              <a:ext cx="406850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E（估计 α 除法）与 G（自由增益）差异 ≤ 0.02 dB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1.0 档相对 plain −2.02 dB，出口只把工作点搬走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p11-exit-formula"/>
                <p:cNvSpPr txBox="1">
                  <a:spLocks noGrp="1"/>
                </p:cNvSpPr>
                <p:nvPr/>
              </p:nvSpPr>
              <p:spPr>
                <a:xfrm>
                  <a:off x="609600" y="2647950"/>
                  <a:ext cx="5962650" cy="609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l"/>
                  <a14:m>
                    <m:oMathPara xmlns:a="http://schemas.openxmlformats.org/drawingml/2006/main" xmlns:m="http://schemas.openxmlformats.org/officeDocument/2006/math">
                      <m:oMathParaPr>
                        <m:jc m:val="left"/>
                      </m:oMathParaPr>
                      <m:oMath>
                        <m:acc>
                          <m:accPr>
                            <m:chr m:val="ˆ"/>
                            <m:ctrlP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zh-CN" sz="2250" dirty="0">
                            <a:solidFill>
                              <a:srgbClr val="12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β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2250" dirty="0">
                            <a:solidFill>
                              <a:srgbClr val="12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>
                          <m:e>
                            <m:acc>
                              <m:accPr>
                                <m:chr m:val="ˆ"/>
                                <m:ctrlPr>
                                  <a:rPr lang="zh-CN" sz="2250" dirty="0">
                                    <a:solidFill>
                                      <a:srgbClr val="12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2250" dirty="0">
                                    <a:solidFill>
                                      <a:srgbClr val="12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T</m:t>
                                </m:r>
                              </m:e>
                            </m:acc>
                          </m:e>
                          <m:sub>
                            <m: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head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2250" dirty="0">
                            <a:solidFill>
                              <a:srgbClr val="12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2250" dirty="0">
                            <a:solidFill>
                              <a:srgbClr val="12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zh-CN" sz="2250" dirty="0">
                            <a:solidFill>
                              <a:srgbClr val="12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acc>
                              <m:accPr>
                                <m:chr m:val="ˆ"/>
                                <m:ctrlPr>
                                  <a:rPr lang="zh-CN" sz="2250" dirty="0">
                                    <a:solidFill>
                                      <a:srgbClr val="12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2250" dirty="0">
                                    <a:solidFill>
                                      <a:srgbClr val="123A5C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</m:acc>
                          </m:e>
                        </m:d>
                        <m:r>
                          <m:rPr>
                            <m:sty m:val="p"/>
                          </m:rPr>
                          <a:rPr lang="zh-CN" sz="2250" dirty="0">
                            <a:solidFill>
                              <a:srgbClr val="123A5C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/</m:t>
                        </m:r>
                        <m:acc>
                          <m:accPr>
                            <m:chr m:val="˜"/>
                            <m:ctrlP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accPr>
                          <m:e>
                            <m:r>
                              <a:rPr lang="zh-CN" sz="2250" dirty="0">
                                <a:solidFill>
                                  <a:srgbClr val="123A5C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</m:ac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8" name="TextBox 8"/>
            <p:cNvSpPr txBox="1"/>
            <p:nvPr/>
          </p:nvSpPr>
          <p:spPr>
            <a:xfrm>
              <a:off x="600456" y="3615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决定性反事实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3988118"/>
              <a:ext cx="403421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同 β 换真值 α → 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22.15 / 21.18 / 18.85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1.0 档单档 +4.26 dB，与天花板 22.25 几乎重合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4663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结论与重启条件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2742" y="5035868"/>
              <a:ext cx="47457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出口线条件性冻结；重启条件 = α 跨域误差足够小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当前测试端场景均值 MAE 0.26 / 0.17 / 0.07，远高于 0.1 门</a:t>
              </a:r>
            </a:p>
          </p:txBody>
        </p:sp>
      </p:grpSp>
      <p:grpSp>
        <p:nvGrpSpPr>
          <p:cNvPr id="14" name="p11-counterfactual"/>
          <p:cNvGrpSpPr/>
          <p:nvPr/>
        </p:nvGrpSpPr>
        <p:grpSpPr>
          <a:xfrm>
            <a:off x="6960394" y="1428750"/>
            <a:ext cx="4614862" cy="3305175"/>
            <a:chOff x="6960394" y="1428750"/>
            <a:chExt cx="4614862" cy="3305175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60394" y="1428750"/>
              <a:ext cx="4614862" cy="3305175"/>
            </a:xfrm>
            <a:prstGeom prst="rect">
              <a:avLst/>
            </a:prstGeom>
          </p:spPr>
        </p:pic>
      </p:grpSp>
      <p:grpSp>
        <p:nvGrpSpPr>
          <p:cNvPr id="17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6252210"/>
              <a:ext cx="5540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docs/2026.9.17 S2 物理出口轮 · E / G 各 2 seed，反事实为冻 β 复算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51834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瓶颈是 R̂：误差被 1/α 放大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p12-mechanism"/>
          <p:cNvGrpSpPr/>
          <p:nvPr/>
        </p:nvGrpSpPr>
        <p:grpSpPr>
          <a:xfrm>
            <a:off x="600456" y="1577340"/>
            <a:ext cx="5971794" cy="3779711"/>
            <a:chOff x="600456" y="1577340"/>
            <a:chExt cx="5971794" cy="37797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577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误差预算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949768"/>
              <a:ext cx="377704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 R 30.7 / 34.1 / 34.9 → R̂ 17.2 / 20.3 / 22.3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落差 </a:t>
              </a:r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13.5 / 13.7 / 12.6 dB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= 0.3 档的 R̂ 误差被 1/α ≈ 2.44 倍放大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306705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0456" y="3253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跨域翻符号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3626168"/>
              <a:ext cx="32455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v2.1 上偏亮（+4 ~ +15 灰阶，92% 同号）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扩增集上反为偏暗 —— 同一根因的两种表现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428625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00456" y="4472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根因假设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4845368"/>
              <a:ext cx="345686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R 训练池只有 </a:t>
              </a:r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131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张（601 候选中剔除 470）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其中真正与测试 R 同簇的只有 75 张</a:t>
              </a:r>
            </a:p>
          </p:txBody>
        </p:sp>
      </p:grpSp>
      <p:grpSp>
        <p:nvGrpSpPr>
          <p:cNvPr id="15" name="p12-budget"/>
          <p:cNvGrpSpPr/>
          <p:nvPr/>
        </p:nvGrpSpPr>
        <p:grpSpPr>
          <a:xfrm>
            <a:off x="6958012" y="1428750"/>
            <a:ext cx="4619625" cy="3305175"/>
            <a:chOff x="6958012" y="1428750"/>
            <a:chExt cx="4619625" cy="3305175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58012" y="1428750"/>
              <a:ext cx="4619625" cy="3305175"/>
            </a:xfrm>
            <a:prstGeom prst="rect">
              <a:avLst/>
            </a:prstGeom>
          </p:spPr>
        </p:pic>
      </p:grpSp>
      <p:grpSp>
        <p:nvGrpSpPr>
          <p:cNvPr id="18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603504" y="6252210"/>
              <a:ext cx="5246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eval/probe_s2_exit · 误差预算以 α = 0.3 / 0.6 / 1.0 档顺次给出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84020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Mona 适配器：桥接预训练语义与去反射语义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p13-rationale"/>
          <p:cNvGrpSpPr/>
          <p:nvPr/>
        </p:nvGrpSpPr>
        <p:grpSpPr>
          <a:xfrm>
            <a:off x="600456" y="1536700"/>
            <a:ext cx="6257544" cy="3858451"/>
            <a:chOff x="600456" y="1536700"/>
            <a:chExt cx="6257544" cy="3858451"/>
          </a:xfrm>
        </p:grpSpPr>
        <p:grpSp>
          <p:nvGrpSpPr>
            <p:cNvPr id="14" name="Group 14"/>
            <p:cNvGrpSpPr/>
            <p:nvPr/>
          </p:nvGrpSpPr>
          <p:grpSpPr>
            <a:xfrm>
              <a:off x="660400" y="1536700"/>
              <a:ext cx="203199" cy="203200"/>
              <a:chOff x="660400" y="1536700"/>
              <a:chExt cx="203199" cy="2032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60400" y="15875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5800" y="153670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163830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36600" y="1663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62000" y="15367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62000" y="1714499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12799" y="1549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8199" y="1536700"/>
                <a:ext cx="95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">
                    <a:moveTo>
                      <a:pt x="0" y="0"/>
                    </a:move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199" y="1600200"/>
                <a:ext cx="9525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9700">
                    <a:moveTo>
                      <a:pt x="0" y="0"/>
                    </a:moveTo>
                    <a:lnTo>
                      <a:pt x="0" y="139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9556" y="15582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依据：一条同构的先例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1949768"/>
              <a:ext cx="402564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CVPR 2026 GFRRN：全量微调掉分（26.70 → 25.35）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而 </a:t>
              </a:r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Mona 适配器反而涨分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（25.35 → 27.33）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857500"/>
              <a:ext cx="6248400" cy="9525"/>
            </a:xfrm>
            <a:custGeom>
              <a:avLst/>
              <a:gdLst/>
              <a:ahLst/>
              <a:cxnLst/>
              <a:rect l="l" t="t" r="r" b="b"/>
              <a:pathLst>
                <a:path w="6248400" h="9525">
                  <a:moveTo>
                    <a:pt x="0" y="0"/>
                  </a:moveTo>
                  <a:lnTo>
                    <a:pt x="624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0456" y="3044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同构性：本项目也见过同一现象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2742" y="3416618"/>
              <a:ext cx="435140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pilot 长训后 R̂ 反而下降，与先例同构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判别性实验：有效 → 特征侧是瓶颈；无效 → 数据侧是瓶颈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076700"/>
              <a:ext cx="6248400" cy="9525"/>
            </a:xfrm>
            <a:custGeom>
              <a:avLst/>
              <a:gdLst/>
              <a:ahLst/>
              <a:cxnLst/>
              <a:rect l="l" t="t" r="r" b="b"/>
              <a:pathLst>
                <a:path w="6248400" h="9525">
                  <a:moveTo>
                    <a:pt x="0" y="0"/>
                  </a:moveTo>
                  <a:lnTo>
                    <a:pt x="6248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0456" y="42633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已落地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742" y="4635818"/>
              <a:ext cx="4771454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官方实现调研 + 插入点确认（FocalNet 块内两个残差之后）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实现与冒烟测试进行中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诚实预期 +0.2 ~ +0.8 dB（点估 +0.5），无论结果都有信息量</a:t>
              </a:r>
            </a:p>
          </p:txBody>
        </p:sp>
      </p:grpSp>
      <p:grpSp>
        <p:nvGrpSpPr>
          <p:cNvPr id="37" name="p13-diagram"/>
          <p:cNvGrpSpPr/>
          <p:nvPr/>
        </p:nvGrpSpPr>
        <p:grpSpPr>
          <a:xfrm>
            <a:off x="7422642" y="2038350"/>
            <a:ext cx="4159758" cy="3109151"/>
            <a:chOff x="7422642" y="2038350"/>
            <a:chExt cx="4159758" cy="3109151"/>
          </a:xfrm>
        </p:grpSpPr>
        <p:sp>
          <p:nvSpPr>
            <p:cNvPr id="24" name="Rectangle 24"/>
            <p:cNvSpPr/>
            <p:nvPr/>
          </p:nvSpPr>
          <p:spPr>
            <a:xfrm>
              <a:off x="7429500" y="2038350"/>
              <a:ext cx="4152900" cy="2381250"/>
            </a:xfrm>
            <a:prstGeom prst="roundRect">
              <a:avLst>
                <a:gd name="adj" fmla="val 3200"/>
              </a:avLst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13142" y="2197418"/>
              <a:ext cx="23837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FocalNet Block（主干冻结）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0" y="2609850"/>
              <a:ext cx="190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24930" y="273081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残差分支 1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525000" y="28194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53600" y="2609850"/>
              <a:ext cx="16002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116288" y="2730818"/>
              <a:ext cx="874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Mona 适配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620000" y="3352800"/>
              <a:ext cx="19050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24930" y="3473768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残差分支 2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525000" y="35623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753600" y="3352800"/>
              <a:ext cx="1600200" cy="419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116288" y="3473768"/>
              <a:ext cx="874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Mona 适配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22642" y="4616768"/>
              <a:ext cx="29283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插入点：两个残差之后，主干保持冻结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只新增少量参数，避免语义漂移</a:t>
              </a:r>
            </a:p>
          </p:txBody>
        </p:sp>
      </p:grpSp>
      <p:grpSp>
        <p:nvGrpSpPr>
          <p:cNvPr id="40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603504" y="6252210"/>
              <a:ext cx="5727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GFRRN（CVPR 2026）与 Mona 官方实现调研 · 插入点已确认，冒烟进行中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603155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 池只有 131 张：本地已挖干净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6" name="p14-pool"/>
          <p:cNvGrpSpPr/>
          <p:nvPr/>
        </p:nvGrpSpPr>
        <p:grpSpPr>
          <a:xfrm>
            <a:off x="609600" y="1428750"/>
            <a:ext cx="6057900" cy="3448050"/>
            <a:chOff x="609600" y="1428750"/>
            <a:chExt cx="6057900" cy="344805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8750"/>
              <a:ext cx="6057900" cy="3448050"/>
            </a:xfrm>
            <a:prstGeom prst="rect">
              <a:avLst/>
            </a:prstGeom>
          </p:spPr>
        </p:pic>
      </p:grpSp>
      <p:grpSp>
        <p:nvGrpSpPr>
          <p:cNvPr id="16" name="p14-plan"/>
          <p:cNvGrpSpPr/>
          <p:nvPr/>
        </p:nvGrpSpPr>
        <p:grpSpPr>
          <a:xfrm>
            <a:off x="7039356" y="1524000"/>
            <a:ext cx="4543044" cy="2366201"/>
            <a:chOff x="7039356" y="1524000"/>
            <a:chExt cx="4543044" cy="2366201"/>
          </a:xfrm>
        </p:grpSpPr>
        <p:grpSp>
          <p:nvGrpSpPr>
            <p:cNvPr id="10" name="Group 10"/>
            <p:cNvGrpSpPr/>
            <p:nvPr/>
          </p:nvGrpSpPr>
          <p:grpSpPr>
            <a:xfrm>
              <a:off x="7099300" y="1524000"/>
              <a:ext cx="203199" cy="228600"/>
              <a:chOff x="7099300" y="1524000"/>
              <a:chExt cx="203199" cy="228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099300" y="152400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099300" y="15621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099300" y="16383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7458456" y="1558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池为什么这么小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1642" y="1949768"/>
              <a:ext cx="303123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601 = 131 保留 + 226 冗余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+ 169 孪生 + 75 同簇剔除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保留来源：rrw 场景层 17 + wsoft 114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048500" y="2819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39356" y="3006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扩池计划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41642" y="3378518"/>
              <a:ext cx="32455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 10,508 帧 / 42 场景已全部开采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余量 = 107 个未下载场景；目标 131 → 287</a:t>
              </a:r>
            </a:p>
          </p:txBody>
        </p:sp>
      </p:grpSp>
      <p:grpSp>
        <p:nvGrpSpPr>
          <p:cNvPr id="18" name="p14-preview"/>
          <p:cNvGrpSpPr/>
          <p:nvPr/>
        </p:nvGrpSpPr>
        <p:grpSpPr>
          <a:xfrm>
            <a:off x="7048500" y="3924300"/>
            <a:ext cx="4533900" cy="1205865"/>
            <a:chOff x="7048500" y="3924300"/>
            <a:chExt cx="4533900" cy="1205865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8500" y="3924300"/>
              <a:ext cx="4533900" cy="1205865"/>
            </a:xfrm>
            <a:prstGeom prst="rect">
              <a:avLst/>
            </a:prstGeom>
          </p:spPr>
        </p:pic>
      </p:grpSp>
      <p:grpSp>
        <p:nvGrpSpPr>
          <p:cNvPr id="21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603504" y="6252210"/>
              <a:ext cx="65951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data/pools/r_train_0915_meta.csv · 剔除构成按内容级核查逐行统计，非按文件名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用结构钉住 α，无参照场景交给一次标定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p15-step-anchor"/>
          <p:cNvGrpSpPr/>
          <p:nvPr/>
        </p:nvGrpSpPr>
        <p:grpSpPr>
          <a:xfrm>
            <a:off x="598170" y="1714500"/>
            <a:ext cx="3781615" cy="1680401"/>
            <a:chOff x="598170" y="1714500"/>
            <a:chExt cx="3781615" cy="1680401"/>
          </a:xfrm>
        </p:grpSpPr>
        <p:grpSp>
          <p:nvGrpSpPr>
            <p:cNvPr id="10" name="Group 10"/>
            <p:cNvGrpSpPr/>
            <p:nvPr/>
          </p:nvGrpSpPr>
          <p:grpSpPr>
            <a:xfrm>
              <a:off x="647700" y="1714500"/>
              <a:ext cx="228600" cy="225424"/>
              <a:chOff x="647700" y="1714500"/>
              <a:chExt cx="228600" cy="22542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698500" y="1930399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5800" y="1739900"/>
                <a:ext cx="1524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2700">
                    <a:moveTo>
                      <a:pt x="0" y="12700"/>
                    </a:moveTo>
                    <a:lnTo>
                      <a:pt x="76200" y="0"/>
                    </a:lnTo>
                    <a:lnTo>
                      <a:pt x="152400" y="127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62000" y="1714500"/>
                <a:ext cx="9525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5899">
                    <a:moveTo>
                      <a:pt x="0" y="0"/>
                    </a:moveTo>
                    <a:lnTo>
                      <a:pt x="0" y="215899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47700" y="17526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00100" y="17526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76200" y="76200"/>
                    </a:moveTo>
                    <a:lnTo>
                      <a:pt x="38100" y="0"/>
                    </a:lnTo>
                    <a:lnTo>
                      <a:pt x="0" y="76200"/>
                    </a:lnTo>
                    <a:cubicBezTo>
                      <a:pt x="0" y="97242"/>
                      <a:pt x="17058" y="114300"/>
                      <a:pt x="38100" y="114300"/>
                    </a:cubicBezTo>
                    <a:cubicBezTo>
                      <a:pt x="59142" y="114300"/>
                      <a:pt x="76200" y="97242"/>
                      <a:pt x="76200" y="76200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19556" y="17487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边界台阶锚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170" y="2157412"/>
              <a:ext cx="1607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MAE 0.080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2742" y="2635568"/>
              <a:ext cx="377704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聚类 95% CI [0.059, 0.101]，R 真值下界 0.023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零训练可得，只读图像的硬边界结构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下一步：进训练做一致性损失</a:t>
              </a:r>
            </a:p>
          </p:txBody>
        </p:sp>
      </p:grpSp>
      <p:grpSp>
        <p:nvGrpSpPr>
          <p:cNvPr id="21" name="p15-invariant"/>
          <p:cNvGrpSpPr/>
          <p:nvPr/>
        </p:nvGrpSpPr>
        <p:grpSpPr>
          <a:xfrm>
            <a:off x="6275070" y="1748790"/>
            <a:ext cx="3404425" cy="1646111"/>
            <a:chOff x="6275070" y="1748790"/>
            <a:chExt cx="3404425" cy="1646111"/>
          </a:xfrm>
        </p:grpSpPr>
        <p:grpSp>
          <p:nvGrpSpPr>
            <p:cNvPr id="17" name="Group 17"/>
            <p:cNvGrpSpPr/>
            <p:nvPr/>
          </p:nvGrpSpPr>
          <p:grpSpPr>
            <a:xfrm>
              <a:off x="6337300" y="1752600"/>
              <a:ext cx="203199" cy="174624"/>
              <a:chOff x="6337300" y="1752600"/>
              <a:chExt cx="203199" cy="1746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337300" y="191769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337300" y="175260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6696456" y="1748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多档配对不变量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75070" y="2157412"/>
              <a:ext cx="17947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误差 0.065%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79642" y="2635568"/>
              <a:ext cx="3399853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无掩膜口径；GT 掩膜口径为 0.31% / 0.25%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同一物理量在两档之间的比值关系恒定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同样是零训练可得的结构约束</a:t>
              </a:r>
            </a:p>
          </p:txBody>
        </p:sp>
      </p:grpSp>
      <p:grpSp>
        <p:nvGrpSpPr>
          <p:cNvPr id="25" name="p15-fullfilm"/>
          <p:cNvGrpSpPr/>
          <p:nvPr/>
        </p:nvGrpSpPr>
        <p:grpSpPr>
          <a:xfrm>
            <a:off x="600456" y="4229100"/>
            <a:ext cx="10981944" cy="1642301"/>
            <a:chOff x="600456" y="4229100"/>
            <a:chExt cx="10981944" cy="1642301"/>
          </a:xfrm>
        </p:grpSpPr>
        <p:sp>
          <p:nvSpPr>
            <p:cNvPr id="22" name="Line 22"/>
            <p:cNvSpPr/>
            <p:nvPr/>
          </p:nvSpPr>
          <p:spPr>
            <a:xfrm>
              <a:off x="609600" y="4229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0456" y="4415790"/>
              <a:ext cx="39456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全膜（无参照）：候选族 + 一次标定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2742" y="4807268"/>
              <a:ext cx="635736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单帧不可辨 → 解不出唯一 α；给候选族（同一图若干亮度档），由一次外部标定选定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oracle@k 扩档 k=7 为 20.90 dB；标定后选择悔值 +3.20 dB、top2 命中 86%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按采纳门仍需改进 —— 诚实标注为「储备」而非「已解决」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新颖性：文献调研确认「单帧 + 硬边界 + 离散档 + 深衰减」无人占位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603504" y="6252210"/>
              <a:ext cx="5876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 docs/2026.9.17 批次1 锚点探针 · 两项锚点均为零训练；全膜协议暂列储备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593598" y="574358"/>
            <a:ext cx="10988802" cy="616267"/>
            <a:chOff x="593598" y="574358"/>
            <a:chExt cx="10988802" cy="61626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57435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三条判断与推进节奏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609600" y="118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0" name="judgment-mainline"/>
          <p:cNvGrpSpPr/>
          <p:nvPr/>
        </p:nvGrpSpPr>
        <p:grpSpPr>
          <a:xfrm>
            <a:off x="600456" y="1466850"/>
            <a:ext cx="3514344" cy="1966151"/>
            <a:chOff x="600456" y="1466850"/>
            <a:chExt cx="3514344" cy="1966151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4572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00456" y="1634490"/>
              <a:ext cx="1522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判断一 · 主线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609600" y="20193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2742" y="2178368"/>
              <a:ext cx="2611184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论文押「域适配 + 可辨识性地图」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主结果 12 → 18.5 dB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把边界量化成图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方法增量是上行空间，不是前提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3168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主线不动</a:t>
              </a:r>
            </a:p>
          </p:txBody>
        </p:sp>
      </p:grpSp>
      <p:grpSp>
        <p:nvGrpSpPr>
          <p:cNvPr id="16" name="judgment-stoploss"/>
          <p:cNvGrpSpPr/>
          <p:nvPr/>
        </p:nvGrpSpPr>
        <p:grpSpPr>
          <a:xfrm>
            <a:off x="4334256" y="1466850"/>
            <a:ext cx="3514344" cy="1966151"/>
            <a:chOff x="4334256" y="1466850"/>
            <a:chExt cx="3514344" cy="1966151"/>
          </a:xfrm>
        </p:grpSpPr>
        <p:sp>
          <p:nvSpPr>
            <p:cNvPr id="11" name="Rectangle 11"/>
            <p:cNvSpPr/>
            <p:nvPr/>
          </p:nvSpPr>
          <p:spPr>
            <a:xfrm>
              <a:off x="4343400" y="1466850"/>
              <a:ext cx="4572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34256" y="1634490"/>
              <a:ext cx="1522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判断二 · 止损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343400" y="20193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36542" y="2178368"/>
              <a:ext cx="224256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出口在低 α 档判死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判死的原因是 α，不是机制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重启条件 = α 跨域误差足够小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不再投入算力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6542" y="3168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该止损就止损</a:t>
              </a:r>
            </a:p>
          </p:txBody>
        </p:sp>
      </p:grpSp>
      <p:grpSp>
        <p:nvGrpSpPr>
          <p:cNvPr id="22" name="judgment-newdirection"/>
          <p:cNvGrpSpPr/>
          <p:nvPr/>
        </p:nvGrpSpPr>
        <p:grpSpPr>
          <a:xfrm>
            <a:off x="8068056" y="1466850"/>
            <a:ext cx="3514344" cy="1966151"/>
            <a:chOff x="8068056" y="1466850"/>
            <a:chExt cx="3514344" cy="1966151"/>
          </a:xfrm>
        </p:grpSpPr>
        <p:sp>
          <p:nvSpPr>
            <p:cNvPr id="17" name="Rectangle 17"/>
            <p:cNvSpPr/>
            <p:nvPr/>
          </p:nvSpPr>
          <p:spPr>
            <a:xfrm>
              <a:off x="8077200" y="1466850"/>
              <a:ext cx="4572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68056" y="163449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判断三 · 新方向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77200" y="2019300"/>
              <a:ext cx="3505200" cy="9525"/>
            </a:xfrm>
            <a:custGeom>
              <a:avLst/>
              <a:gdLst/>
              <a:ahLst/>
              <a:cxnLst/>
              <a:rect l="l" t="t" r="r" b="b"/>
              <a:pathLst>
                <a:path w="3505200" h="9525">
                  <a:moveTo>
                    <a:pt x="0" y="0"/>
                  </a:moveTo>
                  <a:lnTo>
                    <a:pt x="350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70342" y="2178368"/>
              <a:ext cx="2105406" cy="1006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特征侧 Mona PEFT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数据侧 RRW 扩池 131 → 287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两条腿并行验证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本周内出判决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70342" y="3168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本周出判决</a:t>
              </a:r>
            </a:p>
          </p:txBody>
        </p:sp>
      </p:grpSp>
      <p:grpSp>
        <p:nvGrpSpPr>
          <p:cNvPr id="36" name="p16-plan"/>
          <p:cNvGrpSpPr/>
          <p:nvPr/>
        </p:nvGrpSpPr>
        <p:grpSpPr>
          <a:xfrm>
            <a:off x="609600" y="3844290"/>
            <a:ext cx="10972800" cy="1322261"/>
            <a:chOff x="609600" y="3844290"/>
            <a:chExt cx="10972800" cy="1322261"/>
          </a:xfrm>
        </p:grpSpPr>
        <p:sp>
          <p:nvSpPr>
            <p:cNvPr id="23" name="Line 23"/>
            <p:cNvSpPr/>
            <p:nvPr/>
          </p:nvSpPr>
          <p:spPr>
            <a:xfrm>
              <a:off x="609600" y="4419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86940" y="3844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本周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4384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352675" y="43338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44288" y="4654868"/>
              <a:ext cx="178822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PEFT / 扩池两条腿并行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冒烟与判决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44540" y="38442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0960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010275" y="43338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74792" y="4654868"/>
              <a:ext cx="10424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结构锚进训练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做一致性损失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1750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数据到位即排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753600" y="4171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667875" y="43338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90946" y="4654868"/>
              <a:ext cx="132530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实拍 sanity 验证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补定量缺口</a:t>
              </a:r>
            </a:p>
          </p:txBody>
        </p:sp>
      </p:grpSp>
      <p:grpSp>
        <p:nvGrpSpPr>
          <p:cNvPr id="39" name="page-footer"/>
          <p:cNvGrpSpPr/>
          <p:nvPr/>
        </p:nvGrpSpPr>
        <p:grpSpPr>
          <a:xfrm>
            <a:off x="603504" y="6252210"/>
            <a:ext cx="10984992" cy="234696"/>
            <a:chOff x="603504" y="6252210"/>
            <a:chExt cx="1098499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03504" y="62522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风险如实说：主结论均为合成域结论，实拍定量待补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35132" y="62522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tintedglass_sept_review">
  <a:themeElements>
    <a:clrScheme name="tintedglass_sept_review">
      <a:dk1>
        <a:srgbClr val="17202A"/>
      </a:dk1>
      <a:lt1>
        <a:srgbClr val="FFFFFF"/>
      </a:lt1>
      <a:dk2>
        <a:srgbClr val="1F497D"/>
      </a:dk2>
      <a:lt2>
        <a:srgbClr val="F1F4F6"/>
      </a:lt2>
      <a:accent1>
        <a:srgbClr val="123A5C"/>
      </a:accent1>
      <a:accent2>
        <a:srgbClr val="0E7C86"/>
      </a:accent2>
      <a:accent3>
        <a:srgbClr val="C2410C"/>
      </a:accent3>
      <a:accent4>
        <a:srgbClr val="123A5C"/>
      </a:accent4>
      <a:accent5>
        <a:srgbClr val="5A6672"/>
      </a:accent5>
      <a:accent6>
        <a:srgbClr val="D5DCE2"/>
      </a:accent6>
      <a:hlink>
        <a:srgbClr val="0E7C86"/>
      </a:hlink>
      <a:folHlink>
        <a:srgbClr val="C2410C"/>
      </a:folHlink>
    </a:clrScheme>
    <a:fontScheme name="tintedglass_sept_re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intedglass_sept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intedglass_sept_review">
  <a:themeElements>
    <a:clrScheme name="tintedglass_sept_review">
      <a:dk1>
        <a:srgbClr val="17202A"/>
      </a:dk1>
      <a:lt1>
        <a:srgbClr val="FFFFFF"/>
      </a:lt1>
      <a:dk2>
        <a:srgbClr val="1F497D"/>
      </a:dk2>
      <a:lt2>
        <a:srgbClr val="F1F4F6"/>
      </a:lt2>
      <a:accent1>
        <a:srgbClr val="123A5C"/>
      </a:accent1>
      <a:accent2>
        <a:srgbClr val="0E7C86"/>
      </a:accent2>
      <a:accent3>
        <a:srgbClr val="C2410C"/>
      </a:accent3>
      <a:accent4>
        <a:srgbClr val="123A5C"/>
      </a:accent4>
      <a:accent5>
        <a:srgbClr val="5A6672"/>
      </a:accent5>
      <a:accent6>
        <a:srgbClr val="D5DCE2"/>
      </a:accent6>
      <a:hlink>
        <a:srgbClr val="0E7C86"/>
      </a:hlink>
      <a:folHlink>
        <a:srgbClr val="C2410C"/>
      </a:folHlink>
    </a:clrScheme>
    <a:fontScheme name="tintedglass_sept_re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intedglass_sept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2026-09-16T23:26:12Z</dcterms:created>
  <dcterms:modified xsi:type="dcterms:W3CDTF">2026-09-16T23:26:12Z</dcterms:modified>
  <cp:category/>
  <cp:contentStatus/>
</cp:coreProperties>
</file>