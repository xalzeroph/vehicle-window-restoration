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4"/>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  <Relationship Id="rId2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这个月的汇报，核心就是这一组数字：在最深的那一档贴膜、也就是 alpha 等于零点三时，raw PSNR 从零样本的十二点零五，做到了十八点五。下面我按时间线讲三件事：我们怎么把它做活的，哪些路走不通，以及接下来押哪两条腿。</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先把任务和口径对齐。任务一句话：观测图等于逐像素衰减 alpha 乘上透射层 T，再加上反射层 R，我们要在只有单帧的条件下把 T 抠出来。深色车膜把光吃掉七成再叠上反射，所以这不是普通的去反射问题。路线是两阶段的，RDNet 先去反射，ExpoMamba 再提亮。基准用 v2.1，三档 alpha 乘十二个场景，口径是 raw 和 gm 两种 PSNR，并且强制并读常数基线与结构相关。另外我们立了三条护栏贯穿这个月：常数基线必须同框，结论必须在两个测试集上各自成立，统计一律用配对检验加场景聚类的百分之九十五置信区间。后面会看到，这三条每一条都救过一次结论。</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这一页把"我们到底改了什么"说清楚。输入进来分成两条支路：主干是 FocalNet-L，两亿零五百七十万参数，我们全程冻结，它给出四档多尺度特征，分辨率从二分之一到十六分之一；另一条支路把图缩到 224 见方，过同样冻结的 ConvNeXt-small，得到一个六维的 code。要注意这是一个全局向量，不是逐像素的 alpha 图——它过一个 6 到 512 再到 64 的两层 MLP，变成 64 维的通道门控，只乘到主干的 stem 特征上，后面的四档特征和 SubNet 内部完全不经 alpha。这一点很重要，它解释了为什么单独去调 alpha 头那条线会一直卡在零点七的平台。两条支路在门控这里汇合，然后串四个 SubNet，每个里面有可逆残差；Decoder 代码里建了三个，但只有一个被真正调用。输出是残差式的，I 和自己拼接再减去 decoder 的结果，前三通道是 R̂、后三通道是 T̂。左下角是这轮 PEFT 线的改动：Mona 适配器挂进 FocalNet 的每个 FocalModulationBlock，调制残差之后挂 mona1、FFN 残差之后挂 mona2，二十四个 block 一共四十八个，新增五点二七兆参数，配梯度重算换显存。右下角是参数量账：主干两亿零五百七十万冻结，可训的是其余六千零七十万；加上 Mona 之后变成六千五百九十五万。</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起点是什么样的？直接拿 RDNet 官方权重在贴膜域跑，最深那一档只有十二点零五 dB。这个数字要和同档的常数基线一起看——一张涂成 GT 均值的平坦灰图，什么都不做，也能拿到十七点六八 dB，比零样本还高五点六 dB。结构相关只有零点二六，误差还随着 alpha 变小急剧上升。所以失败的性质很清楚：不是图像太暗，是内容被破坏了。这条判断决定了后面所有方法的方向。</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这一个月的时间线大概是这样。九月九号做预演和实拍协议，十三号基准 v2.1 定版、跑了 pilot 的 A 和 B 两轮、也确认了 alpha 平台，十四号迁进共享机，十五号做数据卫生重建和分离器方案，十六号 S1 域适配判决，主结果落袋，十七号就是今天，出口判决、锚点探针和两个新方向。中间有两个明显的断点：搬迁占掉一整天，还有十五号那次数据卫生事故——训练池被测试集污染了，一批结论当场作废，我们按内容级核查重建之后才继续。渲染成橙色的两个节点就是这两处。</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先说第一个困难。我们最开始的判断是 alpha 头没调好，但四个独立估计器——alpha 头、ridge、GLOBAL 和 B 臂，特征源和架构都不一样——估计结果全部落在零点六零五到零点七四一之间，而真值是一。四个独立方法撞在同一个平台上，说明这不是调参问题。理论上的原因也很清楚：在 I 等于 alpha T 加 R 这个模型下，把 alpha 放大 s 倍、同时把 T 缩小 s 倍，观测完全不变，所以单帧只能定下两者的乘积，这是本征分解的经典歧义。这和 Retinex、去雾、阴影消除是同一类问题，都要靠先验加锚点来消歧。所以方向不是继续调 alpha 头，而是把结构信息当锚点引进来——这一点在最后一页会回到。</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第二个困难是一次事故。我们发现那个所谓的域匹配训练池，五百一十六个文件里其实只有十二张内容，而且这十二张全部就是测试集的 T。这意味着域匹配训练集整体泄漏，相关结果全部作废。麻烦的地方在于，按文件名查、按统计口径查都查不出来，必须按内容查。处置做了三件事：把内容级泄漏核查，md5 加感知哈希，固化进流程护栏；训练池按谱匹配加对比度加 JPEG 重编的配方重建；新引入的两个源也都过了内容级核查。教训只有一句：泄漏核查必须按内容，不能按文件名或统计口径。这条已经写进每一轮实验的准入检查。</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第三个困难不是技术，是统计。这个月我们踩了三个都能翻转判断的坑。第一是常数基线：低对比的 GT 下，一张平坦图就能拿十七点六八 dB，所以低档位的 PSNR 必须和基线并读，否则会把平凡解当成进展。第二是结论跟着测试集走：同一个 w 重加权组件，在 v2.1 上是负的，在扩增集上是正的；R 的偏差在 v2.1 偏亮、在扩增集偏暗。单测试集的结论不能外推。第三是噪声和门槛同量级：seed 之间的极差就有零点四到零点六 dB，而我们的判据门槛也是这个量级，所以一律要用配对检验加场景聚类的百分之九十五置信区间，不读单 seed 的点估计。三条合起来是一句：口径先于结论——每一个数字旁边都要站着它的基线、测试集和不确定性。</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这是这个月的主结果。零样本在最深那一档是十二点零五，域适配之后做到十八点五，提了六点四 dB；另外两档分别是十九点七，不低于官方权重。方法很简单：冻结 FocalNet 主干，做三万步的域适配微调，配上干净的数据管线。结构相关从零点二六提到零点六三。下面这六列对照，每一行是一个场景，从左到右是输入、GT、零样本、pilot 和域适配的结果——请重点看第三列和第五列的区别：零样本基本是坏掉的，域适配把内容找回回来了。这也印证了前面的判断：原来的失败是内容级损伤，域适配修的是内容，不是亮度。四条臂的结果在十八点三到十八点七之间，是稳健的。</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接下来讲低 alpha 专支，这一页要说清楚增益和代价各自落在哪儿。在四十八个场景的扩增集上做无泄漏重评，freeze 减 plain 的增益是：alpha 等于零点零五时正一点三一，零点一时正一点七五，零点二时正一点零九，零点三时正零点五二，而到了一就变成负零点三六。三个低档的聚类置信区间下界都大于零，但零点三档已经贴线。代价这一侧，在 v2.1 上 alpha 等于零点六和一时分别是负一点七五和负零点九四——注意这个量级只在 v2.1 上成立，两个集之间不能直接换算。所以定位很清楚：这不是一个独立的增益，而是一个把工作点往低 alpha 搬的旋钮，价值主要在零点二档及以下。它是低 alpha 专支，和主臂分工，不作替代。</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这一页是我们对"这题能到哪"的量化回答。四条参考线：最上面是真值天花板，用真 R 加精确的逐像素 alpha，能做到三十点七、三十四点一、三十四点九；往下是用我们自己训出来的 R̂ 配合真 alpha 做物理除法，掉到十七点二、二十点三、二十二点三；我们当前方法在十八点五、十九点七、十九点七；最下面是平坦图常数基线十七点六八。三档 alpha 顺序对应。这张图的价值在于：差距几乎全部出在 R̂ 和 alpha 这两处，不在方法结构上。别人问这个任务能到什么程度，我们有一张分档的答案。</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这是本轮最关键的科学发现，也是两个负结果里的第一个。我们设计了一个物理除法出口：在冻结主干的基础上，加一个两万两千参数的出口头，公式是 T̂ 等于一减 beta 乘 T̂ head，加上 beta 乘 I 减 R̂ 除以 alpha 的估计。E 臂用估计的 alpha 做除法，G 臂用自由增益，各跑两个 seed。判决是：E 和 G 完全等价，差异不超过零点零二 dB，而且 alpha 等于一时相对 plain 还掉了二点零二 dB。也就是说，出口的净效应只是把工作点搬走。但接下来这个反事实诊断是决定性的：保留训练好的 beta，只把 alpha 换成真值，数值立刻跳到二十二点一五、二十一点一八、十八点八五，alpha 等于一时单档涨四点二六 dB，和训练前算的天花板二十二点二五几乎重合。结论就是标题这句：出口机制没问题，瓶颈是 alpha 的跨域校准。所以出口线我们条件性冻结了，重启条件是 alpha 的跨域误差足够小——目前测试端场景均值的 MAE 是零点二六、零点一七、零点零七，还远高于零点一这个门。</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顺着上一页的归因往下追，瓶颈就落到 R̂ 上。误差预算是这样的：用真 R 时物理除法能到三十点七、三十四点一、三十四点九，换成我们训出来的 R̂ 就只剩十七点二、二十点三、二十二点三，落差十三点五、十三点七、十二点六 dB。原因是低 alpha 档的除法把 R̂ 的误差按 1 除以 alpha 放大了，零点三档这个倍数大约是二点四四。更麻烦的是 R̂ 的偏差还会跨域翻符号：在 v2.1 上偏亮，正四到正十五灰阶，百分之九十二同号；到了扩增集上反而偏暗。同一个根因的两种表现。根因假设是 R 训练池太小——只有一百三十一张，六百零一个候选里剔掉了四百七十个，而其中真正与测试 R 同簇的其实只有七十五张。下一页就说这两条腿怎么补。</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两条腿里的第一条在特征侧。依据是一条同构的先例：CVPR 二〇二六的 GFRRN 发现全量微调掉分，从二十六点七掉到二十五点三五，而加 Mona 适配器反而涨分，从二十五点三五回到二十七点三三。我们在 pilot 上也见过同一个现象——长训之后 R̂ 反而下降。所以这是一个判别性实验：如果 Mona 有效，说明特征侧是瓶颈；如果无效，说明问题在数据侧。目前的进度是官方实现已经调研完，插入点确认在 FocalNet 块内两个残差之后，实现和冒烟测试正在进行。预期我给得比较诚实，正零点二到正零点八 dB，点估计正零点五；无论结果如何都有信息量。</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第二条腿在数据侧，就是扩池。先解释池子为什么这么小：六百零一个候选里，只保留了一百三十一张，剔除构成是两百二十六张冗余副本、一百六十九张孪生、七十五张与测试 R 同簇。保留下来的这一百三十一张里，十七张来自 RRW 场景层，一百一十四张来自 wsoft。那是不是还有大片没开采？查过之后答案是否定的：本地 RRW 的一万零五百零八帧、四十二个场景已经全部开采完，未用场景是零。真正的余量在还没下载的场景上，一共一百零七个。扩池计划是把新提取的窗口过一遍孪生簇安全网，目标把干净池从一百三十一扩到两百八十七。</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第三个方向是储备，分两块。第一块是结构锚，两个都是零训练就能拿到的。边界台阶锚只读图像的硬边界结构，估计误差的 MAE 是零点零八零，场景聚类的置信区间零点零五九到零点一零一，R 真值的下界是零点零二三。多档配对不变量是无掩膜口径下误差百分之零点零六五，GT 掩膜口径是零点三一和零点二五；它描述的是同一物理量在两档之间的比值关系恒定。下一步是把这两个锚放进训练做一致性损失。第二块是全膜，也就是完全没有参照的场景：单帧不可辨，解不出唯一的 alpha，所以改用一个候选族加一次标定的协议——给出同一张图的若干亮度档，由一次外部标定来选。目前 oracle@k 扩档到 k 等于七是二十点九零 dB，标定之后的选择悔值是三点二零 dB，前二命中百分之八十六，按采纳门还需要改进，所以我们诚实地把它标成储备，不是已解决。新颖性上，文献调研确认单帧、硬边界、离散档、深衰减这个组合还没有人占位。</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是我对这个项目的三条判断和推进节奏。判断一，主线：论文押域适配加可辨识性地图，也就是刚才那个十二到十八点五的主结果，加上把可辨识性边界量化成图；方法增量是上行空间，不是前提。判断二，止损：物理除法出口在低 alpha 档判死，判死的原因是 alpha 而不是机制，重启条件是 alpha 的跨域误差足够小，在此之前不再投入算力。判断三，新方向：特征侧的 Mona 适配器和数据侧的 RRW 扩池并行验证，本周内出判决。节奏上，本周跑 PEFT 和扩池并出判决，下周把结构锚放进训练做一致性损失，实拍 sanity 等数据到位就排，用来补定量缺口。风险我如实说：目前所有主结论都是合成域上的结论，实拍定量还待补。</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tintedglass_sept_review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tintedglass_sept_review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700" kern="1200" lang="zh-CN">
          <a:solidFill>
            <a:schemeClr val="tx1"/>
          </a:solidFill>
          <a:latin typeface="+mn-lt"/>
          <a:ea typeface="+mn-ea"/>
          <a:cs typeface="+mn-cs"/>
        </a:defRPr>
      </a:lvl2pPr>
      <a:lvl3pPr marL="914400" algn="l" defTabSz="457200" rtl="0" eaLnBrk="1" latinLnBrk="0" hangingPunct="1">
        <a:defRPr sz="1600" kern="1200" lang="zh-CN">
          <a:solidFill>
            <a:schemeClr val="tx1"/>
          </a:solidFill>
          <a:latin typeface="+mn-lt"/>
          <a:ea typeface="+mn-ea"/>
          <a:cs typeface="+mn-cs"/>
        </a:defRPr>
      </a:lvl3pPr>
      <a:lvl4pPr marL="1371600" algn="l" defTabSz="457200" rtl="0" eaLnBrk="1" latinLnBrk="0" hangingPunct="1">
        <a:defRPr sz="1450" kern="1200" lang="zh-CN">
          <a:solidFill>
            <a:schemeClr val="tx1"/>
          </a:solidFill>
          <a:latin typeface="+mn-lt"/>
          <a:ea typeface="+mn-ea"/>
          <a:cs typeface="+mn-cs"/>
        </a:defRPr>
      </a:lvl4pPr>
      <a:lvl5pPr marL="1828800" algn="l" defTabSz="457200" rtl="0" eaLnBrk="1" latinLnBrk="0" hangingPunct="1">
        <a:defRPr sz="1350" kern="1200" lang="zh-CN">
          <a:solidFill>
            <a:schemeClr val="tx1"/>
          </a:solidFill>
          <a:latin typeface="+mn-lt"/>
          <a:ea typeface="+mn-ea"/>
          <a:cs typeface="+mn-cs"/>
        </a:defRPr>
      </a:lvl5pPr>
      <a:lvl6pPr marL="2286000" algn="l" defTabSz="457200" rtl="0" eaLnBrk="1" latinLnBrk="0" hangingPunct="1">
        <a:defRPr sz="1250" kern="1200" lang="zh-CN">
          <a:solidFill>
            <a:schemeClr val="tx1"/>
          </a:solidFill>
          <a:latin typeface="+mn-lt"/>
          <a:ea typeface="+mn-ea"/>
          <a:cs typeface="+mn-cs"/>
        </a:defRPr>
      </a:lvl6pPr>
      <a:lvl7pPr marL="2743200" algn="l" defTabSz="457200" rtl="0" eaLnBrk="1" latinLnBrk="0" hangingPunct="1">
        <a:defRPr sz="1100" kern="1200" lang="zh-CN">
          <a:solidFill>
            <a:schemeClr val="tx1"/>
          </a:solidFill>
          <a:latin typeface="+mn-lt"/>
          <a:ea typeface="+mn-ea"/>
          <a:cs typeface="+mn-cs"/>
        </a:defRPr>
      </a:lvl7pPr>
      <a:lvl8pPr marL="3200400" algn="l" defTabSz="457200" rtl="0" eaLnBrk="1" latinLnBrk="0" hangingPunct="1">
        <a:defRPr sz="1000" kern="1200" lang="zh-CN">
          <a:solidFill>
            <a:schemeClr val="tx1"/>
          </a:solidFill>
          <a:latin typeface="+mn-lt"/>
          <a:ea typeface="+mn-ea"/>
          <a:cs typeface="+mn-cs"/>
        </a:defRPr>
      </a:lvl8pPr>
      <a:lvl9pPr marL="3657600" algn="l" defTabSz="457200" rtl="0" eaLnBrk="1" latinLnBrk="0" hangingPunct="1">
        <a:defRPr sz="9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6c60c2178eccea0.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5510a37b0d1f07e.png"/>
  <Relationship Id="rId3" Type="http://schemas.openxmlformats.org/officeDocument/2006/relationships/image" Target="../media/image_63c5f63e3d6f03c1.png"/>
  <Relationship Id="rId4" Type="http://schemas.openxmlformats.org/officeDocument/2006/relationships/image" Target="../media/image_05d9873ad925a3b2.png"/>
  <Relationship Id="rId5"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f26946cdab59e63.png"/>
  <Relationship Id="rId3" Type="http://schemas.openxmlformats.org/officeDocument/2006/relationships/image" Target="../media/image_6e83bf37255aa5cc.pn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d81cd88eb3f5090.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1efbd9824a72632.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d58435f8f3d81dc.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f0145463893c608.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fec55a1a3a112d7.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2168e07e4e69863.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8222436d0bb2646.png"/>
  <Relationship Id="rId3" Type="http://schemas.openxmlformats.org/officeDocument/2006/relationships/image" Target="../media/image_195bc16ce3a70361.png"/>
  <Relationship Id="rId4"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cover-headline"/>
          <p:cNvGrpSpPr/>
          <p:nvPr/>
        </p:nvGrpSpPr>
        <p:grpSpPr>
          <a:xfrm>
            <a:off x="590550" y="768668"/>
            <a:ext cx="7353300" cy="2488882"/>
            <a:chOff x="590550" y="768668"/>
            <a:chExt cx="7353300" cy="2488882"/>
          </a:xfrm>
        </p:grpSpPr>
        <p:sp>
          <p:nvSpPr>
            <p:cNvPr id="2" name="TextBox 2"/>
            <p:cNvSpPr txBox="1"/>
            <p:nvPr/>
          </p:nvSpPr>
          <p:spPr>
            <a:xfrm>
              <a:off x="602742" y="768668"/>
              <a:ext cx="2142382" cy="264033"/>
            </a:xfrm>
            <a:prstGeom prst="rect">
              <a:avLst/>
            </a:prstGeom>
            <a:noFill/>
            <a:ln>
              <a:noFill/>
            </a:ln>
          </p:spPr>
          <p:txBody>
            <a:bodyPr wrap="none" lIns="0" tIns="0" rIns="0" bIns="0" anchor="t" anchorCtr="0">
              <a:spAutoFit/>
            </a:bodyPr>
            <a:lstStyle/>
            <a:p>
              <a:pPr algn="l"/>
              <a:r>
                <a:rPr lang="zh-CN" sz="1350" spc="90" dirty="0">
                  <a:solidFill>
                    <a:schemeClr val="accent5"/>
                  </a:solidFill>
                  <a:latin typeface="+mn-lt"/>
                  <a:ea typeface="+mn-ea"/>
                  <a:cs typeface="+mn-cs"/>
                </a:rPr>
                <a:t>组会汇报 · 2026-09-17</a:t>
              </a:r>
            </a:p>
          </p:txBody>
        </p:sp>
        <p:sp>
          <p:nvSpPr>
            <p:cNvPr id="3" name="TextBox 3"/>
            <p:cNvSpPr txBox="1"/>
            <p:nvPr/>
          </p:nvSpPr>
          <p:spPr>
            <a:xfrm>
              <a:off x="590550" y="1158240"/>
              <a:ext cx="7353300" cy="1695450"/>
            </a:xfrm>
            <a:prstGeom prst="rect">
              <a:avLst/>
            </a:prstGeom>
            <a:noFill/>
            <a:ln>
              <a:noFill/>
            </a:ln>
          </p:spPr>
          <p:txBody>
            <a:bodyPr wrap="none" lIns="0" tIns="0" rIns="0" bIns="0" anchor="t" anchorCtr="0">
              <a:spAutoFit/>
            </a:bodyPr>
            <a:lstStyle/>
            <a:p>
              <a:pPr algn="l">
                <a:lnSpc>
                  <a:spcPts val="6000"/>
                </a:lnSpc>
              </a:pPr>
              <a:r>
                <a:rPr lang="zh-CN" sz="4800" dirty="0">
                  <a:solidFill>
                    <a:schemeClr val="accent1"/>
                  </a:solidFill>
                  <a:latin typeface="+mn-lt"/>
                  <a:ea typeface="+mn-ea"/>
                  <a:cs typeface="+mn-cs"/>
                </a:rPr>
                <a:t>深色贴膜玻璃透射成像增强</a:t>
              </a:r>
              <a:br/>
              <a:r>
                <a:rPr lang="zh-CN" sz="4800" dirty="0">
                  <a:solidFill>
                    <a:schemeClr val="accent1"/>
                  </a:solidFill>
                  <a:latin typeface="+mn-lt"/>
                  <a:ea typeface="+mn-ea"/>
                  <a:cs typeface="+mn-cs"/>
                </a:rPr>
                <a:t>9 月进展</a:t>
              </a:r>
            </a:p>
          </p:txBody>
        </p:sp>
        <p:sp>
          <p:nvSpPr>
            <p:cNvPr id="4" name="TextBox 4"/>
            <p:cNvSpPr txBox="1"/>
            <p:nvPr/>
          </p:nvSpPr>
          <p:spPr>
            <a:xfrm>
              <a:off x="597408" y="2769870"/>
              <a:ext cx="4870704"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域适配、可辨识性边界、与下一步</a:t>
              </a:r>
            </a:p>
          </p:txBody>
        </p:sp>
        <p:sp>
          <p:nvSpPr>
            <p:cNvPr id="5" name="Rectangle 5"/>
            <p:cNvSpPr/>
            <p:nvPr/>
          </p:nvSpPr>
          <p:spPr>
            <a:xfrm>
              <a:off x="609600" y="3219450"/>
              <a:ext cx="1143000" cy="38100"/>
            </a:xfrm>
            <a:prstGeom prst="rect">
              <a:avLst/>
            </a:prstGeom>
            <a:solidFill>
              <a:schemeClr val="accent2"/>
            </a:solidFill>
            <a:ln>
              <a:noFill/>
            </a:ln>
          </p:spPr>
        </p:sp>
      </p:grpSp>
      <p:grpSp>
        <p:nvGrpSpPr>
          <p:cNvPr id="10" name="cover-hook"/>
          <p:cNvGrpSpPr/>
          <p:nvPr/>
        </p:nvGrpSpPr>
        <p:grpSpPr>
          <a:xfrm>
            <a:off x="9390183" y="1435418"/>
            <a:ext cx="2211267" cy="1856422"/>
            <a:chOff x="9390183" y="1435418"/>
            <a:chExt cx="2211267" cy="1856422"/>
          </a:xfrm>
        </p:grpSpPr>
        <p:sp>
          <p:nvSpPr>
            <p:cNvPr id="7" name="TextBox 7"/>
            <p:cNvSpPr txBox="1"/>
            <p:nvPr/>
          </p:nvSpPr>
          <p:spPr>
            <a:xfrm>
              <a:off x="9390183" y="1435418"/>
              <a:ext cx="219907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α = 0.3 档 raw PSNR (dB)</a:t>
              </a:r>
            </a:p>
          </p:txBody>
        </p:sp>
        <p:sp>
          <p:nvSpPr>
            <p:cNvPr id="8" name="TextBox 8"/>
            <p:cNvSpPr txBox="1"/>
            <p:nvPr/>
          </p:nvSpPr>
          <p:spPr>
            <a:xfrm>
              <a:off x="9786366" y="1691640"/>
              <a:ext cx="1815084" cy="933450"/>
            </a:xfrm>
            <a:prstGeom prst="rect">
              <a:avLst/>
            </a:prstGeom>
            <a:noFill/>
            <a:ln>
              <a:noFill/>
            </a:ln>
          </p:spPr>
          <p:txBody>
            <a:bodyPr wrap="none" lIns="0" tIns="0" rIns="0" bIns="0" anchor="t" anchorCtr="0">
              <a:spAutoFit/>
            </a:bodyPr>
            <a:lstStyle/>
            <a:p>
              <a:pPr algn="r"/>
              <a:r>
                <a:rPr lang="zh-CN" sz="4800" dirty="0">
                  <a:solidFill>
                    <a:srgbClr val="8A9099"/>
                  </a:solidFill>
                  <a:latin typeface="+mn-lt"/>
                  <a:ea typeface="+mn-ea"/>
                  <a:cs typeface="+mn-cs"/>
                </a:rPr>
                <a:t>12.05</a:t>
              </a:r>
            </a:p>
          </p:txBody>
        </p:sp>
        <p:sp>
          <p:nvSpPr>
            <p:cNvPr id="9" name="TextBox 9"/>
            <p:cNvSpPr txBox="1"/>
            <p:nvPr/>
          </p:nvSpPr>
          <p:spPr>
            <a:xfrm>
              <a:off x="9493971" y="2358390"/>
              <a:ext cx="2107479" cy="933450"/>
            </a:xfrm>
            <a:prstGeom prst="rect">
              <a:avLst/>
            </a:prstGeom>
            <a:noFill/>
            <a:ln>
              <a:noFill/>
            </a:ln>
          </p:spPr>
          <p:txBody>
            <a:bodyPr wrap="none" lIns="0" tIns="0" rIns="0" bIns="0" anchor="t" anchorCtr="0">
              <a:spAutoFit/>
            </a:bodyPr>
            <a:lstStyle/>
            <a:p>
              <a:pPr algn="r"/>
              <a:r>
                <a:rPr lang="zh-CN" sz="4800" b="1" dirty="0">
                  <a:solidFill>
                    <a:schemeClr val="accent2"/>
                  </a:solidFill>
                  <a:latin typeface="+mn-lt"/>
                  <a:ea typeface="+mn-ea"/>
                  <a:cs typeface="+mn-cs"/>
                </a:rPr>
                <a:t>→ 18.5</a:t>
              </a:r>
            </a:p>
          </p:txBody>
        </p:sp>
      </p:grpSp>
      <p:grpSp>
        <p:nvGrpSpPr>
          <p:cNvPr id="12" name="cover-evidence"/>
          <p:cNvGrpSpPr/>
          <p:nvPr/>
        </p:nvGrpSpPr>
        <p:grpSpPr>
          <a:xfrm>
            <a:off x="728662" y="3429000"/>
            <a:ext cx="10734675" cy="3429000"/>
            <a:chOff x="728662" y="3429000"/>
            <a:chExt cx="10734675" cy="3429000"/>
          </a:xfrm>
        </p:grpSpPr>
        <p:pic>
          <p:nvPicPr>
            <p:cNvPr id="11" name="Image 11"/>
            <p:cNvPicPr>
              <a:picLocks noChangeAspect="1"/>
            </p:cNvPicPr>
            <p:nvPr/>
          </p:nvPicPr>
          <p:blipFill>
            <a:blip r:embed="rId2"/>
            <a:stretch>
              <a:fillRect/>
            </a:stretch>
          </p:blipFill>
          <p:spPr>
            <a:xfrm>
              <a:off x="728662" y="3429000"/>
              <a:ext cx="10734675" cy="3429000"/>
            </a:xfrm>
            <a:prstGeom prst="rect">
              <a:avLst/>
            </a:prstGeom>
          </p:spPr>
        </p:pic>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7994279"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 xml:space="preserve">任务是把 </a:t>
              </a:r>
              <a:r>
                <a:rPr lang="el-GR" sz="3150" dirty="0">
                  <a:solidFill>
                    <a:schemeClr val="accent1"/>
                  </a:solidFill>
                  <a:latin typeface="Consolas"/>
                  <a:ea typeface="Consolas"/>
                  <a:cs typeface="Consolas"/>
                </a:rPr>
                <a:t>I = α(x)·T + R</a:t>
              </a:r>
              <a:r>
                <a:rPr lang="zh-CN" sz="3150" dirty="0">
                  <a:solidFill>
                    <a:schemeClr val="accent1"/>
                  </a:solidFill>
                  <a:latin typeface="+mn-lt"/>
                  <a:ea typeface="+mn-ea"/>
                  <a:cs typeface="+mn-cs"/>
                </a:rPr>
                <a:t xml:space="preserve"> 里的 T 抠出来</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task-model"/>
          <p:cNvGrpSpPr/>
          <p:nvPr/>
        </p:nvGrpSpPr>
        <p:grpSpPr>
          <a:xfrm>
            <a:off x="597408" y="1436370"/>
            <a:ext cx="5727192" cy="2430780"/>
            <a:chOff x="597408" y="1436370"/>
            <a:chExt cx="5727192" cy="2430780"/>
          </a:xfrm>
        </p:grpSpPr>
        <p:sp>
          <p:nvSpPr>
            <p:cNvPr id="5" name="TextBox 5"/>
            <p:cNvSpPr txBox="1"/>
            <p:nvPr/>
          </p:nvSpPr>
          <p:spPr>
            <a:xfrm>
              <a:off x="597408" y="143637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场景与成像模型</a:t>
              </a:r>
            </a:p>
          </p:txBody>
        </p:sp>
        <p:sp>
          <p:nvSpPr>
            <p:cNvPr id="6" name="TextBox 6"/>
            <p:cNvSpPr txBox="1"/>
            <p:nvPr/>
          </p:nvSpPr>
          <p:spPr>
            <a:xfrm>
              <a:off x="600456" y="1920240"/>
              <a:ext cx="3493008" cy="10378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深色车膜（α ≪ 1）下的单帧成像</a:t>
              </a:r>
              <a:br/>
              <a:r>
                <a:rPr lang="zh-CN" sz="1800" dirty="0">
                  <a:solidFill>
                    <a:schemeClr val="dk1"/>
                  </a:solidFill>
                  <a:latin typeface="+mn-lt"/>
                  <a:ea typeface="+mn-ea"/>
                  <a:cs typeface="+mn-cs"/>
                </a:rPr>
                <a:t>观测 I 由透射层 T 与反射层 R 叠加</a:t>
              </a:r>
              <a:br/>
              <a:r>
                <a:rPr lang="zh-CN" sz="1800" dirty="0">
                  <a:solidFill>
                    <a:schemeClr val="dk1"/>
                  </a:solidFill>
                  <a:latin typeface="+mn-lt"/>
                  <a:ea typeface="+mn-ea"/>
                  <a:cs typeface="+mn-cs"/>
                </a:rPr>
                <a:t>而成；目标是只凭单帧 I 还原 T。</a:t>
              </a:r>
            </a:p>
          </p:txBody>
        </p:sp>
        <p:sp>
          <p:nvSpPr>
            <p:cNvPr id="7" name="Rectangle 7"/>
            <p:cNvSpPr/>
            <p:nvPr/>
          </p:nvSpPr>
          <p:spPr>
            <a:xfrm>
              <a:off x="609600" y="2990850"/>
              <a:ext cx="5715000" cy="876300"/>
            </a:xfrm>
            <a:prstGeom prst="rect">
              <a:avLst/>
            </a:prstGeom>
            <a:solidFill>
              <a:schemeClr val="lt2"/>
            </a:solidFill>
            <a:ln>
              <a:noFill/>
            </a:ln>
          </p:spPr>
        </p:sp>
        <p:sp>
          <p:nvSpPr>
            <p:cNvPr id="8" name="TextBox 8"/>
            <p:cNvSpPr txBox="1"/>
            <p:nvPr/>
          </p:nvSpPr>
          <p:spPr>
            <a:xfrm>
              <a:off x="826770" y="3109912"/>
              <a:ext cx="2778862" cy="440055"/>
            </a:xfrm>
            <a:prstGeom prst="rect">
              <a:avLst/>
            </a:prstGeom>
            <a:noFill/>
            <a:ln>
              <a:noFill/>
            </a:ln>
          </p:spPr>
          <p:txBody>
            <a:bodyPr wrap="none" lIns="0" tIns="0" rIns="0" bIns="0" anchor="t" anchorCtr="0">
              <a:spAutoFit/>
            </a:bodyPr>
            <a:lstStyle/>
            <a:p>
              <a:pPr algn="l"/>
              <a:r>
                <a:rPr lang="el-GR" sz="2250" dirty="0">
                  <a:solidFill>
                    <a:schemeClr val="accent1"/>
                  </a:solidFill>
                  <a:latin typeface="Consolas"/>
                  <a:ea typeface="Consolas"/>
                  <a:cs typeface="Consolas"/>
                </a:rPr>
                <a:t>I = α(x) · T + R</a:t>
              </a:r>
            </a:p>
          </p:txBody>
        </p:sp>
        <p:sp>
          <p:nvSpPr>
            <p:cNvPr id="9" name="TextBox 9"/>
            <p:cNvSpPr txBox="1"/>
            <p:nvPr/>
          </p:nvSpPr>
          <p:spPr>
            <a:xfrm>
              <a:off x="831342" y="3530918"/>
              <a:ext cx="43754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车膜吃掉七成光再叠上反射，要还原「车里长什么样」</a:t>
              </a:r>
            </a:p>
          </p:txBody>
        </p:sp>
      </p:grpSp>
      <p:grpSp>
        <p:nvGrpSpPr>
          <p:cNvPr id="21" name="task-route"/>
          <p:cNvGrpSpPr/>
          <p:nvPr/>
        </p:nvGrpSpPr>
        <p:grpSpPr>
          <a:xfrm>
            <a:off x="6655308" y="1436370"/>
            <a:ext cx="4927092" cy="2282381"/>
            <a:chOff x="6655308" y="1436370"/>
            <a:chExt cx="4927092" cy="2282381"/>
          </a:xfrm>
        </p:grpSpPr>
        <p:sp>
          <p:nvSpPr>
            <p:cNvPr id="11" name="TextBox 11"/>
            <p:cNvSpPr txBox="1"/>
            <p:nvPr/>
          </p:nvSpPr>
          <p:spPr>
            <a:xfrm>
              <a:off x="6655308" y="143637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两阶段路线</a:t>
              </a:r>
            </a:p>
          </p:txBody>
        </p:sp>
        <p:sp>
          <p:nvSpPr>
            <p:cNvPr id="12" name="Rectangle 12"/>
            <p:cNvSpPr/>
            <p:nvPr/>
          </p:nvSpPr>
          <p:spPr>
            <a:xfrm>
              <a:off x="6667500" y="2057400"/>
              <a:ext cx="1809750" cy="800100"/>
            </a:xfrm>
            <a:prstGeom prst="rect">
              <a:avLst/>
            </a:prstGeom>
            <a:solidFill>
              <a:schemeClr val="lt2"/>
            </a:solidFill>
            <a:ln>
              <a:noFill/>
            </a:ln>
          </p:spPr>
        </p:sp>
        <p:sp>
          <p:nvSpPr>
            <p:cNvPr id="13" name="TextBox 13"/>
            <p:cNvSpPr txBox="1"/>
            <p:nvPr/>
          </p:nvSpPr>
          <p:spPr>
            <a:xfrm>
              <a:off x="7201506" y="2205990"/>
              <a:ext cx="741738"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RDNet</a:t>
              </a:r>
            </a:p>
          </p:txBody>
        </p:sp>
        <p:sp>
          <p:nvSpPr>
            <p:cNvPr id="14" name="TextBox 14"/>
            <p:cNvSpPr txBox="1"/>
            <p:nvPr/>
          </p:nvSpPr>
          <p:spPr>
            <a:xfrm>
              <a:off x="7292912" y="2521268"/>
              <a:ext cx="558927"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去反射</a:t>
              </a:r>
            </a:p>
          </p:txBody>
        </p:sp>
        <p:sp>
          <p:nvSpPr>
            <p:cNvPr id="15" name="Freeform 15"/>
            <p:cNvSpPr/>
            <p:nvPr/>
          </p:nvSpPr>
          <p:spPr>
            <a:xfrm>
              <a:off x="8591550" y="2305050"/>
              <a:ext cx="571500" cy="419100"/>
            </a:xfrm>
            <a:prstGeom prst="rightArrow">
              <a:avLst/>
            </a:prstGeom>
            <a:solidFill>
              <a:schemeClr val="accent1"/>
            </a:solidFill>
            <a:ln>
              <a:noFill/>
            </a:ln>
          </p:spPr>
        </p:sp>
        <p:sp>
          <p:nvSpPr>
            <p:cNvPr id="16" name="Rectangle 16"/>
            <p:cNvSpPr/>
            <p:nvPr/>
          </p:nvSpPr>
          <p:spPr>
            <a:xfrm>
              <a:off x="9277350" y="2057400"/>
              <a:ext cx="2305050" cy="800100"/>
            </a:xfrm>
            <a:prstGeom prst="rect">
              <a:avLst/>
            </a:prstGeom>
            <a:solidFill>
              <a:schemeClr val="lt2"/>
            </a:solidFill>
            <a:ln>
              <a:noFill/>
            </a:ln>
          </p:spPr>
        </p:sp>
        <p:sp>
          <p:nvSpPr>
            <p:cNvPr id="17" name="TextBox 17"/>
            <p:cNvSpPr txBox="1"/>
            <p:nvPr/>
          </p:nvSpPr>
          <p:spPr>
            <a:xfrm>
              <a:off x="9731565" y="2205990"/>
              <a:ext cx="1396620"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ExpoMamba</a:t>
              </a:r>
            </a:p>
          </p:txBody>
        </p:sp>
        <p:sp>
          <p:nvSpPr>
            <p:cNvPr id="18" name="TextBox 18"/>
            <p:cNvSpPr txBox="1"/>
            <p:nvPr/>
          </p:nvSpPr>
          <p:spPr>
            <a:xfrm>
              <a:off x="10059543" y="2521268"/>
              <a:ext cx="740664"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低光增强</a:t>
              </a:r>
            </a:p>
          </p:txBody>
        </p:sp>
        <p:sp>
          <p:nvSpPr>
            <p:cNvPr id="19" name="TextBox 19"/>
            <p:cNvSpPr txBox="1"/>
            <p:nvPr/>
          </p:nvSpPr>
          <p:spPr>
            <a:xfrm>
              <a:off x="6658356" y="3082290"/>
              <a:ext cx="310781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基准 v2.1：3 档 α × 12 场景</a:t>
              </a:r>
            </a:p>
          </p:txBody>
        </p:sp>
        <p:sp>
          <p:nvSpPr>
            <p:cNvPr id="20" name="TextBox 20"/>
            <p:cNvSpPr txBox="1"/>
            <p:nvPr/>
          </p:nvSpPr>
          <p:spPr>
            <a:xfrm>
              <a:off x="6660642" y="3454718"/>
              <a:ext cx="346534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口径 raw/gm PSNR · 常数基线 · 结构相关</a:t>
              </a:r>
            </a:p>
          </p:txBody>
        </p:sp>
      </p:grpSp>
      <p:grpSp>
        <p:nvGrpSpPr>
          <p:cNvPr id="31" name="guard-baseline"/>
          <p:cNvGrpSpPr/>
          <p:nvPr/>
        </p:nvGrpSpPr>
        <p:grpSpPr>
          <a:xfrm>
            <a:off x="602742" y="4152900"/>
            <a:ext cx="2003298" cy="1299401"/>
            <a:chOff x="602742" y="4152900"/>
            <a:chExt cx="2003298" cy="1299401"/>
          </a:xfrm>
        </p:grpSpPr>
        <p:sp>
          <p:nvSpPr>
            <p:cNvPr id="22" name="Rectangle 22"/>
            <p:cNvSpPr/>
            <p:nvPr/>
          </p:nvSpPr>
          <p:spPr>
            <a:xfrm>
              <a:off x="609600" y="4152900"/>
              <a:ext cx="457200" cy="28575"/>
            </a:xfrm>
            <a:prstGeom prst="rect">
              <a:avLst/>
            </a:prstGeom>
            <a:solidFill>
              <a:schemeClr val="accent3"/>
            </a:solidFill>
            <a:ln>
              <a:noFill/>
            </a:ln>
          </p:spPr>
        </p:sp>
        <p:grpSp>
          <p:nvGrpSpPr>
            <p:cNvPr id="28" name="Group 28"/>
            <p:cNvGrpSpPr/>
            <p:nvPr/>
          </p:nvGrpSpPr>
          <p:grpSpPr>
            <a:xfrm>
              <a:off x="657225" y="4352925"/>
              <a:ext cx="285750" cy="279401"/>
              <a:chOff x="657225" y="4352925"/>
              <a:chExt cx="285750" cy="279401"/>
            </a:xfrm>
          </p:grpSpPr>
          <p:sp>
            <p:nvSpPr>
              <p:cNvPr id="23" name="Freeform 23"/>
              <p:cNvSpPr/>
              <p:nvPr/>
            </p:nvSpPr>
            <p:spPr>
              <a:xfrm>
                <a:off x="720725" y="4622801"/>
                <a:ext cx="158750" cy="9525"/>
              </a:xfrm>
              <a:custGeom>
                <a:avLst/>
                <a:gdLst/>
                <a:ahLst/>
                <a:cxnLst/>
                <a:rect l="l" t="t" r="r" b="b"/>
                <a:pathLst>
                  <a:path w="158750" h="9525">
                    <a:moveTo>
                      <a:pt x="0" y="0"/>
                    </a:moveTo>
                    <a:lnTo>
                      <a:pt x="158750" y="0"/>
                    </a:lnTo>
                  </a:path>
                </a:pathLst>
              </a:custGeom>
              <a:noFill/>
              <a:ln w="31750">
                <a:solidFill>
                  <a:schemeClr val="accent1"/>
                </a:solidFill>
              </a:ln>
            </p:spPr>
          </p:sp>
          <p:sp>
            <p:nvSpPr>
              <p:cNvPr id="24" name="Freeform 24"/>
              <p:cNvSpPr/>
              <p:nvPr/>
            </p:nvSpPr>
            <p:spPr>
              <a:xfrm>
                <a:off x="704850" y="4384675"/>
                <a:ext cx="190500" cy="15875"/>
              </a:xfrm>
              <a:custGeom>
                <a:avLst/>
                <a:gdLst/>
                <a:ahLst/>
                <a:cxnLst/>
                <a:rect l="l" t="t" r="r" b="b"/>
                <a:pathLst>
                  <a:path w="190500" h="15875">
                    <a:moveTo>
                      <a:pt x="0" y="15875"/>
                    </a:moveTo>
                    <a:lnTo>
                      <a:pt x="95250" y="0"/>
                    </a:lnTo>
                    <a:lnTo>
                      <a:pt x="190500" y="15875"/>
                    </a:lnTo>
                  </a:path>
                </a:pathLst>
              </a:custGeom>
              <a:noFill/>
              <a:ln w="31750">
                <a:solidFill>
                  <a:schemeClr val="accent1"/>
                </a:solidFill>
              </a:ln>
            </p:spPr>
          </p:sp>
          <p:sp>
            <p:nvSpPr>
              <p:cNvPr id="25" name="Freeform 25"/>
              <p:cNvSpPr/>
              <p:nvPr/>
            </p:nvSpPr>
            <p:spPr>
              <a:xfrm>
                <a:off x="800100" y="4352925"/>
                <a:ext cx="9525" cy="269876"/>
              </a:xfrm>
              <a:custGeom>
                <a:avLst/>
                <a:gdLst/>
                <a:ahLst/>
                <a:cxnLst/>
                <a:rect l="l" t="t" r="r" b="b"/>
                <a:pathLst>
                  <a:path w="9525" h="269876">
                    <a:moveTo>
                      <a:pt x="0" y="0"/>
                    </a:moveTo>
                    <a:lnTo>
                      <a:pt x="0" y="269876"/>
                    </a:lnTo>
                  </a:path>
                </a:pathLst>
              </a:custGeom>
              <a:noFill/>
              <a:ln w="31750">
                <a:solidFill>
                  <a:schemeClr val="accent1"/>
                </a:solidFill>
              </a:ln>
            </p:spPr>
          </p:sp>
          <p:sp>
            <p:nvSpPr>
              <p:cNvPr id="26" name="Freeform 26"/>
              <p:cNvSpPr/>
              <p:nvPr/>
            </p:nvSpPr>
            <p:spPr>
              <a:xfrm>
                <a:off x="657225" y="4400550"/>
                <a:ext cx="95250" cy="142875"/>
              </a:xfrm>
              <a:custGeom>
                <a:avLst/>
                <a:gdLst/>
                <a:ahLst/>
                <a:cxnLst/>
                <a:rect l="l" t="t" r="r" b="b"/>
                <a:pathLst>
                  <a:path w="95250" h="142875">
                    <a:moveTo>
                      <a:pt x="95250" y="95250"/>
                    </a:moveTo>
                    <a:lnTo>
                      <a:pt x="47625" y="0"/>
                    </a:lnTo>
                    <a:lnTo>
                      <a:pt x="0" y="95250"/>
                    </a:lnTo>
                    <a:cubicBezTo>
                      <a:pt x="0" y="121553"/>
                      <a:pt x="21322" y="142875"/>
                      <a:pt x="47625" y="142875"/>
                    </a:cubicBezTo>
                    <a:cubicBezTo>
                      <a:pt x="73928" y="142875"/>
                      <a:pt x="95250" y="121553"/>
                      <a:pt x="95250" y="95250"/>
                    </a:cubicBezTo>
                  </a:path>
                </a:pathLst>
              </a:custGeom>
              <a:noFill/>
              <a:ln w="31750">
                <a:solidFill>
                  <a:schemeClr val="accent1"/>
                </a:solidFill>
              </a:ln>
            </p:spPr>
          </p:sp>
          <p:sp>
            <p:nvSpPr>
              <p:cNvPr id="27" name="Freeform 27"/>
              <p:cNvSpPr/>
              <p:nvPr/>
            </p:nvSpPr>
            <p:spPr>
              <a:xfrm>
                <a:off x="847725" y="4400550"/>
                <a:ext cx="95250" cy="142875"/>
              </a:xfrm>
              <a:custGeom>
                <a:avLst/>
                <a:gdLst/>
                <a:ahLst/>
                <a:cxnLst/>
                <a:rect l="l" t="t" r="r" b="b"/>
                <a:pathLst>
                  <a:path w="95250" h="142875">
                    <a:moveTo>
                      <a:pt x="95250" y="95250"/>
                    </a:moveTo>
                    <a:lnTo>
                      <a:pt x="47625" y="0"/>
                    </a:lnTo>
                    <a:lnTo>
                      <a:pt x="0" y="95250"/>
                    </a:lnTo>
                    <a:cubicBezTo>
                      <a:pt x="0" y="121553"/>
                      <a:pt x="21322" y="142875"/>
                      <a:pt x="47625" y="142875"/>
                    </a:cubicBezTo>
                    <a:cubicBezTo>
                      <a:pt x="73928" y="142875"/>
                      <a:pt x="95250" y="121553"/>
                      <a:pt x="95250" y="95250"/>
                    </a:cubicBezTo>
                  </a:path>
                </a:pathLst>
              </a:custGeom>
              <a:noFill/>
              <a:ln w="31750">
                <a:solidFill>
                  <a:schemeClr val="accent1"/>
                </a:solidFill>
              </a:ln>
            </p:spPr>
          </p:sp>
        </p:grpSp>
        <p:sp>
          <p:nvSpPr>
            <p:cNvPr id="29" name="TextBox 29"/>
            <p:cNvSpPr txBox="1"/>
            <p:nvPr/>
          </p:nvSpPr>
          <p:spPr>
            <a:xfrm>
              <a:off x="1133856" y="439674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常数基线同框</a:t>
              </a:r>
            </a:p>
          </p:txBody>
        </p:sp>
        <p:sp>
          <p:nvSpPr>
            <p:cNvPr id="30" name="TextBox 30"/>
            <p:cNvSpPr txBox="1"/>
            <p:nvPr/>
          </p:nvSpPr>
          <p:spPr>
            <a:xfrm>
              <a:off x="602742" y="4940618"/>
              <a:ext cx="196824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低对比 GT 下涂成 GT 均值</a:t>
              </a:r>
              <a:br/>
              <a:r>
                <a:rPr lang="zh-CN" sz="1350" dirty="0">
                  <a:solidFill>
                    <a:schemeClr val="dk1"/>
                  </a:solidFill>
                  <a:latin typeface="+mn-lt"/>
                  <a:ea typeface="+mn-ea"/>
                  <a:cs typeface="+mn-cs"/>
                </a:rPr>
                <a:t>也能拿 17.68 dB</a:t>
              </a:r>
            </a:p>
          </p:txBody>
        </p:sp>
      </p:grpSp>
      <p:grpSp>
        <p:nvGrpSpPr>
          <p:cNvPr id="40" name="guard-dual-set"/>
          <p:cNvGrpSpPr/>
          <p:nvPr/>
        </p:nvGrpSpPr>
        <p:grpSpPr>
          <a:xfrm>
            <a:off x="4336542" y="4152900"/>
            <a:ext cx="2071116" cy="1299401"/>
            <a:chOff x="4336542" y="4152900"/>
            <a:chExt cx="2071116" cy="1299401"/>
          </a:xfrm>
        </p:grpSpPr>
        <p:sp>
          <p:nvSpPr>
            <p:cNvPr id="32" name="Rectangle 32"/>
            <p:cNvSpPr/>
            <p:nvPr/>
          </p:nvSpPr>
          <p:spPr>
            <a:xfrm>
              <a:off x="4343400" y="4152900"/>
              <a:ext cx="457200" cy="28575"/>
            </a:xfrm>
            <a:prstGeom prst="rect">
              <a:avLst/>
            </a:prstGeom>
            <a:solidFill>
              <a:schemeClr val="accent3"/>
            </a:solidFill>
            <a:ln>
              <a:noFill/>
            </a:ln>
          </p:spPr>
        </p:sp>
        <p:grpSp>
          <p:nvGrpSpPr>
            <p:cNvPr id="37" name="Group 37"/>
            <p:cNvGrpSpPr/>
            <p:nvPr/>
          </p:nvGrpSpPr>
          <p:grpSpPr>
            <a:xfrm>
              <a:off x="4422775" y="4368800"/>
              <a:ext cx="238125" cy="269876"/>
              <a:chOff x="4422775" y="4368800"/>
              <a:chExt cx="238125" cy="269876"/>
            </a:xfrm>
          </p:grpSpPr>
          <p:sp>
            <p:nvSpPr>
              <p:cNvPr id="33" name="Freeform 33"/>
              <p:cNvSpPr/>
              <p:nvPr/>
            </p:nvSpPr>
            <p:spPr>
              <a:xfrm>
                <a:off x="4422775" y="4368800"/>
                <a:ext cx="190500" cy="254001"/>
              </a:xfrm>
              <a:custGeom>
                <a:avLst/>
                <a:gdLst/>
                <a:ahLst/>
                <a:cxnLst/>
                <a:rect l="l" t="t" r="r" b="b"/>
                <a:pathLst>
                  <a:path w="190500" h="254001">
                    <a:moveTo>
                      <a:pt x="73263" y="254001"/>
                    </a:moveTo>
                    <a:lnTo>
                      <a:pt x="31750" y="254001"/>
                    </a:lnTo>
                    <a:cubicBezTo>
                      <a:pt x="14215" y="254001"/>
                      <a:pt x="0" y="239786"/>
                      <a:pt x="0" y="222250"/>
                    </a:cubicBezTo>
                    <a:lnTo>
                      <a:pt x="0" y="31750"/>
                    </a:lnTo>
                    <a:cubicBezTo>
                      <a:pt x="0" y="14215"/>
                      <a:pt x="14215" y="0"/>
                      <a:pt x="31750" y="0"/>
                    </a:cubicBezTo>
                    <a:lnTo>
                      <a:pt x="158750" y="0"/>
                    </a:lnTo>
                    <a:cubicBezTo>
                      <a:pt x="176285" y="0"/>
                      <a:pt x="190500" y="14215"/>
                      <a:pt x="190500" y="31750"/>
                    </a:cubicBezTo>
                    <a:lnTo>
                      <a:pt x="190500" y="158750"/>
                    </a:lnTo>
                  </a:path>
                </a:pathLst>
              </a:custGeom>
              <a:noFill/>
              <a:ln w="31750">
                <a:solidFill>
                  <a:schemeClr val="accent1"/>
                </a:solidFill>
              </a:ln>
            </p:spPr>
          </p:sp>
          <p:sp>
            <p:nvSpPr>
              <p:cNvPr id="34" name="Freeform 34"/>
              <p:cNvSpPr/>
              <p:nvPr/>
            </p:nvSpPr>
            <p:spPr>
              <a:xfrm>
                <a:off x="4565650" y="4575176"/>
                <a:ext cx="95250" cy="63500"/>
              </a:xfrm>
              <a:custGeom>
                <a:avLst/>
                <a:gdLst/>
                <a:ahLst/>
                <a:cxnLst/>
                <a:rect l="l" t="t" r="r" b="b"/>
                <a:pathLst>
                  <a:path w="95250" h="63500">
                    <a:moveTo>
                      <a:pt x="0" y="31750"/>
                    </a:moveTo>
                    <a:lnTo>
                      <a:pt x="31750" y="63500"/>
                    </a:lnTo>
                    <a:lnTo>
                      <a:pt x="95250" y="0"/>
                    </a:lnTo>
                  </a:path>
                </a:pathLst>
              </a:custGeom>
              <a:noFill/>
              <a:ln w="31750">
                <a:solidFill>
                  <a:schemeClr val="accent1"/>
                </a:solidFill>
              </a:ln>
            </p:spPr>
          </p:sp>
          <p:sp>
            <p:nvSpPr>
              <p:cNvPr id="35" name="Freeform 35"/>
              <p:cNvSpPr/>
              <p:nvPr/>
            </p:nvSpPr>
            <p:spPr>
              <a:xfrm>
                <a:off x="4486275" y="4432300"/>
                <a:ext cx="63500" cy="9525"/>
              </a:xfrm>
              <a:custGeom>
                <a:avLst/>
                <a:gdLst/>
                <a:ahLst/>
                <a:cxnLst/>
                <a:rect l="l" t="t" r="r" b="b"/>
                <a:pathLst>
                  <a:path w="63500" h="9525">
                    <a:moveTo>
                      <a:pt x="0" y="0"/>
                    </a:moveTo>
                    <a:lnTo>
                      <a:pt x="63500" y="0"/>
                    </a:lnTo>
                  </a:path>
                </a:pathLst>
              </a:custGeom>
              <a:noFill/>
              <a:ln w="31750">
                <a:solidFill>
                  <a:schemeClr val="accent1"/>
                </a:solidFill>
              </a:ln>
            </p:spPr>
          </p:sp>
          <p:sp>
            <p:nvSpPr>
              <p:cNvPr id="36" name="Freeform 36"/>
              <p:cNvSpPr/>
              <p:nvPr/>
            </p:nvSpPr>
            <p:spPr>
              <a:xfrm>
                <a:off x="4486275" y="4495800"/>
                <a:ext cx="31750" cy="9525"/>
              </a:xfrm>
              <a:custGeom>
                <a:avLst/>
                <a:gdLst/>
                <a:ahLst/>
                <a:cxnLst/>
                <a:rect l="l" t="t" r="r" b="b"/>
                <a:pathLst>
                  <a:path w="31750" h="9525">
                    <a:moveTo>
                      <a:pt x="0" y="0"/>
                    </a:moveTo>
                    <a:lnTo>
                      <a:pt x="31750" y="0"/>
                    </a:lnTo>
                  </a:path>
                </a:pathLst>
              </a:custGeom>
              <a:noFill/>
              <a:ln w="31750">
                <a:solidFill>
                  <a:schemeClr val="accent1"/>
                </a:solidFill>
              </a:ln>
            </p:spPr>
          </p:sp>
        </p:grpSp>
        <p:sp>
          <p:nvSpPr>
            <p:cNvPr id="38" name="TextBox 38"/>
            <p:cNvSpPr txBox="1"/>
            <p:nvPr/>
          </p:nvSpPr>
          <p:spPr>
            <a:xfrm>
              <a:off x="4867656" y="439674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双测试集固定</a:t>
              </a:r>
            </a:p>
          </p:txBody>
        </p:sp>
        <p:sp>
          <p:nvSpPr>
            <p:cNvPr id="39" name="TextBox 39"/>
            <p:cNvSpPr txBox="1"/>
            <p:nvPr/>
          </p:nvSpPr>
          <p:spPr>
            <a:xfrm>
              <a:off x="4336542" y="4940618"/>
              <a:ext cx="20711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结论只在单集成立时不外推</a:t>
              </a:r>
              <a:br/>
              <a:r>
                <a:rPr lang="zh-CN" sz="1350" dirty="0">
                  <a:solidFill>
                    <a:schemeClr val="dk1"/>
                  </a:solidFill>
                  <a:latin typeface="+mn-lt"/>
                  <a:ea typeface="+mn-ea"/>
                  <a:cs typeface="+mn-cs"/>
                </a:rPr>
                <a:t>v2.1 与扩增集各自报数</a:t>
              </a:r>
            </a:p>
          </p:txBody>
        </p:sp>
      </p:grpSp>
      <p:grpSp>
        <p:nvGrpSpPr>
          <p:cNvPr id="47" name="guard-ci"/>
          <p:cNvGrpSpPr/>
          <p:nvPr/>
        </p:nvGrpSpPr>
        <p:grpSpPr>
          <a:xfrm>
            <a:off x="8070342" y="4152900"/>
            <a:ext cx="2120421" cy="1299401"/>
            <a:chOff x="8070342" y="4152900"/>
            <a:chExt cx="2120421" cy="1299401"/>
          </a:xfrm>
        </p:grpSpPr>
        <p:sp>
          <p:nvSpPr>
            <p:cNvPr id="41" name="Rectangle 41"/>
            <p:cNvSpPr/>
            <p:nvPr/>
          </p:nvSpPr>
          <p:spPr>
            <a:xfrm>
              <a:off x="8077200" y="4152900"/>
              <a:ext cx="457200" cy="28575"/>
            </a:xfrm>
            <a:prstGeom prst="rect">
              <a:avLst/>
            </a:prstGeom>
            <a:solidFill>
              <a:schemeClr val="accent3"/>
            </a:solidFill>
            <a:ln>
              <a:noFill/>
            </a:ln>
          </p:spPr>
        </p:sp>
        <p:grpSp>
          <p:nvGrpSpPr>
            <p:cNvPr id="44" name="Group 44"/>
            <p:cNvGrpSpPr/>
            <p:nvPr/>
          </p:nvGrpSpPr>
          <p:grpSpPr>
            <a:xfrm>
              <a:off x="8140700" y="4400550"/>
              <a:ext cx="254001" cy="215901"/>
              <a:chOff x="8140700" y="4400550"/>
              <a:chExt cx="254001" cy="215901"/>
            </a:xfrm>
          </p:grpSpPr>
          <p:sp>
            <p:nvSpPr>
              <p:cNvPr id="42" name="Freeform 42"/>
              <p:cNvSpPr/>
              <p:nvPr/>
            </p:nvSpPr>
            <p:spPr>
              <a:xfrm>
                <a:off x="8140700" y="4606926"/>
                <a:ext cx="254001" cy="9525"/>
              </a:xfrm>
              <a:custGeom>
                <a:avLst/>
                <a:gdLst/>
                <a:ahLst/>
                <a:cxnLst/>
                <a:rect l="l" t="t" r="r" b="b"/>
                <a:pathLst>
                  <a:path w="254001" h="9525">
                    <a:moveTo>
                      <a:pt x="0" y="0"/>
                    </a:moveTo>
                    <a:lnTo>
                      <a:pt x="254001" y="0"/>
                    </a:lnTo>
                  </a:path>
                </a:pathLst>
              </a:custGeom>
              <a:noFill/>
              <a:ln w="31750">
                <a:solidFill>
                  <a:schemeClr val="accent1"/>
                </a:solidFill>
              </a:ln>
            </p:spPr>
          </p:sp>
          <p:sp>
            <p:nvSpPr>
              <p:cNvPr id="43" name="Freeform 43"/>
              <p:cNvSpPr/>
              <p:nvPr/>
            </p:nvSpPr>
            <p:spPr>
              <a:xfrm>
                <a:off x="8140700" y="4400550"/>
                <a:ext cx="254001" cy="142875"/>
              </a:xfrm>
              <a:custGeom>
                <a:avLst/>
                <a:gdLst/>
                <a:ahLst/>
                <a:cxnLst/>
                <a:rect l="l" t="t" r="r" b="b"/>
                <a:pathLst>
                  <a:path w="254001" h="142875">
                    <a:moveTo>
                      <a:pt x="0" y="142875"/>
                    </a:moveTo>
                    <a:lnTo>
                      <a:pt x="63500" y="47625"/>
                    </a:lnTo>
                    <a:lnTo>
                      <a:pt x="127000" y="79375"/>
                    </a:lnTo>
                    <a:lnTo>
                      <a:pt x="190500" y="0"/>
                    </a:lnTo>
                    <a:lnTo>
                      <a:pt x="254001" y="63500"/>
                    </a:lnTo>
                  </a:path>
                </a:pathLst>
              </a:custGeom>
              <a:noFill/>
              <a:ln w="31750">
                <a:solidFill>
                  <a:schemeClr val="accent1"/>
                </a:solidFill>
              </a:ln>
            </p:spPr>
          </p:sp>
        </p:grpSp>
        <p:sp>
          <p:nvSpPr>
            <p:cNvPr id="45" name="TextBox 45"/>
            <p:cNvSpPr txBox="1"/>
            <p:nvPr/>
          </p:nvSpPr>
          <p:spPr>
            <a:xfrm>
              <a:off x="8601456" y="4396740"/>
              <a:ext cx="158930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配对 + 聚类 CI</a:t>
              </a:r>
            </a:p>
          </p:txBody>
        </p:sp>
        <p:sp>
          <p:nvSpPr>
            <p:cNvPr id="46" name="TextBox 46"/>
            <p:cNvSpPr txBox="1"/>
            <p:nvPr/>
          </p:nvSpPr>
          <p:spPr>
            <a:xfrm>
              <a:off x="8070342" y="4940618"/>
              <a:ext cx="203682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一律配对检验 + 场景聚类</a:t>
              </a:r>
              <a:br/>
              <a:r>
                <a:rPr lang="zh-CN" sz="1350" dirty="0">
                  <a:solidFill>
                    <a:schemeClr val="dk1"/>
                  </a:solidFill>
                  <a:latin typeface="+mn-lt"/>
                  <a:ea typeface="+mn-ea"/>
                  <a:cs typeface="+mn-cs"/>
                </a:rPr>
                <a:t>95% CI，不读单 seed 点估</a:t>
              </a:r>
            </a:p>
          </p:txBody>
        </p:sp>
      </p:grpSp>
      <p:grpSp>
        <p:nvGrpSpPr>
          <p:cNvPr id="50" name="page-footer"/>
          <p:cNvGrpSpPr/>
          <p:nvPr/>
        </p:nvGrpSpPr>
        <p:grpSpPr>
          <a:xfrm>
            <a:off x="603504" y="6252210"/>
            <a:ext cx="10984992" cy="234696"/>
            <a:chOff x="603504" y="6252210"/>
            <a:chExt cx="10984992" cy="234696"/>
          </a:xfrm>
        </p:grpSpPr>
        <p:sp>
          <p:nvSpPr>
            <p:cNvPr id="48" name="TextBox 48"/>
            <p:cNvSpPr txBox="1"/>
            <p:nvPr/>
          </p:nvSpPr>
          <p:spPr>
            <a:xfrm>
              <a:off x="603504" y="6252210"/>
              <a:ext cx="397655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口径 raw PSNR (dB) · 2 seed 均值 · 场景聚类 95% CI</a:t>
              </a:r>
            </a:p>
          </p:txBody>
        </p:sp>
        <p:sp>
          <p:nvSpPr>
            <p:cNvPr id="49" name="TextBox 49"/>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 / 17</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768448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魔改后的 RDNet：α 门控与 Mona 适配器</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3" name="p03-pipeline"/>
          <p:cNvGrpSpPr/>
          <p:nvPr/>
        </p:nvGrpSpPr>
        <p:grpSpPr>
          <a:xfrm>
            <a:off x="602742" y="1524000"/>
            <a:ext cx="10979658" cy="1185101"/>
            <a:chOff x="602742" y="1524000"/>
            <a:chExt cx="10979658" cy="1185101"/>
          </a:xfrm>
        </p:grpSpPr>
        <p:sp>
          <p:nvSpPr>
            <p:cNvPr id="5" name="Rectangle 5"/>
            <p:cNvSpPr/>
            <p:nvPr/>
          </p:nvSpPr>
          <p:spPr>
            <a:xfrm>
              <a:off x="609600" y="1524000"/>
              <a:ext cx="838200" cy="723900"/>
            </a:xfrm>
            <a:prstGeom prst="rect">
              <a:avLst/>
            </a:prstGeom>
            <a:solidFill>
              <a:schemeClr val="lt2"/>
            </a:solidFill>
            <a:ln w="9525">
              <a:solidFill>
                <a:srgbClr val="8A9099"/>
              </a:solidFill>
            </a:ln>
          </p:spPr>
        </p:sp>
        <p:sp>
          <p:nvSpPr>
            <p:cNvPr id="6" name="TextBox 6"/>
            <p:cNvSpPr txBox="1"/>
            <p:nvPr/>
          </p:nvSpPr>
          <p:spPr>
            <a:xfrm>
              <a:off x="700430" y="1691640"/>
              <a:ext cx="656539" cy="352044"/>
            </a:xfrm>
            <a:prstGeom prst="rect">
              <a:avLst/>
            </a:prstGeom>
            <a:noFill/>
            <a:ln>
              <a:noFill/>
            </a:ln>
          </p:spPr>
          <p:txBody>
            <a:bodyPr wrap="none" lIns="0" tIns="0" rIns="0" bIns="0" anchor="t" anchorCtr="0">
              <a:spAutoFit/>
            </a:bodyPr>
            <a:lstStyle/>
            <a:p>
              <a:pPr algn="ctr"/>
              <a:r>
                <a:rPr lang="zh-CN" sz="1800" dirty="0">
                  <a:solidFill>
                    <a:schemeClr val="accent5"/>
                  </a:solidFill>
                  <a:latin typeface="+mn-lt"/>
                  <a:ea typeface="+mn-ea"/>
                  <a:cs typeface="+mn-cs"/>
                </a:rPr>
                <a:t>输入 I</a:t>
              </a:r>
            </a:p>
          </p:txBody>
        </p:sp>
        <p:sp>
          <p:nvSpPr>
            <p:cNvPr id="7" name="TextBox 7"/>
            <p:cNvSpPr txBox="1"/>
            <p:nvPr/>
          </p:nvSpPr>
          <p:spPr>
            <a:xfrm>
              <a:off x="712889" y="1987868"/>
              <a:ext cx="631622" cy="264033"/>
            </a:xfrm>
            <a:prstGeom prst="rect">
              <a:avLst/>
            </a:prstGeom>
            <a:noFill/>
            <a:ln>
              <a:noFill/>
            </a:ln>
          </p:spPr>
          <p:txBody>
            <a:bodyPr wrap="none" lIns="0" tIns="0" rIns="0" bIns="0" anchor="t" anchorCtr="0">
              <a:spAutoFit/>
            </a:bodyPr>
            <a:lstStyle/>
            <a:p>
              <a:pPr algn="ctr"/>
              <a:r>
                <a:rPr lang="zh-CN" sz="1350" dirty="0">
                  <a:solidFill>
                    <a:srgbClr val="8A9099"/>
                  </a:solidFill>
                  <a:latin typeface="+mn-lt"/>
                  <a:ea typeface="+mn-ea"/>
                  <a:cs typeface="+mn-cs"/>
                </a:rPr>
                <a:t>32 倍数</a:t>
              </a:r>
            </a:p>
          </p:txBody>
        </p:sp>
        <p:sp>
          <p:nvSpPr>
            <p:cNvPr id="8" name="Line 8"/>
            <p:cNvSpPr/>
            <p:nvPr/>
          </p:nvSpPr>
          <p:spPr>
            <a:xfrm>
              <a:off x="1447800" y="1885950"/>
              <a:ext cx="209550" cy="1"/>
            </a:xfrm>
            <a:prstGeom prst="line">
              <a:avLst/>
            </a:prstGeom>
            <a:noFill/>
            <a:ln w="19050">
              <a:solidFill>
                <a:srgbClr val="5A6672"/>
              </a:solidFill>
              <a:tailEnd type="triangle" w="lg" len="lg"/>
            </a:ln>
          </p:spPr>
        </p:sp>
        <p:sp>
          <p:nvSpPr>
            <p:cNvPr id="9" name="Rectangle 9"/>
            <p:cNvSpPr/>
            <p:nvPr/>
          </p:nvSpPr>
          <p:spPr>
            <a:xfrm>
              <a:off x="1676400" y="1524000"/>
              <a:ext cx="2476500" cy="723900"/>
            </a:xfrm>
            <a:prstGeom prst="rect">
              <a:avLst/>
            </a:prstGeom>
            <a:solidFill>
              <a:schemeClr val="lt2"/>
            </a:solidFill>
            <a:ln w="9525">
              <a:solidFill>
                <a:srgbClr val="8A9099"/>
              </a:solidFill>
            </a:ln>
          </p:spPr>
        </p:sp>
        <p:sp>
          <p:nvSpPr>
            <p:cNvPr id="10" name="TextBox 10"/>
            <p:cNvSpPr txBox="1"/>
            <p:nvPr/>
          </p:nvSpPr>
          <p:spPr>
            <a:xfrm>
              <a:off x="2225021" y="1691640"/>
              <a:ext cx="1379258" cy="352044"/>
            </a:xfrm>
            <a:prstGeom prst="rect">
              <a:avLst/>
            </a:prstGeom>
            <a:noFill/>
            <a:ln>
              <a:noFill/>
            </a:ln>
          </p:spPr>
          <p:txBody>
            <a:bodyPr wrap="none" lIns="0" tIns="0" rIns="0" bIns="0" anchor="t" anchorCtr="0">
              <a:spAutoFit/>
            </a:bodyPr>
            <a:lstStyle/>
            <a:p>
              <a:pPr algn="ctr"/>
              <a:r>
                <a:rPr lang="en-US" sz="1800" b="1" dirty="0">
                  <a:solidFill>
                    <a:schemeClr val="accent5"/>
                  </a:solidFill>
                  <a:latin typeface="+mn-lt"/>
                  <a:ea typeface="+mn-ea"/>
                  <a:cs typeface="+mn-cs"/>
                </a:rPr>
                <a:t>FocalNet-L</a:t>
              </a:r>
            </a:p>
          </p:txBody>
        </p:sp>
        <p:sp>
          <p:nvSpPr>
            <p:cNvPr id="11" name="TextBox 11"/>
            <p:cNvSpPr txBox="1"/>
            <p:nvPr/>
          </p:nvSpPr>
          <p:spPr>
            <a:xfrm>
              <a:off x="1839787" y="1987868"/>
              <a:ext cx="2149726" cy="264033"/>
            </a:xfrm>
            <a:prstGeom prst="rect">
              <a:avLst/>
            </a:prstGeom>
            <a:noFill/>
            <a:ln>
              <a:noFill/>
            </a:ln>
          </p:spPr>
          <p:txBody>
            <a:bodyPr wrap="none" lIns="0" tIns="0" rIns="0" bIns="0" anchor="t" anchorCtr="0">
              <a:spAutoFit/>
            </a:bodyPr>
            <a:lstStyle/>
            <a:p>
              <a:pPr algn="ctr"/>
              <a:r>
                <a:rPr lang="zh-CN" sz="1350" dirty="0">
                  <a:solidFill>
                    <a:srgbClr val="8A9099"/>
                  </a:solidFill>
                  <a:latin typeface="+mn-lt"/>
                  <a:ea typeface="+mn-ea"/>
                  <a:cs typeface="+mn-cs"/>
                </a:rPr>
                <a:t>冻结 205.7M（含 Mona）</a:t>
              </a:r>
            </a:p>
          </p:txBody>
        </p:sp>
        <p:sp>
          <p:nvSpPr>
            <p:cNvPr id="12" name="Line 12"/>
            <p:cNvSpPr/>
            <p:nvPr/>
          </p:nvSpPr>
          <p:spPr>
            <a:xfrm>
              <a:off x="4152900" y="1885950"/>
              <a:ext cx="209550" cy="1"/>
            </a:xfrm>
            <a:prstGeom prst="line">
              <a:avLst/>
            </a:prstGeom>
            <a:noFill/>
            <a:ln w="19050">
              <a:solidFill>
                <a:srgbClr val="5A6672"/>
              </a:solidFill>
              <a:tailEnd type="triangle" w="lg" len="lg"/>
            </a:ln>
          </p:spPr>
        </p:sp>
        <p:sp>
          <p:nvSpPr>
            <p:cNvPr id="13" name="Rectangle 13"/>
            <p:cNvSpPr/>
            <p:nvPr/>
          </p:nvSpPr>
          <p:spPr>
            <a:xfrm>
              <a:off x="4381500" y="1524000"/>
              <a:ext cx="1238250" cy="723900"/>
            </a:xfrm>
            <a:prstGeom prst="rect">
              <a:avLst/>
            </a:prstGeom>
            <a:solidFill>
              <a:schemeClr val="lt1"/>
            </a:solidFill>
            <a:ln w="19050">
              <a:solidFill>
                <a:schemeClr val="accent2"/>
              </a:solidFill>
            </a:ln>
          </p:spPr>
        </p:sp>
        <p:sp>
          <p:nvSpPr>
            <p:cNvPr id="14" name="TextBox 14"/>
            <p:cNvSpPr txBox="1"/>
            <p:nvPr/>
          </p:nvSpPr>
          <p:spPr>
            <a:xfrm>
              <a:off x="4512907" y="1691640"/>
              <a:ext cx="975436"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1×1 投影</a:t>
              </a:r>
            </a:p>
          </p:txBody>
        </p:sp>
        <p:sp>
          <p:nvSpPr>
            <p:cNvPr id="15" name="TextBox 15"/>
            <p:cNvSpPr txBox="1"/>
            <p:nvPr/>
          </p:nvSpPr>
          <p:spPr>
            <a:xfrm>
              <a:off x="4693901" y="1987868"/>
              <a:ext cx="613448"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192→64</a:t>
              </a:r>
            </a:p>
          </p:txBody>
        </p:sp>
        <p:sp>
          <p:nvSpPr>
            <p:cNvPr id="16" name="Line 16"/>
            <p:cNvSpPr/>
            <p:nvPr/>
          </p:nvSpPr>
          <p:spPr>
            <a:xfrm>
              <a:off x="5619750" y="1885950"/>
              <a:ext cx="209550" cy="1"/>
            </a:xfrm>
            <a:prstGeom prst="line">
              <a:avLst/>
            </a:prstGeom>
            <a:noFill/>
            <a:ln w="19050">
              <a:solidFill>
                <a:srgbClr val="5A6672"/>
              </a:solidFill>
              <a:tailEnd type="triangle" w="lg" len="lg"/>
            </a:ln>
          </p:spPr>
        </p:sp>
        <p:sp>
          <p:nvSpPr>
            <p:cNvPr id="17" name="Rectangle 17"/>
            <p:cNvSpPr/>
            <p:nvPr/>
          </p:nvSpPr>
          <p:spPr>
            <a:xfrm>
              <a:off x="5848350" y="1524000"/>
              <a:ext cx="1238250" cy="723900"/>
            </a:xfrm>
            <a:prstGeom prst="rect">
              <a:avLst/>
            </a:prstGeom>
            <a:solidFill>
              <a:schemeClr val="lt1"/>
            </a:solidFill>
            <a:ln w="19050">
              <a:solidFill>
                <a:schemeClr val="accent3"/>
              </a:solidFill>
            </a:ln>
          </p:spPr>
        </p:sp>
        <p:sp>
          <p:nvSpPr>
            <p:cNvPr id="18" name="TextBox 18"/>
            <p:cNvSpPr txBox="1"/>
            <p:nvPr/>
          </p:nvSpPr>
          <p:spPr>
            <a:xfrm>
              <a:off x="6010046" y="1691640"/>
              <a:ext cx="914857" cy="352044"/>
            </a:xfrm>
            <a:prstGeom prst="rect">
              <a:avLst/>
            </a:prstGeom>
            <a:noFill/>
            <a:ln>
              <a:noFill/>
            </a:ln>
          </p:spPr>
          <p:txBody>
            <a:bodyPr wrap="none" lIns="0" tIns="0" rIns="0" bIns="0" anchor="t" anchorCtr="0">
              <a:spAutoFit/>
            </a:bodyPr>
            <a:lstStyle/>
            <a:p>
              <a:pPr algn="ctr"/>
              <a:r>
                <a:rPr lang="zh-CN" sz="1800" dirty="0">
                  <a:solidFill>
                    <a:schemeClr val="accent3"/>
                  </a:solidFill>
                  <a:latin typeface="+mn-lt"/>
                  <a:ea typeface="+mn-ea"/>
                  <a:cs typeface="+mn-cs"/>
                </a:rPr>
                <a:t>α 门控 ⊗</a:t>
              </a:r>
            </a:p>
          </p:txBody>
        </p:sp>
        <p:sp>
          <p:nvSpPr>
            <p:cNvPr id="19" name="TextBox 19"/>
            <p:cNvSpPr txBox="1"/>
            <p:nvPr/>
          </p:nvSpPr>
          <p:spPr>
            <a:xfrm>
              <a:off x="6033535" y="1987868"/>
              <a:ext cx="867880"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仅调 stem</a:t>
              </a:r>
            </a:p>
          </p:txBody>
        </p:sp>
        <p:sp>
          <p:nvSpPr>
            <p:cNvPr id="20" name="Line 20"/>
            <p:cNvSpPr/>
            <p:nvPr/>
          </p:nvSpPr>
          <p:spPr>
            <a:xfrm>
              <a:off x="7086600" y="1885950"/>
              <a:ext cx="209550" cy="1"/>
            </a:xfrm>
            <a:prstGeom prst="line">
              <a:avLst/>
            </a:prstGeom>
            <a:noFill/>
            <a:ln w="19050">
              <a:solidFill>
                <a:srgbClr val="5A6672"/>
              </a:solidFill>
              <a:tailEnd type="triangle" w="lg" len="lg"/>
            </a:ln>
          </p:spPr>
        </p:sp>
        <p:sp>
          <p:nvSpPr>
            <p:cNvPr id="21" name="Rectangle 21"/>
            <p:cNvSpPr/>
            <p:nvPr/>
          </p:nvSpPr>
          <p:spPr>
            <a:xfrm>
              <a:off x="7315200" y="1524000"/>
              <a:ext cx="1333500" cy="723900"/>
            </a:xfrm>
            <a:prstGeom prst="rect">
              <a:avLst/>
            </a:prstGeom>
            <a:solidFill>
              <a:schemeClr val="lt1"/>
            </a:solidFill>
            <a:ln w="19050">
              <a:solidFill>
                <a:schemeClr val="accent2"/>
              </a:solidFill>
            </a:ln>
          </p:spPr>
        </p:sp>
        <p:sp>
          <p:nvSpPr>
            <p:cNvPr id="22" name="TextBox 22"/>
            <p:cNvSpPr txBox="1"/>
            <p:nvPr/>
          </p:nvSpPr>
          <p:spPr>
            <a:xfrm>
              <a:off x="7324725" y="1691640"/>
              <a:ext cx="1314450"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SubNet × 4</a:t>
              </a:r>
            </a:p>
          </p:txBody>
        </p:sp>
        <p:sp>
          <p:nvSpPr>
            <p:cNvPr id="23" name="TextBox 23"/>
            <p:cNvSpPr txBox="1"/>
            <p:nvPr/>
          </p:nvSpPr>
          <p:spPr>
            <a:xfrm>
              <a:off x="7611618" y="1987868"/>
              <a:ext cx="740664"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可逆残差</a:t>
              </a:r>
            </a:p>
          </p:txBody>
        </p:sp>
        <p:sp>
          <p:nvSpPr>
            <p:cNvPr id="24" name="Line 24"/>
            <p:cNvSpPr/>
            <p:nvPr/>
          </p:nvSpPr>
          <p:spPr>
            <a:xfrm>
              <a:off x="8648700" y="1885950"/>
              <a:ext cx="209550" cy="1"/>
            </a:xfrm>
            <a:prstGeom prst="line">
              <a:avLst/>
            </a:prstGeom>
            <a:noFill/>
            <a:ln w="19050">
              <a:solidFill>
                <a:srgbClr val="5A6672"/>
              </a:solidFill>
              <a:tailEnd type="triangle" w="lg" len="lg"/>
            </a:ln>
          </p:spPr>
        </p:sp>
        <p:sp>
          <p:nvSpPr>
            <p:cNvPr id="25" name="Rectangle 25"/>
            <p:cNvSpPr/>
            <p:nvPr/>
          </p:nvSpPr>
          <p:spPr>
            <a:xfrm>
              <a:off x="8877300" y="1524000"/>
              <a:ext cx="1238250" cy="723900"/>
            </a:xfrm>
            <a:prstGeom prst="rect">
              <a:avLst/>
            </a:prstGeom>
            <a:solidFill>
              <a:schemeClr val="lt1"/>
            </a:solidFill>
            <a:ln w="19050">
              <a:solidFill>
                <a:schemeClr val="accent2"/>
              </a:solidFill>
            </a:ln>
          </p:spPr>
        </p:sp>
        <p:sp>
          <p:nvSpPr>
            <p:cNvPr id="26" name="TextBox 26"/>
            <p:cNvSpPr txBox="1"/>
            <p:nvPr/>
          </p:nvSpPr>
          <p:spPr>
            <a:xfrm>
              <a:off x="8993539" y="1691640"/>
              <a:ext cx="1005771"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Decoder</a:t>
              </a:r>
            </a:p>
          </p:txBody>
        </p:sp>
        <p:sp>
          <p:nvSpPr>
            <p:cNvPr id="27" name="TextBox 27"/>
            <p:cNvSpPr txBox="1"/>
            <p:nvPr/>
          </p:nvSpPr>
          <p:spPr>
            <a:xfrm>
              <a:off x="9035224" y="1987868"/>
              <a:ext cx="92240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唯一被调用</a:t>
              </a:r>
            </a:p>
          </p:txBody>
        </p:sp>
        <p:sp>
          <p:nvSpPr>
            <p:cNvPr id="28" name="Line 28"/>
            <p:cNvSpPr/>
            <p:nvPr/>
          </p:nvSpPr>
          <p:spPr>
            <a:xfrm>
              <a:off x="10115550" y="1885950"/>
              <a:ext cx="209550" cy="1"/>
            </a:xfrm>
            <a:prstGeom prst="line">
              <a:avLst/>
            </a:prstGeom>
            <a:noFill/>
            <a:ln w="19050">
              <a:solidFill>
                <a:srgbClr val="5A6672"/>
              </a:solidFill>
              <a:tailEnd type="triangle" w="lg" len="lg"/>
            </a:ln>
          </p:spPr>
        </p:sp>
        <p:sp>
          <p:nvSpPr>
            <p:cNvPr id="29" name="Rectangle 29"/>
            <p:cNvSpPr/>
            <p:nvPr/>
          </p:nvSpPr>
          <p:spPr>
            <a:xfrm>
              <a:off x="10344150" y="1524000"/>
              <a:ext cx="1238250" cy="723900"/>
            </a:xfrm>
            <a:prstGeom prst="rect">
              <a:avLst/>
            </a:prstGeom>
            <a:solidFill>
              <a:schemeClr val="lt1"/>
            </a:solidFill>
            <a:ln w="19050">
              <a:solidFill>
                <a:schemeClr val="accent2"/>
              </a:solidFill>
            </a:ln>
          </p:spPr>
        </p:sp>
        <p:sp>
          <p:nvSpPr>
            <p:cNvPr id="30" name="TextBox 30"/>
            <p:cNvSpPr txBox="1"/>
            <p:nvPr/>
          </p:nvSpPr>
          <p:spPr>
            <a:xfrm>
              <a:off x="10666095" y="1691640"/>
              <a:ext cx="594360" cy="352044"/>
            </a:xfrm>
            <a:prstGeom prst="rect">
              <a:avLst/>
            </a:prstGeom>
            <a:noFill/>
            <a:ln>
              <a:noFill/>
            </a:ln>
          </p:spPr>
          <p:txBody>
            <a:bodyPr wrap="none" lIns="0" tIns="0" rIns="0" bIns="0" anchor="t" anchorCtr="0">
              <a:spAutoFit/>
            </a:bodyPr>
            <a:lstStyle/>
            <a:p>
              <a:pPr algn="ctr"/>
              <a:r>
                <a:rPr lang="en-US" sz="1800" dirty="0">
                  <a:solidFill>
                    <a:schemeClr val="accent1"/>
                  </a:solidFill>
                  <a:latin typeface="+mn-lt"/>
                  <a:ea typeface="+mn-ea"/>
                  <a:cs typeface="+mn-cs"/>
                </a:rPr>
                <a:t>R̂ / T̂</a:t>
              </a:r>
            </a:p>
          </p:txBody>
        </p:sp>
        <p:sp>
          <p:nvSpPr>
            <p:cNvPr id="31" name="TextBox 31"/>
            <p:cNvSpPr txBox="1"/>
            <p:nvPr/>
          </p:nvSpPr>
          <p:spPr>
            <a:xfrm>
              <a:off x="10683812" y="1987868"/>
              <a:ext cx="558927"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残差式</a:t>
              </a:r>
            </a:p>
          </p:txBody>
        </p:sp>
        <p:sp>
          <p:nvSpPr>
            <p:cNvPr id="32" name="TextBox 32"/>
            <p:cNvSpPr txBox="1"/>
            <p:nvPr/>
          </p:nvSpPr>
          <p:spPr>
            <a:xfrm>
              <a:off x="602742" y="2445068"/>
              <a:ext cx="535344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输出 = cat[I, I] − Decoder(...)，前 3 通道为 R̂、后 3 通道为 T̂</a:t>
              </a:r>
            </a:p>
          </p:txBody>
        </p:sp>
      </p:grpSp>
      <p:grpSp>
        <p:nvGrpSpPr>
          <p:cNvPr id="46" name="p03-alpha-branch"/>
          <p:cNvGrpSpPr/>
          <p:nvPr/>
        </p:nvGrpSpPr>
        <p:grpSpPr>
          <a:xfrm>
            <a:off x="609600" y="2305050"/>
            <a:ext cx="6743700" cy="971550"/>
            <a:chOff x="609600" y="2305050"/>
            <a:chExt cx="6743700" cy="971550"/>
          </a:xfrm>
        </p:grpSpPr>
        <p:sp>
          <p:nvSpPr>
            <p:cNvPr id="34" name="Rectangle 34"/>
            <p:cNvSpPr/>
            <p:nvPr/>
          </p:nvSpPr>
          <p:spPr>
            <a:xfrm>
              <a:off x="609600" y="2705100"/>
              <a:ext cx="1181100" cy="571500"/>
            </a:xfrm>
            <a:prstGeom prst="rect">
              <a:avLst/>
            </a:prstGeom>
            <a:solidFill>
              <a:schemeClr val="lt2"/>
            </a:solidFill>
            <a:ln w="9525">
              <a:solidFill>
                <a:srgbClr val="8A9099"/>
              </a:solidFill>
            </a:ln>
          </p:spPr>
        </p:sp>
        <p:sp>
          <p:nvSpPr>
            <p:cNvPr id="35" name="TextBox 35"/>
            <p:cNvSpPr txBox="1"/>
            <p:nvPr/>
          </p:nvSpPr>
          <p:spPr>
            <a:xfrm>
              <a:off x="784384" y="2902268"/>
              <a:ext cx="831533"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缩到 224²</a:t>
              </a:r>
            </a:p>
          </p:txBody>
        </p:sp>
        <p:sp>
          <p:nvSpPr>
            <p:cNvPr id="36" name="Line 36"/>
            <p:cNvSpPr/>
            <p:nvPr/>
          </p:nvSpPr>
          <p:spPr>
            <a:xfrm>
              <a:off x="1790700" y="2990850"/>
              <a:ext cx="190500" cy="1"/>
            </a:xfrm>
            <a:prstGeom prst="line">
              <a:avLst/>
            </a:prstGeom>
            <a:noFill/>
            <a:ln w="19050">
              <a:solidFill>
                <a:srgbClr val="5A6672"/>
              </a:solidFill>
              <a:tailEnd type="triangle" w="lg" len="lg"/>
            </a:ln>
          </p:spPr>
        </p:sp>
        <p:sp>
          <p:nvSpPr>
            <p:cNvPr id="37" name="Rectangle 37"/>
            <p:cNvSpPr/>
            <p:nvPr/>
          </p:nvSpPr>
          <p:spPr>
            <a:xfrm>
              <a:off x="2000250" y="2705100"/>
              <a:ext cx="1847850" cy="571500"/>
            </a:xfrm>
            <a:prstGeom prst="rect">
              <a:avLst/>
            </a:prstGeom>
            <a:solidFill>
              <a:schemeClr val="lt2"/>
            </a:solidFill>
            <a:ln w="9525">
              <a:solidFill>
                <a:srgbClr val="8A9099"/>
              </a:solidFill>
            </a:ln>
          </p:spPr>
        </p:sp>
        <p:sp>
          <p:nvSpPr>
            <p:cNvPr id="38" name="TextBox 38"/>
            <p:cNvSpPr txBox="1"/>
            <p:nvPr/>
          </p:nvSpPr>
          <p:spPr>
            <a:xfrm>
              <a:off x="2198599" y="2902268"/>
              <a:ext cx="1451153"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冻结 ConvNeXt-s</a:t>
              </a:r>
            </a:p>
          </p:txBody>
        </p:sp>
        <p:sp>
          <p:nvSpPr>
            <p:cNvPr id="39" name="Line 39"/>
            <p:cNvSpPr/>
            <p:nvPr/>
          </p:nvSpPr>
          <p:spPr>
            <a:xfrm>
              <a:off x="3848100" y="2990850"/>
              <a:ext cx="190500" cy="1"/>
            </a:xfrm>
            <a:prstGeom prst="line">
              <a:avLst/>
            </a:prstGeom>
            <a:noFill/>
            <a:ln w="19050">
              <a:solidFill>
                <a:srgbClr val="5A6672"/>
              </a:solidFill>
              <a:tailEnd type="triangle" w="lg" len="lg"/>
            </a:ln>
          </p:spPr>
        </p:sp>
        <p:sp>
          <p:nvSpPr>
            <p:cNvPr id="40" name="Rectangle 40"/>
            <p:cNvSpPr/>
            <p:nvPr/>
          </p:nvSpPr>
          <p:spPr>
            <a:xfrm>
              <a:off x="4057650" y="2705100"/>
              <a:ext cx="1238250" cy="571500"/>
            </a:xfrm>
            <a:prstGeom prst="rect">
              <a:avLst/>
            </a:prstGeom>
            <a:solidFill>
              <a:schemeClr val="lt2"/>
            </a:solidFill>
            <a:ln w="9525">
              <a:solidFill>
                <a:srgbClr val="8A9099"/>
              </a:solidFill>
            </a:ln>
          </p:spPr>
        </p:sp>
        <p:sp>
          <p:nvSpPr>
            <p:cNvPr id="41" name="TextBox 41"/>
            <p:cNvSpPr txBox="1"/>
            <p:nvPr/>
          </p:nvSpPr>
          <p:spPr>
            <a:xfrm>
              <a:off x="4274639" y="2902268"/>
              <a:ext cx="80427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6 维 code</a:t>
              </a:r>
            </a:p>
          </p:txBody>
        </p:sp>
        <p:sp>
          <p:nvSpPr>
            <p:cNvPr id="42" name="Line 42"/>
            <p:cNvSpPr/>
            <p:nvPr/>
          </p:nvSpPr>
          <p:spPr>
            <a:xfrm>
              <a:off x="5295900" y="2990850"/>
              <a:ext cx="190500" cy="1"/>
            </a:xfrm>
            <a:prstGeom prst="line">
              <a:avLst/>
            </a:prstGeom>
            <a:noFill/>
            <a:ln w="19050">
              <a:solidFill>
                <a:srgbClr val="5A6672"/>
              </a:solidFill>
              <a:tailEnd type="triangle" w="lg" len="lg"/>
            </a:ln>
          </p:spPr>
        </p:sp>
        <p:sp>
          <p:nvSpPr>
            <p:cNvPr id="43" name="Rectangle 43"/>
            <p:cNvSpPr/>
            <p:nvPr/>
          </p:nvSpPr>
          <p:spPr>
            <a:xfrm>
              <a:off x="5505450" y="2705100"/>
              <a:ext cx="1847850" cy="571500"/>
            </a:xfrm>
            <a:prstGeom prst="rect">
              <a:avLst/>
            </a:prstGeom>
            <a:solidFill>
              <a:schemeClr val="lt1"/>
            </a:solidFill>
            <a:ln w="19050">
              <a:solidFill>
                <a:schemeClr val="accent3"/>
              </a:solidFill>
            </a:ln>
          </p:spPr>
        </p:sp>
        <p:sp>
          <p:nvSpPr>
            <p:cNvPr id="44" name="TextBox 44"/>
            <p:cNvSpPr txBox="1"/>
            <p:nvPr/>
          </p:nvSpPr>
          <p:spPr>
            <a:xfrm>
              <a:off x="5793638" y="2902268"/>
              <a:ext cx="1271473" cy="264033"/>
            </a:xfrm>
            <a:prstGeom prst="rect">
              <a:avLst/>
            </a:prstGeom>
            <a:noFill/>
            <a:ln>
              <a:noFill/>
            </a:ln>
          </p:spPr>
          <p:txBody>
            <a:bodyPr wrap="none" lIns="0" tIns="0" rIns="0" bIns="0" anchor="t" anchorCtr="0">
              <a:spAutoFit/>
            </a:bodyPr>
            <a:lstStyle/>
            <a:p>
              <a:pPr algn="ctr"/>
              <a:r>
                <a:rPr lang="en-US" sz="1350" dirty="0">
                  <a:solidFill>
                    <a:schemeClr val="accent3"/>
                  </a:solidFill>
                  <a:latin typeface="+mn-lt"/>
                  <a:ea typeface="+mn-ea"/>
                  <a:cs typeface="+mn-cs"/>
                </a:rPr>
                <a:t>MLP 6→512→64</a:t>
              </a:r>
            </a:p>
          </p:txBody>
        </p:sp>
        <p:sp>
          <p:nvSpPr>
            <p:cNvPr id="45" name="Line 45"/>
            <p:cNvSpPr/>
            <p:nvPr/>
          </p:nvSpPr>
          <p:spPr>
            <a:xfrm flipV="1">
              <a:off x="6429375" y="2305050"/>
              <a:ext cx="1" cy="342900"/>
            </a:xfrm>
            <a:prstGeom prst="line">
              <a:avLst/>
            </a:prstGeom>
            <a:noFill/>
            <a:ln w="19050">
              <a:solidFill>
                <a:schemeClr val="accent3"/>
              </a:solidFill>
              <a:tailEnd type="triangle" w="lg" len="lg"/>
            </a:ln>
          </p:spPr>
        </p:sp>
      </p:grpSp>
      <p:grpSp>
        <p:nvGrpSpPr>
          <p:cNvPr id="53" name="p03-legend"/>
          <p:cNvGrpSpPr/>
          <p:nvPr/>
        </p:nvGrpSpPr>
        <p:grpSpPr>
          <a:xfrm>
            <a:off x="609600" y="3390900"/>
            <a:ext cx="5518236" cy="308801"/>
            <a:chOff x="609600" y="3390900"/>
            <a:chExt cx="5518236" cy="308801"/>
          </a:xfrm>
        </p:grpSpPr>
        <p:sp>
          <p:nvSpPr>
            <p:cNvPr id="47" name="Rectangle 47"/>
            <p:cNvSpPr/>
            <p:nvPr/>
          </p:nvSpPr>
          <p:spPr>
            <a:xfrm>
              <a:off x="609600" y="3390900"/>
              <a:ext cx="228600" cy="228600"/>
            </a:xfrm>
            <a:prstGeom prst="rect">
              <a:avLst/>
            </a:prstGeom>
            <a:solidFill>
              <a:schemeClr val="lt2"/>
            </a:solidFill>
            <a:ln w="9525">
              <a:solidFill>
                <a:srgbClr val="8A9099"/>
              </a:solidFill>
            </a:ln>
          </p:spPr>
        </p:sp>
        <p:sp>
          <p:nvSpPr>
            <p:cNvPr id="48" name="TextBox 48"/>
            <p:cNvSpPr txBox="1"/>
            <p:nvPr/>
          </p:nvSpPr>
          <p:spPr>
            <a:xfrm>
              <a:off x="926592" y="3435668"/>
              <a:ext cx="37719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冻结</a:t>
              </a:r>
            </a:p>
          </p:txBody>
        </p:sp>
        <p:sp>
          <p:nvSpPr>
            <p:cNvPr id="49" name="Rectangle 49"/>
            <p:cNvSpPr/>
            <p:nvPr/>
          </p:nvSpPr>
          <p:spPr>
            <a:xfrm>
              <a:off x="1676400" y="3390900"/>
              <a:ext cx="228600" cy="228600"/>
            </a:xfrm>
            <a:prstGeom prst="rect">
              <a:avLst/>
            </a:prstGeom>
            <a:solidFill>
              <a:schemeClr val="lt1"/>
            </a:solidFill>
            <a:ln w="19050">
              <a:solidFill>
                <a:schemeClr val="accent2"/>
              </a:solidFill>
            </a:ln>
          </p:spPr>
        </p:sp>
        <p:sp>
          <p:nvSpPr>
            <p:cNvPr id="50" name="TextBox 50"/>
            <p:cNvSpPr txBox="1"/>
            <p:nvPr/>
          </p:nvSpPr>
          <p:spPr>
            <a:xfrm>
              <a:off x="1993392" y="3435668"/>
              <a:ext cx="92240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域适配可训</a:t>
              </a:r>
            </a:p>
          </p:txBody>
        </p:sp>
        <p:sp>
          <p:nvSpPr>
            <p:cNvPr id="51" name="Rectangle 51"/>
            <p:cNvSpPr/>
            <p:nvPr/>
          </p:nvSpPr>
          <p:spPr>
            <a:xfrm>
              <a:off x="3352800" y="3390900"/>
              <a:ext cx="228600" cy="228600"/>
            </a:xfrm>
            <a:prstGeom prst="rect">
              <a:avLst/>
            </a:prstGeom>
            <a:solidFill>
              <a:schemeClr val="accent3"/>
            </a:solidFill>
            <a:ln>
              <a:noFill/>
            </a:ln>
          </p:spPr>
        </p:sp>
        <p:sp>
          <p:nvSpPr>
            <p:cNvPr id="52" name="TextBox 52"/>
            <p:cNvSpPr txBox="1"/>
            <p:nvPr/>
          </p:nvSpPr>
          <p:spPr>
            <a:xfrm>
              <a:off x="3669792" y="3435668"/>
              <a:ext cx="245804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我们的改动（Mona / α 门控）</a:t>
              </a:r>
            </a:p>
          </p:txBody>
        </p:sp>
      </p:grpSp>
      <p:grpSp>
        <p:nvGrpSpPr>
          <p:cNvPr id="66" name="p03-mona"/>
          <p:cNvGrpSpPr/>
          <p:nvPr/>
        </p:nvGrpSpPr>
        <p:grpSpPr>
          <a:xfrm>
            <a:off x="600456" y="3958590"/>
            <a:ext cx="4543044" cy="2008061"/>
            <a:chOff x="600456" y="3958590"/>
            <a:chExt cx="4543044" cy="2008061"/>
          </a:xfrm>
        </p:grpSpPr>
        <p:sp>
          <p:nvSpPr>
            <p:cNvPr id="54" name="TextBox 54"/>
            <p:cNvSpPr txBox="1"/>
            <p:nvPr/>
          </p:nvSpPr>
          <p:spPr>
            <a:xfrm>
              <a:off x="600456" y="3958590"/>
              <a:ext cx="421311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Mona 插在 FocalModulationBlock 内</a:t>
              </a:r>
            </a:p>
          </p:txBody>
        </p:sp>
        <p:sp>
          <p:nvSpPr>
            <p:cNvPr id="55" name="Rectangle 55"/>
            <p:cNvSpPr/>
            <p:nvPr/>
          </p:nvSpPr>
          <p:spPr>
            <a:xfrm>
              <a:off x="609600" y="4362450"/>
              <a:ext cx="3009900" cy="342900"/>
            </a:xfrm>
            <a:prstGeom prst="rect">
              <a:avLst/>
            </a:prstGeom>
            <a:solidFill>
              <a:schemeClr val="lt2"/>
            </a:solidFill>
            <a:ln>
              <a:noFill/>
            </a:ln>
          </p:spPr>
        </p:sp>
        <p:sp>
          <p:nvSpPr>
            <p:cNvPr id="56" name="TextBox 56"/>
            <p:cNvSpPr txBox="1"/>
            <p:nvPr/>
          </p:nvSpPr>
          <p:spPr>
            <a:xfrm>
              <a:off x="1744218" y="444531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调制残差</a:t>
              </a:r>
            </a:p>
          </p:txBody>
        </p:sp>
        <p:sp>
          <p:nvSpPr>
            <p:cNvPr id="57" name="Line 57"/>
            <p:cNvSpPr/>
            <p:nvPr/>
          </p:nvSpPr>
          <p:spPr>
            <a:xfrm>
              <a:off x="3619500" y="4533900"/>
              <a:ext cx="171450" cy="1"/>
            </a:xfrm>
            <a:prstGeom prst="line">
              <a:avLst/>
            </a:prstGeom>
            <a:noFill/>
            <a:ln w="19050">
              <a:solidFill>
                <a:srgbClr val="5A6672"/>
              </a:solidFill>
              <a:tailEnd type="triangle" w="lg" len="lg"/>
            </a:ln>
          </p:spPr>
        </p:sp>
        <p:sp>
          <p:nvSpPr>
            <p:cNvPr id="58" name="Rectangle 58"/>
            <p:cNvSpPr/>
            <p:nvPr/>
          </p:nvSpPr>
          <p:spPr>
            <a:xfrm>
              <a:off x="3810000" y="4362450"/>
              <a:ext cx="1333500" cy="342900"/>
            </a:xfrm>
            <a:prstGeom prst="rect">
              <a:avLst/>
            </a:prstGeom>
            <a:solidFill>
              <a:schemeClr val="accent3"/>
            </a:solidFill>
            <a:ln>
              <a:noFill/>
            </a:ln>
          </p:spPr>
        </p:sp>
        <p:sp>
          <p:nvSpPr>
            <p:cNvPr id="59" name="TextBox 59"/>
            <p:cNvSpPr txBox="1"/>
            <p:nvPr/>
          </p:nvSpPr>
          <p:spPr>
            <a:xfrm>
              <a:off x="4201830" y="4445318"/>
              <a:ext cx="549840" cy="264033"/>
            </a:xfrm>
            <a:prstGeom prst="rect">
              <a:avLst/>
            </a:prstGeom>
            <a:noFill/>
            <a:ln>
              <a:noFill/>
            </a:ln>
          </p:spPr>
          <p:txBody>
            <a:bodyPr wrap="none" lIns="0" tIns="0" rIns="0" bIns="0" anchor="t" anchorCtr="0">
              <a:spAutoFit/>
            </a:bodyPr>
            <a:lstStyle/>
            <a:p>
              <a:pPr algn="ctr"/>
              <a:r>
                <a:rPr lang="en-US" sz="1350" dirty="0">
                  <a:solidFill>
                    <a:srgbClr val="FFFFFF"/>
                  </a:solidFill>
                  <a:latin typeface="+mn-lt"/>
                  <a:ea typeface="+mn-ea"/>
                  <a:cs typeface="+mn-cs"/>
                </a:rPr>
                <a:t>mona1</a:t>
              </a:r>
            </a:p>
          </p:txBody>
        </p:sp>
        <p:sp>
          <p:nvSpPr>
            <p:cNvPr id="60" name="Rectangle 60"/>
            <p:cNvSpPr/>
            <p:nvPr/>
          </p:nvSpPr>
          <p:spPr>
            <a:xfrm>
              <a:off x="609600" y="4876800"/>
              <a:ext cx="3009900" cy="342900"/>
            </a:xfrm>
            <a:prstGeom prst="rect">
              <a:avLst/>
            </a:prstGeom>
            <a:solidFill>
              <a:schemeClr val="lt2"/>
            </a:solidFill>
            <a:ln>
              <a:noFill/>
            </a:ln>
          </p:spPr>
        </p:sp>
        <p:sp>
          <p:nvSpPr>
            <p:cNvPr id="61" name="TextBox 61"/>
            <p:cNvSpPr txBox="1"/>
            <p:nvPr/>
          </p:nvSpPr>
          <p:spPr>
            <a:xfrm>
              <a:off x="1738732" y="4959668"/>
              <a:ext cx="751637"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FFN 残差</a:t>
              </a:r>
            </a:p>
          </p:txBody>
        </p:sp>
        <p:sp>
          <p:nvSpPr>
            <p:cNvPr id="62" name="Line 62"/>
            <p:cNvSpPr/>
            <p:nvPr/>
          </p:nvSpPr>
          <p:spPr>
            <a:xfrm>
              <a:off x="3619500" y="5048250"/>
              <a:ext cx="171450" cy="1"/>
            </a:xfrm>
            <a:prstGeom prst="line">
              <a:avLst/>
            </a:prstGeom>
            <a:noFill/>
            <a:ln w="19050">
              <a:solidFill>
                <a:srgbClr val="5A6672"/>
              </a:solidFill>
              <a:tailEnd type="triangle" w="lg" len="lg"/>
            </a:ln>
          </p:spPr>
        </p:sp>
        <p:sp>
          <p:nvSpPr>
            <p:cNvPr id="63" name="Rectangle 63"/>
            <p:cNvSpPr/>
            <p:nvPr/>
          </p:nvSpPr>
          <p:spPr>
            <a:xfrm>
              <a:off x="3810000" y="4876800"/>
              <a:ext cx="1333500" cy="342900"/>
            </a:xfrm>
            <a:prstGeom prst="rect">
              <a:avLst/>
            </a:prstGeom>
            <a:solidFill>
              <a:schemeClr val="accent3"/>
            </a:solidFill>
            <a:ln>
              <a:noFill/>
            </a:ln>
          </p:spPr>
        </p:sp>
        <p:sp>
          <p:nvSpPr>
            <p:cNvPr id="64" name="TextBox 64"/>
            <p:cNvSpPr txBox="1"/>
            <p:nvPr/>
          </p:nvSpPr>
          <p:spPr>
            <a:xfrm>
              <a:off x="4201830" y="4959668"/>
              <a:ext cx="549840" cy="264033"/>
            </a:xfrm>
            <a:prstGeom prst="rect">
              <a:avLst/>
            </a:prstGeom>
            <a:noFill/>
            <a:ln>
              <a:noFill/>
            </a:ln>
          </p:spPr>
          <p:txBody>
            <a:bodyPr wrap="none" lIns="0" tIns="0" rIns="0" bIns="0" anchor="t" anchorCtr="0">
              <a:spAutoFit/>
            </a:bodyPr>
            <a:lstStyle/>
            <a:p>
              <a:pPr algn="ctr"/>
              <a:r>
                <a:rPr lang="en-US" sz="1350" dirty="0">
                  <a:solidFill>
                    <a:srgbClr val="FFFFFF"/>
                  </a:solidFill>
                  <a:latin typeface="+mn-lt"/>
                  <a:ea typeface="+mn-ea"/>
                  <a:cs typeface="+mn-cs"/>
                </a:rPr>
                <a:t>mona2</a:t>
              </a:r>
            </a:p>
          </p:txBody>
        </p:sp>
        <p:sp>
          <p:nvSpPr>
            <p:cNvPr id="65" name="TextBox 65"/>
            <p:cNvSpPr txBox="1"/>
            <p:nvPr/>
          </p:nvSpPr>
          <p:spPr>
            <a:xfrm>
              <a:off x="602742" y="5454968"/>
              <a:ext cx="36141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24 个 block × 2 = 48 个 Mona，新增 5.27M</a:t>
              </a:r>
              <a:br/>
              <a:r>
                <a:rPr lang="zh-CN" sz="1350" dirty="0">
                  <a:solidFill>
                    <a:schemeClr val="dk1"/>
                  </a:solidFill>
                  <a:latin typeface="+mn-lt"/>
                  <a:ea typeface="+mn-ea"/>
                  <a:cs typeface="+mn-cs"/>
                </a:rPr>
                <a:t>主干全程冻结，只训适配器；配梯度重算换显存</a:t>
              </a:r>
            </a:p>
          </p:txBody>
        </p:sp>
      </p:grpSp>
      <p:grpSp>
        <p:nvGrpSpPr>
          <p:cNvPr id="84" name="p03-budget"/>
          <p:cNvGrpSpPr/>
          <p:nvPr/>
        </p:nvGrpSpPr>
        <p:grpSpPr>
          <a:xfrm>
            <a:off x="6201156" y="3958590"/>
            <a:ext cx="5381244" cy="1931861"/>
            <a:chOff x="6201156" y="3958590"/>
            <a:chExt cx="5381244" cy="1931861"/>
          </a:xfrm>
        </p:grpSpPr>
        <p:sp>
          <p:nvSpPr>
            <p:cNvPr id="67" name="TextBox 67"/>
            <p:cNvSpPr txBox="1"/>
            <p:nvPr/>
          </p:nvSpPr>
          <p:spPr>
            <a:xfrm>
              <a:off x="6201156" y="3958590"/>
              <a:ext cx="219913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哪些冻结、哪些在训</a:t>
              </a:r>
            </a:p>
          </p:txBody>
        </p:sp>
        <p:sp>
          <p:nvSpPr>
            <p:cNvPr id="68" name="TextBox 68"/>
            <p:cNvSpPr txBox="1"/>
            <p:nvPr/>
          </p:nvSpPr>
          <p:spPr>
            <a:xfrm>
              <a:off x="6203442" y="4369118"/>
              <a:ext cx="377190" cy="264033"/>
            </a:xfrm>
            <a:prstGeom prst="rect">
              <a:avLst/>
            </a:prstGeom>
            <a:noFill/>
            <a:ln>
              <a:noFill/>
            </a:ln>
          </p:spPr>
          <p:txBody>
            <a:bodyPr wrap="none" lIns="0" tIns="0" rIns="0" bIns="0" anchor="t" anchorCtr="0">
              <a:spAutoFit/>
            </a:bodyPr>
            <a:lstStyle/>
            <a:p>
              <a:pPr algn="l"/>
              <a:r>
                <a:rPr lang="zh-CN" sz="1350" dirty="0">
                  <a:solidFill>
                    <a:srgbClr val="8A9099"/>
                  </a:solidFill>
                  <a:latin typeface="+mn-lt"/>
                  <a:ea typeface="+mn-ea"/>
                  <a:cs typeface="+mn-cs"/>
                </a:rPr>
                <a:t>模块</a:t>
              </a:r>
            </a:p>
          </p:txBody>
        </p:sp>
        <p:sp>
          <p:nvSpPr>
            <p:cNvPr id="69" name="TextBox 69"/>
            <p:cNvSpPr txBox="1"/>
            <p:nvPr/>
          </p:nvSpPr>
          <p:spPr>
            <a:xfrm>
              <a:off x="8877681" y="4369118"/>
              <a:ext cx="558927" cy="264033"/>
            </a:xfrm>
            <a:prstGeom prst="rect">
              <a:avLst/>
            </a:prstGeom>
            <a:noFill/>
            <a:ln>
              <a:noFill/>
            </a:ln>
          </p:spPr>
          <p:txBody>
            <a:bodyPr wrap="none" lIns="0" tIns="0" rIns="0" bIns="0" anchor="t" anchorCtr="0">
              <a:spAutoFit/>
            </a:bodyPr>
            <a:lstStyle/>
            <a:p>
              <a:pPr algn="r"/>
              <a:r>
                <a:rPr lang="zh-CN" sz="1350" dirty="0">
                  <a:solidFill>
                    <a:srgbClr val="8A9099"/>
                  </a:solidFill>
                  <a:latin typeface="+mn-lt"/>
                  <a:ea typeface="+mn-ea"/>
                  <a:cs typeface="+mn-cs"/>
                </a:rPr>
                <a:t>参数量</a:t>
              </a:r>
            </a:p>
          </p:txBody>
        </p:sp>
        <p:sp>
          <p:nvSpPr>
            <p:cNvPr id="70" name="TextBox 70"/>
            <p:cNvSpPr txBox="1"/>
            <p:nvPr/>
          </p:nvSpPr>
          <p:spPr>
            <a:xfrm>
              <a:off x="9803892" y="4369118"/>
              <a:ext cx="377190" cy="264033"/>
            </a:xfrm>
            <a:prstGeom prst="rect">
              <a:avLst/>
            </a:prstGeom>
            <a:noFill/>
            <a:ln>
              <a:noFill/>
            </a:ln>
          </p:spPr>
          <p:txBody>
            <a:bodyPr wrap="none" lIns="0" tIns="0" rIns="0" bIns="0" anchor="t" anchorCtr="0">
              <a:spAutoFit/>
            </a:bodyPr>
            <a:lstStyle/>
            <a:p>
              <a:pPr algn="l"/>
              <a:r>
                <a:rPr lang="zh-CN" sz="1350" dirty="0">
                  <a:solidFill>
                    <a:srgbClr val="8A9099"/>
                  </a:solidFill>
                  <a:latin typeface="+mn-lt"/>
                  <a:ea typeface="+mn-ea"/>
                  <a:cs typeface="+mn-cs"/>
                </a:rPr>
                <a:t>状态</a:t>
              </a:r>
            </a:p>
          </p:txBody>
        </p:sp>
        <p:sp>
          <p:nvSpPr>
            <p:cNvPr id="71" name="Line 71"/>
            <p:cNvSpPr/>
            <p:nvPr/>
          </p:nvSpPr>
          <p:spPr>
            <a:xfrm>
              <a:off x="6210300" y="4629150"/>
              <a:ext cx="5372100" cy="9525"/>
            </a:xfrm>
            <a:custGeom>
              <a:avLst/>
              <a:gdLst/>
              <a:ahLst/>
              <a:cxnLst/>
              <a:rect l="l" t="t" r="r" b="b"/>
              <a:pathLst>
                <a:path w="5372100" h="9525">
                  <a:moveTo>
                    <a:pt x="0" y="0"/>
                  </a:moveTo>
                  <a:lnTo>
                    <a:pt x="5372100" y="0"/>
                  </a:lnTo>
                </a:path>
              </a:pathLst>
            </a:custGeom>
            <a:noFill/>
            <a:ln w="9525">
              <a:solidFill>
                <a:schemeClr val="accent6"/>
              </a:solidFill>
            </a:ln>
          </p:spPr>
        </p:sp>
        <p:sp>
          <p:nvSpPr>
            <p:cNvPr id="72" name="TextBox 72"/>
            <p:cNvSpPr txBox="1"/>
            <p:nvPr/>
          </p:nvSpPr>
          <p:spPr>
            <a:xfrm>
              <a:off x="6203442" y="4769168"/>
              <a:ext cx="140486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FocalNet-L 主干</a:t>
              </a:r>
            </a:p>
          </p:txBody>
        </p:sp>
        <p:sp>
          <p:nvSpPr>
            <p:cNvPr id="73" name="TextBox 73"/>
            <p:cNvSpPr txBox="1"/>
            <p:nvPr/>
          </p:nvSpPr>
          <p:spPr>
            <a:xfrm>
              <a:off x="8750808" y="4769168"/>
              <a:ext cx="68580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205.7M</a:t>
              </a:r>
            </a:p>
          </p:txBody>
        </p:sp>
        <p:sp>
          <p:nvSpPr>
            <p:cNvPr id="74" name="TextBox 74"/>
            <p:cNvSpPr txBox="1"/>
            <p:nvPr/>
          </p:nvSpPr>
          <p:spPr>
            <a:xfrm>
              <a:off x="9803892" y="4769168"/>
              <a:ext cx="37719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冻结</a:t>
              </a:r>
            </a:p>
          </p:txBody>
        </p:sp>
        <p:sp>
          <p:nvSpPr>
            <p:cNvPr id="75" name="TextBox 75"/>
            <p:cNvSpPr txBox="1"/>
            <p:nvPr/>
          </p:nvSpPr>
          <p:spPr>
            <a:xfrm>
              <a:off x="6203442" y="5054918"/>
              <a:ext cx="145852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1×1 投影 + α 门控</a:t>
              </a:r>
            </a:p>
          </p:txBody>
        </p:sp>
        <p:sp>
          <p:nvSpPr>
            <p:cNvPr id="76" name="TextBox 76"/>
            <p:cNvSpPr txBox="1"/>
            <p:nvPr/>
          </p:nvSpPr>
          <p:spPr>
            <a:xfrm>
              <a:off x="8962034" y="5054918"/>
              <a:ext cx="474574"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1.1M</a:t>
              </a:r>
            </a:p>
          </p:txBody>
        </p:sp>
        <p:sp>
          <p:nvSpPr>
            <p:cNvPr id="77" name="TextBox 77"/>
            <p:cNvSpPr txBox="1"/>
            <p:nvPr/>
          </p:nvSpPr>
          <p:spPr>
            <a:xfrm>
              <a:off x="9803892" y="5054918"/>
              <a:ext cx="377190"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可训</a:t>
              </a:r>
            </a:p>
          </p:txBody>
        </p:sp>
        <p:sp>
          <p:nvSpPr>
            <p:cNvPr id="78" name="TextBox 78"/>
            <p:cNvSpPr txBox="1"/>
            <p:nvPr/>
          </p:nvSpPr>
          <p:spPr>
            <a:xfrm>
              <a:off x="6203442" y="5340668"/>
              <a:ext cx="185482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SubNet × 4 + Decoder</a:t>
              </a:r>
            </a:p>
          </p:txBody>
        </p:sp>
        <p:sp>
          <p:nvSpPr>
            <p:cNvPr id="79" name="TextBox 79"/>
            <p:cNvSpPr txBox="1"/>
            <p:nvPr/>
          </p:nvSpPr>
          <p:spPr>
            <a:xfrm>
              <a:off x="8856421" y="5340668"/>
              <a:ext cx="58018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59.6M</a:t>
              </a:r>
            </a:p>
          </p:txBody>
        </p:sp>
        <p:sp>
          <p:nvSpPr>
            <p:cNvPr id="80" name="TextBox 80"/>
            <p:cNvSpPr txBox="1"/>
            <p:nvPr/>
          </p:nvSpPr>
          <p:spPr>
            <a:xfrm>
              <a:off x="9803892" y="5340668"/>
              <a:ext cx="377190"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可训</a:t>
              </a:r>
            </a:p>
          </p:txBody>
        </p:sp>
        <p:sp>
          <p:nvSpPr>
            <p:cNvPr id="81" name="TextBox 81"/>
            <p:cNvSpPr txBox="1"/>
            <p:nvPr/>
          </p:nvSpPr>
          <p:spPr>
            <a:xfrm>
              <a:off x="6203442" y="5626418"/>
              <a:ext cx="208183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Mona 适配器（PEFT 线）</a:t>
              </a:r>
            </a:p>
          </p:txBody>
        </p:sp>
        <p:sp>
          <p:nvSpPr>
            <p:cNvPr id="82" name="TextBox 82"/>
            <p:cNvSpPr txBox="1"/>
            <p:nvPr/>
          </p:nvSpPr>
          <p:spPr>
            <a:xfrm>
              <a:off x="8856421" y="5626418"/>
              <a:ext cx="580187"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mn-lt"/>
                  <a:ea typeface="+mn-ea"/>
                  <a:cs typeface="+mn-cs"/>
                </a:rPr>
                <a:t>+5.3M</a:t>
              </a:r>
            </a:p>
          </p:txBody>
        </p:sp>
        <p:sp>
          <p:nvSpPr>
            <p:cNvPr id="83" name="TextBox 83"/>
            <p:cNvSpPr txBox="1"/>
            <p:nvPr/>
          </p:nvSpPr>
          <p:spPr>
            <a:xfrm>
              <a:off x="9803892" y="5626418"/>
              <a:ext cx="377190"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可训</a:t>
              </a:r>
            </a:p>
          </p:txBody>
        </p:sp>
      </p:grpSp>
      <p:grpSp>
        <p:nvGrpSpPr>
          <p:cNvPr id="87" name="page-footer"/>
          <p:cNvGrpSpPr/>
          <p:nvPr/>
        </p:nvGrpSpPr>
        <p:grpSpPr>
          <a:xfrm>
            <a:off x="603504" y="6252210"/>
            <a:ext cx="10984992" cy="234696"/>
            <a:chOff x="603504" y="6252210"/>
            <a:chExt cx="10984992" cy="234696"/>
          </a:xfrm>
        </p:grpSpPr>
        <p:sp>
          <p:nvSpPr>
            <p:cNvPr id="85" name="TextBox 85"/>
            <p:cNvSpPr txBox="1"/>
            <p:nvPr/>
          </p:nvSpPr>
          <p:spPr>
            <a:xfrm>
              <a:off x="603504" y="6252210"/>
              <a:ext cx="73988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RDNet/models/arch/RDnet_.py 与 scripts/rdnet_peft.py · 参数量为实测，形状为 CPU 实测</a:t>
              </a:r>
            </a:p>
          </p:txBody>
        </p:sp>
        <p:sp>
          <p:nvSpPr>
            <p:cNvPr id="86" name="TextBox 86"/>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 / 17</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7240905"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官方权重直接跑，还不如一张平坦灰图</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6" name="p03-testset"/>
          <p:cNvGrpSpPr/>
          <p:nvPr/>
        </p:nvGrpSpPr>
        <p:grpSpPr>
          <a:xfrm>
            <a:off x="609600" y="1437535"/>
            <a:ext cx="2072640" cy="3220930"/>
            <a:chOff x="609600" y="1437535"/>
            <a:chExt cx="2072640" cy="3220930"/>
          </a:xfrm>
        </p:grpSpPr>
        <p:pic>
          <p:nvPicPr>
            <p:cNvPr id="5" name="Image 5"/>
            <p:cNvPicPr>
              <a:picLocks noChangeAspect="1"/>
            </p:cNvPicPr>
            <p:nvPr/>
          </p:nvPicPr>
          <p:blipFill>
            <a:blip r:embed="rId2"/>
            <a:stretch>
              <a:fillRect/>
            </a:stretch>
          </p:blipFill>
          <p:spPr>
            <a:xfrm>
              <a:off x="609600" y="1437535"/>
              <a:ext cx="2072640" cy="3220930"/>
            </a:xfrm>
            <a:prstGeom prst="rect">
              <a:avLst/>
            </a:prstGeom>
          </p:spPr>
        </p:pic>
      </p:grpSp>
      <p:grpSp>
        <p:nvGrpSpPr>
          <p:cNvPr id="9" name="p03-error-chart"/>
          <p:cNvGrpSpPr/>
          <p:nvPr/>
        </p:nvGrpSpPr>
        <p:grpSpPr>
          <a:xfrm>
            <a:off x="2905506" y="1501140"/>
            <a:ext cx="3659600" cy="2708910"/>
            <a:chOff x="2905506" y="1501140"/>
            <a:chExt cx="3659600" cy="2708910"/>
          </a:xfrm>
        </p:grpSpPr>
        <p:sp>
          <p:nvSpPr>
            <p:cNvPr id="7" name="TextBox 7"/>
            <p:cNvSpPr txBox="1"/>
            <p:nvPr/>
          </p:nvSpPr>
          <p:spPr>
            <a:xfrm>
              <a:off x="2905506" y="1501140"/>
              <a:ext cx="249172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误差随 α 下降急剧上升</a:t>
              </a:r>
            </a:p>
          </p:txBody>
        </p:sp>
        <p:pic>
          <p:nvPicPr>
            <p:cNvPr id="8" name="Image 8"/>
            <p:cNvPicPr>
              <a:picLocks noChangeAspect="1"/>
            </p:cNvPicPr>
            <p:nvPr/>
          </p:nvPicPr>
          <p:blipFill>
            <a:blip r:embed="rId3"/>
            <a:stretch>
              <a:fillRect/>
            </a:stretch>
          </p:blipFill>
          <p:spPr>
            <a:xfrm>
              <a:off x="2921794" y="1866900"/>
              <a:ext cx="3643312" cy="2343150"/>
            </a:xfrm>
            <a:prstGeom prst="rect">
              <a:avLst/>
            </a:prstGeom>
          </p:spPr>
        </p:pic>
      </p:grpSp>
      <p:grpSp>
        <p:nvGrpSpPr>
          <p:cNvPr id="15" name="p03-numbers"/>
          <p:cNvGrpSpPr/>
          <p:nvPr/>
        </p:nvGrpSpPr>
        <p:grpSpPr>
          <a:xfrm>
            <a:off x="6781800" y="1549718"/>
            <a:ext cx="4800600" cy="3218116"/>
            <a:chOff x="6781800" y="1549718"/>
            <a:chExt cx="4800600" cy="3218116"/>
          </a:xfrm>
        </p:grpSpPr>
        <p:sp>
          <p:nvSpPr>
            <p:cNvPr id="10" name="TextBox 10"/>
            <p:cNvSpPr txBox="1"/>
            <p:nvPr/>
          </p:nvSpPr>
          <p:spPr>
            <a:xfrm>
              <a:off x="6793992" y="1549718"/>
              <a:ext cx="352131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零样本（官方权重）· α = 0.3 档 raw PSNR</a:t>
              </a:r>
            </a:p>
          </p:txBody>
        </p:sp>
        <p:sp>
          <p:nvSpPr>
            <p:cNvPr id="11" name="TextBox 11"/>
            <p:cNvSpPr txBox="1"/>
            <p:nvPr/>
          </p:nvSpPr>
          <p:spPr>
            <a:xfrm>
              <a:off x="6781800" y="1882140"/>
              <a:ext cx="2933502" cy="933450"/>
            </a:xfrm>
            <a:prstGeom prst="rect">
              <a:avLst/>
            </a:prstGeom>
            <a:noFill/>
            <a:ln>
              <a:noFill/>
            </a:ln>
          </p:spPr>
          <p:txBody>
            <a:bodyPr wrap="none" lIns="0" tIns="0" rIns="0" bIns="0" anchor="t" anchorCtr="0">
              <a:spAutoFit/>
            </a:bodyPr>
            <a:lstStyle/>
            <a:p>
              <a:pPr algn="l"/>
              <a:r>
                <a:rPr lang="en-US" sz="4800" b="1" dirty="0">
                  <a:solidFill>
                    <a:schemeClr val="accent3"/>
                  </a:solidFill>
                  <a:latin typeface="+mn-lt"/>
                  <a:ea typeface="+mn-ea"/>
                  <a:cs typeface="+mn-cs"/>
                </a:rPr>
                <a:t>12.05 dB</a:t>
              </a:r>
            </a:p>
          </p:txBody>
        </p:sp>
        <p:sp>
          <p:nvSpPr>
            <p:cNvPr id="12" name="Line 12"/>
            <p:cNvSpPr/>
            <p:nvPr/>
          </p:nvSpPr>
          <p:spPr>
            <a:xfrm>
              <a:off x="6800850" y="2705100"/>
              <a:ext cx="4781550" cy="9525"/>
            </a:xfrm>
            <a:custGeom>
              <a:avLst/>
              <a:gdLst/>
              <a:ahLst/>
              <a:cxnLst/>
              <a:rect l="l" t="t" r="r" b="b"/>
              <a:pathLst>
                <a:path w="4781550" h="9525">
                  <a:moveTo>
                    <a:pt x="0" y="0"/>
                  </a:moveTo>
                  <a:lnTo>
                    <a:pt x="4781550" y="0"/>
                  </a:lnTo>
                </a:path>
              </a:pathLst>
            </a:custGeom>
            <a:noFill/>
            <a:ln w="9525">
              <a:solidFill>
                <a:schemeClr val="accent6"/>
              </a:solidFill>
            </a:ln>
          </p:spPr>
        </p:sp>
        <p:sp>
          <p:nvSpPr>
            <p:cNvPr id="13" name="TextBox 13"/>
            <p:cNvSpPr txBox="1"/>
            <p:nvPr/>
          </p:nvSpPr>
          <p:spPr>
            <a:xfrm>
              <a:off x="6791706" y="2910840"/>
              <a:ext cx="3150108" cy="10378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同一档上，一张涂成 GT 均值的</a:t>
              </a:r>
              <a:br/>
              <a:r>
                <a:rPr lang="zh-CN" sz="1800" dirty="0">
                  <a:solidFill>
                    <a:schemeClr val="dk1"/>
                  </a:solidFill>
                  <a:latin typeface="+mn-lt"/>
                  <a:ea typeface="+mn-ea"/>
                  <a:cs typeface="+mn-cs"/>
                </a:rPr>
                <a:t xml:space="preserve">平坦图能拿 </a:t>
              </a:r>
              <a:r>
                <a:rPr lang="en-US" sz="1800" b="1" dirty="0">
                  <a:solidFill>
                    <a:schemeClr val="accent1"/>
                  </a:solidFill>
                  <a:latin typeface="+mn-lt"/>
                  <a:ea typeface="+mn-ea"/>
                  <a:cs typeface="+mn-cs"/>
                </a:rPr>
                <a:t>17.68 dB</a:t>
              </a:r>
              <a:r>
                <a:rPr lang="zh-CN" sz="1800" dirty="0">
                  <a:solidFill>
                    <a:schemeClr val="dk1"/>
                  </a:solidFill>
                  <a:latin typeface="+mn-lt"/>
                  <a:ea typeface="+mn-ea"/>
                  <a:cs typeface="+mn-cs"/>
                </a:rPr>
                <a:t>，比它高</a:t>
              </a:r>
              <a:br/>
              <a:r>
                <a:rPr lang="zh-CN" sz="1800" dirty="0">
                  <a:solidFill>
                    <a:schemeClr val="dk1"/>
                  </a:solidFill>
                  <a:latin typeface="+mn-lt"/>
                  <a:ea typeface="+mn-ea"/>
                  <a:cs typeface="+mn-cs"/>
                </a:rPr>
                <a:t>5.6 dB。</a:t>
              </a:r>
            </a:p>
          </p:txBody>
        </p:sp>
        <p:sp>
          <p:nvSpPr>
            <p:cNvPr id="14" name="TextBox 14"/>
            <p:cNvSpPr txBox="1"/>
            <p:nvPr/>
          </p:nvSpPr>
          <p:spPr>
            <a:xfrm>
              <a:off x="6791706" y="4072890"/>
              <a:ext cx="3358134"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 xml:space="preserve">结构相关仅 </a:t>
              </a:r>
              <a:r>
                <a:rPr lang="zh-CN" sz="1800" b="1" dirty="0">
                  <a:solidFill>
                    <a:schemeClr val="accent3"/>
                  </a:solidFill>
                  <a:latin typeface="+mn-lt"/>
                  <a:ea typeface="+mn-ea"/>
                  <a:cs typeface="+mn-cs"/>
                </a:rPr>
                <a:t>0.26</a:t>
              </a:r>
              <a:r>
                <a:rPr lang="zh-CN" sz="1800" dirty="0">
                  <a:solidFill>
                    <a:schemeClr val="dk1"/>
                  </a:solidFill>
                  <a:latin typeface="+mn-lt"/>
                  <a:ea typeface="+mn-ea"/>
                  <a:cs typeface="+mn-cs"/>
                </a:rPr>
                <a:t>；失败是内容级</a:t>
              </a:r>
              <a:br/>
              <a:r>
                <a:rPr lang="zh-CN" sz="1800" dirty="0">
                  <a:solidFill>
                    <a:schemeClr val="dk1"/>
                  </a:solidFill>
                  <a:latin typeface="+mn-lt"/>
                  <a:ea typeface="+mn-ea"/>
                  <a:cs typeface="+mn-cs"/>
                </a:rPr>
                <a:t>损伤，不是亮度问题。</a:t>
              </a:r>
            </a:p>
          </p:txBody>
        </p:sp>
      </p:grpSp>
      <p:grpSp>
        <p:nvGrpSpPr>
          <p:cNvPr id="17" name="p03-structure-chart"/>
          <p:cNvGrpSpPr/>
          <p:nvPr/>
        </p:nvGrpSpPr>
        <p:grpSpPr>
          <a:xfrm>
            <a:off x="686602" y="4857750"/>
            <a:ext cx="10818796" cy="1219200"/>
            <a:chOff x="686602" y="4857750"/>
            <a:chExt cx="10818796" cy="1219200"/>
          </a:xfrm>
        </p:grpSpPr>
        <p:pic>
          <p:nvPicPr>
            <p:cNvPr id="16" name="Image 16"/>
            <p:cNvPicPr>
              <a:picLocks noChangeAspect="1"/>
            </p:cNvPicPr>
            <p:nvPr/>
          </p:nvPicPr>
          <p:blipFill>
            <a:blip r:embed="rId4"/>
            <a:stretch>
              <a:fillRect/>
            </a:stretch>
          </p:blipFill>
          <p:spPr>
            <a:xfrm>
              <a:off x="686602" y="4857750"/>
              <a:ext cx="10818796" cy="1219200"/>
            </a:xfrm>
            <a:prstGeom prst="rect">
              <a:avLst/>
            </a:prstGeom>
          </p:spPr>
        </p:pic>
      </p:grpSp>
      <p:grpSp>
        <p:nvGrpSpPr>
          <p:cNvPr id="20" name="page-footer"/>
          <p:cNvGrpSpPr/>
          <p:nvPr/>
        </p:nvGrpSpPr>
        <p:grpSpPr>
          <a:xfrm>
            <a:off x="603504" y="6252210"/>
            <a:ext cx="10984992" cy="234696"/>
            <a:chOff x="603504" y="6252210"/>
            <a:chExt cx="10984992" cy="234696"/>
          </a:xfrm>
        </p:grpSpPr>
        <p:sp>
          <p:nvSpPr>
            <p:cNvPr id="18" name="TextBox 18"/>
            <p:cNvSpPr txBox="1"/>
            <p:nvPr/>
          </p:nvSpPr>
          <p:spPr>
            <a:xfrm>
              <a:off x="603504" y="6252210"/>
              <a:ext cx="677776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eval/rdt_zeroshot_synth_rrw_v21_0913 · 常数基线 17.68 dB 为 GT 均值平坦图口径</a:t>
              </a:r>
            </a:p>
          </p:txBody>
        </p:sp>
        <p:sp>
          <p:nvSpPr>
            <p:cNvPr id="19" name="TextBox 19"/>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 / 17</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6816852"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九月这条路：从定基准到把边界量化</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0" name="p04-timeline"/>
          <p:cNvGrpSpPr/>
          <p:nvPr/>
        </p:nvGrpSpPr>
        <p:grpSpPr>
          <a:xfrm>
            <a:off x="609600" y="3006090"/>
            <a:ext cx="10972800" cy="1608011"/>
            <a:chOff x="609600" y="3006090"/>
            <a:chExt cx="10972800" cy="1608011"/>
          </a:xfrm>
        </p:grpSpPr>
        <p:sp>
          <p:nvSpPr>
            <p:cNvPr id="5" name="Line 5"/>
            <p:cNvSpPr/>
            <p:nvPr/>
          </p:nvSpPr>
          <p:spPr>
            <a:xfrm>
              <a:off x="609600" y="3619500"/>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6" name="TextBox 6"/>
            <p:cNvSpPr txBox="1"/>
            <p:nvPr/>
          </p:nvSpPr>
          <p:spPr>
            <a:xfrm>
              <a:off x="1304950" y="3006090"/>
              <a:ext cx="438100"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9.9</a:t>
              </a:r>
            </a:p>
          </p:txBody>
        </p:sp>
        <p:sp>
          <p:nvSpPr>
            <p:cNvPr id="7" name="Line 7"/>
            <p:cNvSpPr/>
            <p:nvPr/>
          </p:nvSpPr>
          <p:spPr>
            <a:xfrm>
              <a:off x="1524000" y="3333750"/>
              <a:ext cx="9525" cy="190500"/>
            </a:xfrm>
            <a:custGeom>
              <a:avLst/>
              <a:gdLst/>
              <a:ahLst/>
              <a:cxnLst/>
              <a:rect l="l" t="t" r="r" b="b"/>
              <a:pathLst>
                <a:path w="9525" h="190500">
                  <a:moveTo>
                    <a:pt x="0" y="0"/>
                  </a:moveTo>
                  <a:lnTo>
                    <a:pt x="0" y="190500"/>
                  </a:lnTo>
                </a:path>
              </a:pathLst>
            </a:custGeom>
            <a:noFill/>
            <a:ln w="19050">
              <a:solidFill>
                <a:schemeClr val="accent2"/>
              </a:solidFill>
            </a:ln>
          </p:spPr>
        </p:sp>
        <p:sp>
          <p:nvSpPr>
            <p:cNvPr id="8" name="Ellipse 8"/>
            <p:cNvSpPr/>
            <p:nvPr/>
          </p:nvSpPr>
          <p:spPr>
            <a:xfrm>
              <a:off x="1438275" y="3533775"/>
              <a:ext cx="171450" cy="171450"/>
            </a:xfrm>
            <a:prstGeom prst="ellipse">
              <a:avLst/>
            </a:prstGeom>
            <a:solidFill>
              <a:schemeClr val="accent2"/>
            </a:solidFill>
            <a:ln>
              <a:noFill/>
            </a:ln>
          </p:spPr>
        </p:sp>
        <p:sp>
          <p:nvSpPr>
            <p:cNvPr id="9" name="TextBox 9"/>
            <p:cNvSpPr txBox="1"/>
            <p:nvPr/>
          </p:nvSpPr>
          <p:spPr>
            <a:xfrm>
              <a:off x="881062" y="3854768"/>
              <a:ext cx="1285875"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预演与实拍协议</a:t>
              </a:r>
            </a:p>
          </p:txBody>
        </p:sp>
        <p:sp>
          <p:nvSpPr>
            <p:cNvPr id="10" name="TextBox 10"/>
            <p:cNvSpPr txBox="1"/>
            <p:nvPr/>
          </p:nvSpPr>
          <p:spPr>
            <a:xfrm>
              <a:off x="3063781" y="3006090"/>
              <a:ext cx="578038"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9.13</a:t>
              </a:r>
            </a:p>
          </p:txBody>
        </p:sp>
        <p:sp>
          <p:nvSpPr>
            <p:cNvPr id="11" name="Line 11"/>
            <p:cNvSpPr/>
            <p:nvPr/>
          </p:nvSpPr>
          <p:spPr>
            <a:xfrm>
              <a:off x="3352800" y="3333750"/>
              <a:ext cx="9525" cy="190500"/>
            </a:xfrm>
            <a:custGeom>
              <a:avLst/>
              <a:gdLst/>
              <a:ahLst/>
              <a:cxnLst/>
              <a:rect l="l" t="t" r="r" b="b"/>
              <a:pathLst>
                <a:path w="9525" h="190500">
                  <a:moveTo>
                    <a:pt x="0" y="0"/>
                  </a:moveTo>
                  <a:lnTo>
                    <a:pt x="0" y="190500"/>
                  </a:lnTo>
                </a:path>
              </a:pathLst>
            </a:custGeom>
            <a:noFill/>
            <a:ln w="19050">
              <a:solidFill>
                <a:schemeClr val="accent2"/>
              </a:solidFill>
            </a:ln>
          </p:spPr>
        </p:sp>
        <p:sp>
          <p:nvSpPr>
            <p:cNvPr id="12" name="Ellipse 12"/>
            <p:cNvSpPr/>
            <p:nvPr/>
          </p:nvSpPr>
          <p:spPr>
            <a:xfrm>
              <a:off x="3267075" y="3533775"/>
              <a:ext cx="171450" cy="171450"/>
            </a:xfrm>
            <a:prstGeom prst="ellipse">
              <a:avLst/>
            </a:prstGeom>
            <a:solidFill>
              <a:schemeClr val="accent2"/>
            </a:solidFill>
            <a:ln>
              <a:noFill/>
            </a:ln>
          </p:spPr>
        </p:sp>
        <p:sp>
          <p:nvSpPr>
            <p:cNvPr id="13" name="TextBox 13"/>
            <p:cNvSpPr txBox="1"/>
            <p:nvPr/>
          </p:nvSpPr>
          <p:spPr>
            <a:xfrm>
              <a:off x="2763012" y="3854768"/>
              <a:ext cx="1179576" cy="75933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基准 v2.1 定版</a:t>
              </a:r>
              <a:br/>
              <a:r>
                <a:rPr lang="en-US" sz="1350" dirty="0">
                  <a:solidFill>
                    <a:schemeClr val="dk1"/>
                  </a:solidFill>
                  <a:latin typeface="+mn-lt"/>
                  <a:ea typeface="+mn-ea"/>
                  <a:cs typeface="+mn-cs"/>
                </a:rPr>
                <a:t>pilot A/B</a:t>
              </a:r>
              <a:br/>
              <a:r>
                <a:rPr lang="zh-CN" sz="1350" dirty="0">
                  <a:solidFill>
                    <a:schemeClr val="dk1"/>
                  </a:solidFill>
                  <a:latin typeface="+mn-lt"/>
                  <a:ea typeface="+mn-ea"/>
                  <a:cs typeface="+mn-cs"/>
                </a:rPr>
                <a:t>α 平台</a:t>
              </a:r>
            </a:p>
          </p:txBody>
        </p:sp>
        <p:sp>
          <p:nvSpPr>
            <p:cNvPr id="14" name="TextBox 14"/>
            <p:cNvSpPr txBox="1"/>
            <p:nvPr/>
          </p:nvSpPr>
          <p:spPr>
            <a:xfrm>
              <a:off x="4892581" y="3006090"/>
              <a:ext cx="578038" cy="352044"/>
            </a:xfrm>
            <a:prstGeom prst="rect">
              <a:avLst/>
            </a:prstGeom>
            <a:noFill/>
            <a:ln>
              <a:noFill/>
            </a:ln>
          </p:spPr>
          <p:txBody>
            <a:bodyPr wrap="none" lIns="0" tIns="0" rIns="0" bIns="0" anchor="t" anchorCtr="0">
              <a:spAutoFit/>
            </a:bodyPr>
            <a:lstStyle/>
            <a:p>
              <a:pPr algn="ctr"/>
              <a:r>
                <a:rPr lang="zh-CN" sz="1800" b="1" dirty="0">
                  <a:solidFill>
                    <a:schemeClr val="accent3"/>
                  </a:solidFill>
                  <a:latin typeface="+mn-lt"/>
                  <a:ea typeface="+mn-ea"/>
                  <a:cs typeface="+mn-cs"/>
                </a:rPr>
                <a:t>9.14</a:t>
              </a:r>
            </a:p>
          </p:txBody>
        </p:sp>
        <p:sp>
          <p:nvSpPr>
            <p:cNvPr id="15" name="Line 15"/>
            <p:cNvSpPr/>
            <p:nvPr/>
          </p:nvSpPr>
          <p:spPr>
            <a:xfrm>
              <a:off x="5181600" y="3333750"/>
              <a:ext cx="9525" cy="190500"/>
            </a:xfrm>
            <a:custGeom>
              <a:avLst/>
              <a:gdLst/>
              <a:ahLst/>
              <a:cxnLst/>
              <a:rect l="l" t="t" r="r" b="b"/>
              <a:pathLst>
                <a:path w="9525" h="190500">
                  <a:moveTo>
                    <a:pt x="0" y="0"/>
                  </a:moveTo>
                  <a:lnTo>
                    <a:pt x="0" y="190500"/>
                  </a:lnTo>
                </a:path>
              </a:pathLst>
            </a:custGeom>
            <a:noFill/>
            <a:ln w="19050">
              <a:solidFill>
                <a:schemeClr val="accent3"/>
              </a:solidFill>
            </a:ln>
          </p:spPr>
        </p:sp>
        <p:sp>
          <p:nvSpPr>
            <p:cNvPr id="16" name="Ellipse 16"/>
            <p:cNvSpPr/>
            <p:nvPr/>
          </p:nvSpPr>
          <p:spPr>
            <a:xfrm>
              <a:off x="5095875" y="3533775"/>
              <a:ext cx="171450" cy="171450"/>
            </a:xfrm>
            <a:prstGeom prst="ellipse">
              <a:avLst/>
            </a:prstGeom>
            <a:solidFill>
              <a:schemeClr val="accent3"/>
            </a:solidFill>
            <a:ln>
              <a:noFill/>
            </a:ln>
          </p:spPr>
        </p:sp>
        <p:sp>
          <p:nvSpPr>
            <p:cNvPr id="17" name="TextBox 17"/>
            <p:cNvSpPr txBox="1"/>
            <p:nvPr/>
          </p:nvSpPr>
          <p:spPr>
            <a:xfrm>
              <a:off x="4746117" y="3854768"/>
              <a:ext cx="870966"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迁入共享机</a:t>
              </a:r>
              <a:br/>
              <a:r>
                <a:rPr lang="zh-CN" sz="1350" dirty="0">
                  <a:solidFill>
                    <a:schemeClr val="dk1"/>
                  </a:solidFill>
                  <a:latin typeface="+mn-lt"/>
                  <a:ea typeface="+mn-ea"/>
                  <a:cs typeface="+mn-cs"/>
                </a:rPr>
                <a:t>环境重建</a:t>
              </a:r>
            </a:p>
          </p:txBody>
        </p:sp>
        <p:sp>
          <p:nvSpPr>
            <p:cNvPr id="18" name="TextBox 18"/>
            <p:cNvSpPr txBox="1"/>
            <p:nvPr/>
          </p:nvSpPr>
          <p:spPr>
            <a:xfrm>
              <a:off x="6721381" y="3006090"/>
              <a:ext cx="578038" cy="352044"/>
            </a:xfrm>
            <a:prstGeom prst="rect">
              <a:avLst/>
            </a:prstGeom>
            <a:noFill/>
            <a:ln>
              <a:noFill/>
            </a:ln>
          </p:spPr>
          <p:txBody>
            <a:bodyPr wrap="none" lIns="0" tIns="0" rIns="0" bIns="0" anchor="t" anchorCtr="0">
              <a:spAutoFit/>
            </a:bodyPr>
            <a:lstStyle/>
            <a:p>
              <a:pPr algn="ctr"/>
              <a:r>
                <a:rPr lang="zh-CN" sz="1800" b="1" dirty="0">
                  <a:solidFill>
                    <a:schemeClr val="accent3"/>
                  </a:solidFill>
                  <a:latin typeface="+mn-lt"/>
                  <a:ea typeface="+mn-ea"/>
                  <a:cs typeface="+mn-cs"/>
                </a:rPr>
                <a:t>9.15</a:t>
              </a:r>
            </a:p>
          </p:txBody>
        </p:sp>
        <p:sp>
          <p:nvSpPr>
            <p:cNvPr id="19" name="Line 19"/>
            <p:cNvSpPr/>
            <p:nvPr/>
          </p:nvSpPr>
          <p:spPr>
            <a:xfrm>
              <a:off x="7010400" y="3333750"/>
              <a:ext cx="9525" cy="190500"/>
            </a:xfrm>
            <a:custGeom>
              <a:avLst/>
              <a:gdLst/>
              <a:ahLst/>
              <a:cxnLst/>
              <a:rect l="l" t="t" r="r" b="b"/>
              <a:pathLst>
                <a:path w="9525" h="190500">
                  <a:moveTo>
                    <a:pt x="0" y="0"/>
                  </a:moveTo>
                  <a:lnTo>
                    <a:pt x="0" y="190500"/>
                  </a:lnTo>
                </a:path>
              </a:pathLst>
            </a:custGeom>
            <a:noFill/>
            <a:ln w="19050">
              <a:solidFill>
                <a:schemeClr val="accent3"/>
              </a:solidFill>
            </a:ln>
          </p:spPr>
        </p:sp>
        <p:sp>
          <p:nvSpPr>
            <p:cNvPr id="20" name="Ellipse 20"/>
            <p:cNvSpPr/>
            <p:nvPr/>
          </p:nvSpPr>
          <p:spPr>
            <a:xfrm>
              <a:off x="6924675" y="3533775"/>
              <a:ext cx="171450" cy="171450"/>
            </a:xfrm>
            <a:prstGeom prst="ellipse">
              <a:avLst/>
            </a:prstGeom>
            <a:solidFill>
              <a:schemeClr val="accent3"/>
            </a:solidFill>
            <a:ln>
              <a:noFill/>
            </a:ln>
          </p:spPr>
        </p:sp>
        <p:sp>
          <p:nvSpPr>
            <p:cNvPr id="21" name="TextBox 21"/>
            <p:cNvSpPr txBox="1"/>
            <p:nvPr/>
          </p:nvSpPr>
          <p:spPr>
            <a:xfrm>
              <a:off x="6489192" y="3854768"/>
              <a:ext cx="1042416"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数据卫生重建</a:t>
              </a:r>
              <a:br/>
              <a:r>
                <a:rPr lang="zh-CN" sz="1350" dirty="0">
                  <a:solidFill>
                    <a:schemeClr val="dk1"/>
                  </a:solidFill>
                  <a:latin typeface="+mn-lt"/>
                  <a:ea typeface="+mn-ea"/>
                  <a:cs typeface="+mn-cs"/>
                </a:rPr>
                <a:t>分离器方案</a:t>
              </a:r>
            </a:p>
          </p:txBody>
        </p:sp>
        <p:sp>
          <p:nvSpPr>
            <p:cNvPr id="22" name="TextBox 22"/>
            <p:cNvSpPr txBox="1"/>
            <p:nvPr/>
          </p:nvSpPr>
          <p:spPr>
            <a:xfrm>
              <a:off x="8550181" y="3006090"/>
              <a:ext cx="578038"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9.16</a:t>
              </a:r>
            </a:p>
          </p:txBody>
        </p:sp>
        <p:sp>
          <p:nvSpPr>
            <p:cNvPr id="23" name="Line 23"/>
            <p:cNvSpPr/>
            <p:nvPr/>
          </p:nvSpPr>
          <p:spPr>
            <a:xfrm>
              <a:off x="8839200" y="3333750"/>
              <a:ext cx="9525" cy="190500"/>
            </a:xfrm>
            <a:custGeom>
              <a:avLst/>
              <a:gdLst/>
              <a:ahLst/>
              <a:cxnLst/>
              <a:rect l="l" t="t" r="r" b="b"/>
              <a:pathLst>
                <a:path w="9525" h="190500">
                  <a:moveTo>
                    <a:pt x="0" y="0"/>
                  </a:moveTo>
                  <a:lnTo>
                    <a:pt x="0" y="190500"/>
                  </a:lnTo>
                </a:path>
              </a:pathLst>
            </a:custGeom>
            <a:noFill/>
            <a:ln w="19050">
              <a:solidFill>
                <a:schemeClr val="accent2"/>
              </a:solidFill>
            </a:ln>
          </p:spPr>
        </p:sp>
        <p:sp>
          <p:nvSpPr>
            <p:cNvPr id="24" name="Ellipse 24"/>
            <p:cNvSpPr/>
            <p:nvPr/>
          </p:nvSpPr>
          <p:spPr>
            <a:xfrm>
              <a:off x="8753475" y="3533775"/>
              <a:ext cx="171450" cy="171450"/>
            </a:xfrm>
            <a:prstGeom prst="ellipse">
              <a:avLst/>
            </a:prstGeom>
            <a:solidFill>
              <a:schemeClr val="accent2"/>
            </a:solidFill>
            <a:ln>
              <a:noFill/>
            </a:ln>
          </p:spPr>
        </p:sp>
        <p:sp>
          <p:nvSpPr>
            <p:cNvPr id="25" name="TextBox 25"/>
            <p:cNvSpPr txBox="1"/>
            <p:nvPr/>
          </p:nvSpPr>
          <p:spPr>
            <a:xfrm>
              <a:off x="8283702" y="3854768"/>
              <a:ext cx="1110996"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S1 域适配判决</a:t>
              </a:r>
              <a:br/>
              <a:r>
                <a:rPr lang="zh-CN" sz="1350" dirty="0">
                  <a:solidFill>
                    <a:schemeClr val="dk1"/>
                  </a:solidFill>
                  <a:latin typeface="+mn-lt"/>
                  <a:ea typeface="+mn-ea"/>
                  <a:cs typeface="+mn-cs"/>
                </a:rPr>
                <a:t>主结果落袋</a:t>
              </a:r>
            </a:p>
          </p:txBody>
        </p:sp>
        <p:sp>
          <p:nvSpPr>
            <p:cNvPr id="26" name="TextBox 26"/>
            <p:cNvSpPr txBox="1"/>
            <p:nvPr/>
          </p:nvSpPr>
          <p:spPr>
            <a:xfrm>
              <a:off x="10378981" y="3006090"/>
              <a:ext cx="578038"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9.17</a:t>
              </a:r>
            </a:p>
          </p:txBody>
        </p:sp>
        <p:sp>
          <p:nvSpPr>
            <p:cNvPr id="27" name="Line 27"/>
            <p:cNvSpPr/>
            <p:nvPr/>
          </p:nvSpPr>
          <p:spPr>
            <a:xfrm>
              <a:off x="10668000" y="3333750"/>
              <a:ext cx="9525" cy="190500"/>
            </a:xfrm>
            <a:custGeom>
              <a:avLst/>
              <a:gdLst/>
              <a:ahLst/>
              <a:cxnLst/>
              <a:rect l="l" t="t" r="r" b="b"/>
              <a:pathLst>
                <a:path w="9525" h="190500">
                  <a:moveTo>
                    <a:pt x="0" y="0"/>
                  </a:moveTo>
                  <a:lnTo>
                    <a:pt x="0" y="190500"/>
                  </a:lnTo>
                </a:path>
              </a:pathLst>
            </a:custGeom>
            <a:noFill/>
            <a:ln w="19050">
              <a:solidFill>
                <a:schemeClr val="accent2"/>
              </a:solidFill>
            </a:ln>
          </p:spPr>
        </p:sp>
        <p:sp>
          <p:nvSpPr>
            <p:cNvPr id="28" name="Ellipse 28"/>
            <p:cNvSpPr/>
            <p:nvPr/>
          </p:nvSpPr>
          <p:spPr>
            <a:xfrm>
              <a:off x="10582275" y="3533775"/>
              <a:ext cx="171450" cy="171450"/>
            </a:xfrm>
            <a:prstGeom prst="ellipse">
              <a:avLst/>
            </a:prstGeom>
            <a:solidFill>
              <a:schemeClr val="accent2"/>
            </a:solidFill>
            <a:ln>
              <a:noFill/>
            </a:ln>
          </p:spPr>
        </p:sp>
        <p:sp>
          <p:nvSpPr>
            <p:cNvPr id="29" name="TextBox 29"/>
            <p:cNvSpPr txBox="1"/>
            <p:nvPr/>
          </p:nvSpPr>
          <p:spPr>
            <a:xfrm>
              <a:off x="10318242" y="3854768"/>
              <a:ext cx="699516" cy="75933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出口判决</a:t>
              </a:r>
              <a:br/>
              <a:r>
                <a:rPr lang="zh-CN" sz="1350" dirty="0">
                  <a:solidFill>
                    <a:schemeClr val="dk1"/>
                  </a:solidFill>
                  <a:latin typeface="+mn-lt"/>
                  <a:ea typeface="+mn-ea"/>
                  <a:cs typeface="+mn-cs"/>
                </a:rPr>
                <a:t>锚点探针</a:t>
              </a:r>
              <a:br/>
              <a:r>
                <a:rPr lang="zh-CN" sz="1350" dirty="0">
                  <a:solidFill>
                    <a:schemeClr val="dk1"/>
                  </a:solidFill>
                  <a:latin typeface="+mn-lt"/>
                  <a:ea typeface="+mn-ea"/>
                  <a:cs typeface="+mn-cs"/>
                </a:rPr>
                <a:t>新方向</a:t>
              </a:r>
            </a:p>
          </p:txBody>
        </p:sp>
      </p:grpSp>
      <p:grpSp>
        <p:nvGrpSpPr>
          <p:cNvPr id="33" name="p04-breaks"/>
          <p:cNvGrpSpPr/>
          <p:nvPr/>
        </p:nvGrpSpPr>
        <p:grpSpPr>
          <a:xfrm>
            <a:off x="600456" y="4987290"/>
            <a:ext cx="6128194" cy="960311"/>
            <a:chOff x="600456" y="4987290"/>
            <a:chExt cx="6128194" cy="960311"/>
          </a:xfrm>
        </p:grpSpPr>
        <p:sp>
          <p:nvSpPr>
            <p:cNvPr id="31" name="TextBox 31"/>
            <p:cNvSpPr txBox="1"/>
            <p:nvPr/>
          </p:nvSpPr>
          <p:spPr>
            <a:xfrm>
              <a:off x="600456" y="498729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两个断点</a:t>
              </a:r>
            </a:p>
          </p:txBody>
        </p:sp>
        <p:sp>
          <p:nvSpPr>
            <p:cNvPr id="32" name="TextBox 32"/>
            <p:cNvSpPr txBox="1"/>
            <p:nvPr/>
          </p:nvSpPr>
          <p:spPr>
            <a:xfrm>
              <a:off x="602742" y="5435918"/>
              <a:ext cx="612590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9.14 迁入共享机：环境重建占用一天，训练链整体重跑</a:t>
              </a:r>
              <a:br/>
              <a:r>
                <a:rPr lang="zh-CN" sz="1350" dirty="0">
                  <a:solidFill>
                    <a:schemeClr val="dk1"/>
                  </a:solidFill>
                  <a:latin typeface="+mn-lt"/>
                  <a:ea typeface="+mn-ea"/>
                  <a:cs typeface="+mn-cs"/>
                </a:rPr>
                <a:t>9.15 数据卫生事故：训练池被测试集 T 污染，一批结论作废后按内容级核查重建</a:t>
              </a:r>
            </a:p>
          </p:txBody>
        </p:sp>
      </p:grpSp>
      <p:grpSp>
        <p:nvGrpSpPr>
          <p:cNvPr id="36" name="page-footer"/>
          <p:cNvGrpSpPr/>
          <p:nvPr/>
        </p:nvGrpSpPr>
        <p:grpSpPr>
          <a:xfrm>
            <a:off x="603504" y="6252210"/>
            <a:ext cx="10984992" cy="234696"/>
            <a:chOff x="603504" y="6252210"/>
            <a:chExt cx="10984992" cy="234696"/>
          </a:xfrm>
        </p:grpSpPr>
        <p:sp>
          <p:nvSpPr>
            <p:cNvPr id="34" name="TextBox 34"/>
            <p:cNvSpPr txBox="1"/>
            <p:nvPr/>
          </p:nvSpPr>
          <p:spPr>
            <a:xfrm>
              <a:off x="603504" y="6252210"/>
              <a:ext cx="266959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项目日志整理 · 橙点为节奏断点</a:t>
              </a:r>
            </a:p>
          </p:txBody>
        </p:sp>
        <p:sp>
          <p:nvSpPr>
            <p:cNvPr id="35" name="TextBox 35"/>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 / 17</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8915914"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四个独立估计器全部撞在 0.7：这不是调参问题</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6" name="p06-curves"/>
          <p:cNvGrpSpPr/>
          <p:nvPr/>
        </p:nvGrpSpPr>
        <p:grpSpPr>
          <a:xfrm>
            <a:off x="609600" y="1409700"/>
            <a:ext cx="8191500" cy="2295525"/>
            <a:chOff x="609600" y="1409700"/>
            <a:chExt cx="8191500" cy="2295525"/>
          </a:xfrm>
        </p:grpSpPr>
        <p:pic>
          <p:nvPicPr>
            <p:cNvPr id="5" name="Image 5"/>
            <p:cNvPicPr>
              <a:picLocks noChangeAspect="1"/>
            </p:cNvPicPr>
            <p:nvPr/>
          </p:nvPicPr>
          <p:blipFill>
            <a:blip r:embed="rId2"/>
            <a:stretch>
              <a:fillRect/>
            </a:stretch>
          </p:blipFill>
          <p:spPr>
            <a:xfrm>
              <a:off x="609600" y="1409700"/>
              <a:ext cx="8191500" cy="2295525"/>
            </a:xfrm>
            <a:prstGeom prst="rect">
              <a:avLst/>
            </a:prstGeom>
          </p:spPr>
        </p:pic>
      </p:grpSp>
      <p:grpSp>
        <p:nvGrpSpPr>
          <p:cNvPr id="19" name="p06-estimators"/>
          <p:cNvGrpSpPr/>
          <p:nvPr/>
        </p:nvGrpSpPr>
        <p:grpSpPr>
          <a:xfrm>
            <a:off x="9022842" y="1530668"/>
            <a:ext cx="2568702" cy="2155888"/>
            <a:chOff x="9022842" y="1530668"/>
            <a:chExt cx="2568702" cy="2155888"/>
          </a:xfrm>
        </p:grpSpPr>
        <p:sp>
          <p:nvSpPr>
            <p:cNvPr id="7" name="TextBox 7"/>
            <p:cNvSpPr txBox="1"/>
            <p:nvPr/>
          </p:nvSpPr>
          <p:spPr>
            <a:xfrm>
              <a:off x="9022842" y="1530668"/>
              <a:ext cx="236721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无膜区平均估计（真值 1.0）</a:t>
              </a:r>
            </a:p>
          </p:txBody>
        </p:sp>
        <p:sp>
          <p:nvSpPr>
            <p:cNvPr id="8" name="Line 8"/>
            <p:cNvSpPr/>
            <p:nvPr/>
          </p:nvSpPr>
          <p:spPr>
            <a:xfrm>
              <a:off x="9029700" y="1790700"/>
              <a:ext cx="2552700" cy="9525"/>
            </a:xfrm>
            <a:custGeom>
              <a:avLst/>
              <a:gdLst/>
              <a:ahLst/>
              <a:cxnLst/>
              <a:rect l="l" t="t" r="r" b="b"/>
              <a:pathLst>
                <a:path w="2552700" h="9525">
                  <a:moveTo>
                    <a:pt x="0" y="0"/>
                  </a:moveTo>
                  <a:lnTo>
                    <a:pt x="2552700" y="0"/>
                  </a:lnTo>
                </a:path>
              </a:pathLst>
            </a:custGeom>
            <a:noFill/>
            <a:ln w="9525">
              <a:solidFill>
                <a:schemeClr val="accent6"/>
              </a:solidFill>
            </a:ln>
          </p:spPr>
        </p:sp>
        <p:sp>
          <p:nvSpPr>
            <p:cNvPr id="9" name="TextBox 9"/>
            <p:cNvSpPr txBox="1"/>
            <p:nvPr/>
          </p:nvSpPr>
          <p:spPr>
            <a:xfrm>
              <a:off x="9022842" y="1968818"/>
              <a:ext cx="34992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α 头</a:t>
              </a:r>
            </a:p>
          </p:txBody>
        </p:sp>
        <p:sp>
          <p:nvSpPr>
            <p:cNvPr id="10" name="TextBox 10"/>
            <p:cNvSpPr txBox="1"/>
            <p:nvPr/>
          </p:nvSpPr>
          <p:spPr>
            <a:xfrm>
              <a:off x="10873569" y="1920240"/>
              <a:ext cx="717975"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mn-lt"/>
                  <a:ea typeface="+mn-ea"/>
                  <a:cs typeface="+mn-cs"/>
                </a:rPr>
                <a:t>0.711</a:t>
              </a:r>
            </a:p>
          </p:txBody>
        </p:sp>
        <p:sp>
          <p:nvSpPr>
            <p:cNvPr id="11" name="TextBox 11"/>
            <p:cNvSpPr txBox="1"/>
            <p:nvPr/>
          </p:nvSpPr>
          <p:spPr>
            <a:xfrm>
              <a:off x="9022842" y="2311718"/>
              <a:ext cx="88601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ridge-ALL</a:t>
              </a:r>
            </a:p>
          </p:txBody>
        </p:sp>
        <p:sp>
          <p:nvSpPr>
            <p:cNvPr id="12" name="TextBox 12"/>
            <p:cNvSpPr txBox="1"/>
            <p:nvPr/>
          </p:nvSpPr>
          <p:spPr>
            <a:xfrm>
              <a:off x="10873569" y="2263140"/>
              <a:ext cx="717975"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mn-lt"/>
                  <a:ea typeface="+mn-ea"/>
                  <a:cs typeface="+mn-cs"/>
                </a:rPr>
                <a:t>0.741</a:t>
              </a:r>
            </a:p>
          </p:txBody>
        </p:sp>
        <p:sp>
          <p:nvSpPr>
            <p:cNvPr id="13" name="TextBox 13"/>
            <p:cNvSpPr txBox="1"/>
            <p:nvPr/>
          </p:nvSpPr>
          <p:spPr>
            <a:xfrm>
              <a:off x="9022842" y="2654618"/>
              <a:ext cx="68580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GLOBAL</a:t>
              </a:r>
            </a:p>
          </p:txBody>
        </p:sp>
        <p:sp>
          <p:nvSpPr>
            <p:cNvPr id="14" name="TextBox 14"/>
            <p:cNvSpPr txBox="1"/>
            <p:nvPr/>
          </p:nvSpPr>
          <p:spPr>
            <a:xfrm>
              <a:off x="10873569" y="2606040"/>
              <a:ext cx="717975"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mn-lt"/>
                  <a:ea typeface="+mn-ea"/>
                  <a:cs typeface="+mn-cs"/>
                </a:rPr>
                <a:t>0.634</a:t>
              </a:r>
            </a:p>
          </p:txBody>
        </p:sp>
        <p:sp>
          <p:nvSpPr>
            <p:cNvPr id="15" name="TextBox 15"/>
            <p:cNvSpPr txBox="1"/>
            <p:nvPr/>
          </p:nvSpPr>
          <p:spPr>
            <a:xfrm>
              <a:off x="9022842" y="2997518"/>
              <a:ext cx="35867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B 臂</a:t>
              </a:r>
            </a:p>
          </p:txBody>
        </p:sp>
        <p:sp>
          <p:nvSpPr>
            <p:cNvPr id="16" name="TextBox 16"/>
            <p:cNvSpPr txBox="1"/>
            <p:nvPr/>
          </p:nvSpPr>
          <p:spPr>
            <a:xfrm>
              <a:off x="10033944" y="2948940"/>
              <a:ext cx="1557600"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mn-lt"/>
                  <a:ea typeface="+mn-ea"/>
                  <a:cs typeface="+mn-cs"/>
                </a:rPr>
                <a:t>0.605–0.680</a:t>
              </a:r>
            </a:p>
          </p:txBody>
        </p:sp>
        <p:sp>
          <p:nvSpPr>
            <p:cNvPr id="17" name="Line 17"/>
            <p:cNvSpPr/>
            <p:nvPr/>
          </p:nvSpPr>
          <p:spPr>
            <a:xfrm>
              <a:off x="9029700" y="3314700"/>
              <a:ext cx="2552700" cy="9525"/>
            </a:xfrm>
            <a:custGeom>
              <a:avLst/>
              <a:gdLst/>
              <a:ahLst/>
              <a:cxnLst/>
              <a:rect l="l" t="t" r="r" b="b"/>
              <a:pathLst>
                <a:path w="2552700" h="9525">
                  <a:moveTo>
                    <a:pt x="0" y="0"/>
                  </a:moveTo>
                  <a:lnTo>
                    <a:pt x="2552700" y="0"/>
                  </a:lnTo>
                </a:path>
              </a:pathLst>
            </a:custGeom>
            <a:noFill/>
            <a:ln w="9525">
              <a:solidFill>
                <a:schemeClr val="accent6"/>
              </a:solidFill>
            </a:ln>
          </p:spPr>
        </p:sp>
        <p:sp>
          <p:nvSpPr>
            <p:cNvPr id="18" name="TextBox 18"/>
            <p:cNvSpPr txBox="1"/>
            <p:nvPr/>
          </p:nvSpPr>
          <p:spPr>
            <a:xfrm>
              <a:off x="9023604" y="3451860"/>
              <a:ext cx="191841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目标 ≥ 0.9（左图红虚线）</a:t>
              </a:r>
            </a:p>
          </p:txBody>
        </p:sp>
      </p:grpSp>
      <p:grpSp>
        <p:nvGrpSpPr>
          <p:cNvPr id="21" name="p06-maps"/>
          <p:cNvGrpSpPr/>
          <p:nvPr/>
        </p:nvGrpSpPr>
        <p:grpSpPr>
          <a:xfrm>
            <a:off x="609600" y="3924300"/>
            <a:ext cx="5905500" cy="1771650"/>
            <a:chOff x="609600" y="3924300"/>
            <a:chExt cx="5905500" cy="1771650"/>
          </a:xfrm>
        </p:grpSpPr>
        <p:pic>
          <p:nvPicPr>
            <p:cNvPr id="20" name="Image 20"/>
            <p:cNvPicPr>
              <a:picLocks noChangeAspect="1"/>
            </p:cNvPicPr>
            <p:nvPr/>
          </p:nvPicPr>
          <p:blipFill>
            <a:blip r:embed="rId3"/>
            <a:stretch>
              <a:fillRect/>
            </a:stretch>
          </p:blipFill>
          <p:spPr>
            <a:xfrm>
              <a:off x="609600" y="3924300"/>
              <a:ext cx="5905500" cy="1771650"/>
            </a:xfrm>
            <a:prstGeom prst="rect">
              <a:avLst/>
            </a:prstGeom>
          </p:spPr>
        </p:pic>
      </p:grpSp>
      <p:grpSp>
        <p:nvGrpSpPr>
          <p:cNvPr id="24" name="p06-reading"/>
          <p:cNvGrpSpPr/>
          <p:nvPr/>
        </p:nvGrpSpPr>
        <p:grpSpPr>
          <a:xfrm>
            <a:off x="6734556" y="4072890"/>
            <a:ext cx="3796474" cy="1112711"/>
            <a:chOff x="6734556" y="4072890"/>
            <a:chExt cx="3796474" cy="1112711"/>
          </a:xfrm>
        </p:grpSpPr>
        <p:sp>
          <p:nvSpPr>
            <p:cNvPr id="22" name="TextBox 22"/>
            <p:cNvSpPr txBox="1"/>
            <p:nvPr/>
          </p:nvSpPr>
          <p:spPr>
            <a:xfrm>
              <a:off x="6734556" y="4072890"/>
              <a:ext cx="317990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单帧只能定乘积，上限约 0.7</a:t>
              </a:r>
            </a:p>
          </p:txBody>
        </p:sp>
        <p:sp>
          <p:nvSpPr>
            <p:cNvPr id="23" name="TextBox 23"/>
            <p:cNvSpPr txBox="1"/>
            <p:nvPr/>
          </p:nvSpPr>
          <p:spPr>
            <a:xfrm>
              <a:off x="6736842" y="4426268"/>
              <a:ext cx="3794188"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四个估计器互不相同，却落在同一区间</a:t>
              </a:r>
              <a:br/>
              <a:r>
                <a:rPr lang="zh-CN" sz="1350" dirty="0">
                  <a:solidFill>
                    <a:schemeClr val="dk1"/>
                  </a:solidFill>
                  <a:latin typeface="+mn-lt"/>
                  <a:ea typeface="+mn-ea"/>
                  <a:cs typeface="+mn-cs"/>
                </a:rPr>
                <a:t>与 Retinex、去雾、阴影同属「先验 + 锚点」消歧</a:t>
              </a:r>
              <a:br/>
              <a:r>
                <a:rPr lang="zh-CN" sz="1350" dirty="0">
                  <a:solidFill>
                    <a:schemeClr val="dk1"/>
                  </a:solidFill>
                  <a:latin typeface="+mn-lt"/>
                  <a:ea typeface="+mn-ea"/>
                  <a:cs typeface="+mn-cs"/>
                </a:rPr>
                <a:t>与其继续调 α 头，不如引入结构锚</a:t>
              </a:r>
            </a:p>
          </p:txBody>
        </p:sp>
      </p:grpSp>
      <p:grpSp>
        <p:nvGrpSpPr>
          <p:cNvPr id="27" name="page-footer"/>
          <p:cNvGrpSpPr/>
          <p:nvPr/>
        </p:nvGrpSpPr>
        <p:grpSpPr>
          <a:xfrm>
            <a:off x="603504" y="6252210"/>
            <a:ext cx="10984992" cy="234696"/>
            <a:chOff x="603504" y="6252210"/>
            <a:chExt cx="10984992" cy="234696"/>
          </a:xfrm>
        </p:grpSpPr>
        <p:sp>
          <p:nvSpPr>
            <p:cNvPr id="25" name="TextBox 25"/>
            <p:cNvSpPr txBox="1"/>
            <p:nvPr/>
          </p:nvSpPr>
          <p:spPr>
            <a:xfrm>
              <a:off x="603504" y="6252210"/>
              <a:ext cx="755629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docs/2026.9.13 α 线改进方向评审 · 左为 α 头两 run 的饱和曲线，右为四个估计器在无膜区的读数</a:t>
              </a:r>
            </a:p>
          </p:txBody>
        </p:sp>
        <p:sp>
          <p:nvSpPr>
            <p:cNvPr id="26" name="TextBox 26"/>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 / 17</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806780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域匹配训练池 516 个文件，只有 12 张内容</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7" name="p06-story"/>
          <p:cNvGrpSpPr/>
          <p:nvPr/>
        </p:nvGrpSpPr>
        <p:grpSpPr>
          <a:xfrm>
            <a:off x="600456" y="1519781"/>
            <a:ext cx="3959352" cy="4218270"/>
            <a:chOff x="600456" y="1519781"/>
            <a:chExt cx="3959352" cy="4218270"/>
          </a:xfrm>
        </p:grpSpPr>
        <p:grpSp>
          <p:nvGrpSpPr>
            <p:cNvPr id="8" name="Group 8"/>
            <p:cNvGrpSpPr/>
            <p:nvPr/>
          </p:nvGrpSpPr>
          <p:grpSpPr>
            <a:xfrm>
              <a:off x="633919" y="1519781"/>
              <a:ext cx="256151" cy="220068"/>
              <a:chOff x="633919" y="1519781"/>
              <a:chExt cx="256151" cy="220068"/>
            </a:xfrm>
          </p:grpSpPr>
          <p:sp>
            <p:nvSpPr>
              <p:cNvPr id="5" name="Freeform 5"/>
              <p:cNvSpPr/>
              <p:nvPr/>
            </p:nvSpPr>
            <p:spPr>
              <a:xfrm>
                <a:off x="762000" y="1600200"/>
                <a:ext cx="9525" cy="50800"/>
              </a:xfrm>
              <a:custGeom>
                <a:avLst/>
                <a:gdLst/>
                <a:ahLst/>
                <a:cxnLst/>
                <a:rect l="l" t="t" r="r" b="b"/>
                <a:pathLst>
                  <a:path w="9525" h="50800">
                    <a:moveTo>
                      <a:pt x="0" y="0"/>
                    </a:moveTo>
                    <a:lnTo>
                      <a:pt x="0" y="50800"/>
                    </a:lnTo>
                  </a:path>
                </a:pathLst>
              </a:custGeom>
              <a:noFill/>
              <a:ln w="25400">
                <a:solidFill>
                  <a:schemeClr val="accent3"/>
                </a:solidFill>
              </a:ln>
            </p:spPr>
          </p:sp>
          <p:sp>
            <p:nvSpPr>
              <p:cNvPr id="6" name="Freeform 6"/>
              <p:cNvSpPr/>
              <p:nvPr/>
            </p:nvSpPr>
            <p:spPr>
              <a:xfrm>
                <a:off x="633919" y="1519781"/>
                <a:ext cx="256151" cy="220068"/>
              </a:xfrm>
              <a:custGeom>
                <a:avLst/>
                <a:gdLst/>
                <a:ahLst/>
                <a:cxnLst/>
                <a:rect l="l" t="t" r="r" b="b"/>
                <a:pathLst>
                  <a:path w="256151" h="220068">
                    <a:moveTo>
                      <a:pt x="107291" y="11725"/>
                    </a:moveTo>
                    <a:lnTo>
                      <a:pt x="4345" y="183606"/>
                    </a:lnTo>
                    <a:cubicBezTo>
                      <a:pt x="26" y="191085"/>
                      <a:pt x="0" y="200293"/>
                      <a:pt x="4276" y="207796"/>
                    </a:cubicBezTo>
                    <a:cubicBezTo>
                      <a:pt x="8551" y="215299"/>
                      <a:pt x="16487" y="219971"/>
                      <a:pt x="25122" y="220068"/>
                    </a:cubicBezTo>
                    <a:lnTo>
                      <a:pt x="231039" y="220068"/>
                    </a:lnTo>
                    <a:cubicBezTo>
                      <a:pt x="239671" y="219968"/>
                      <a:pt x="247602" y="215299"/>
                      <a:pt x="251877" y="207800"/>
                    </a:cubicBezTo>
                    <a:cubicBezTo>
                      <a:pt x="256151" y="200300"/>
                      <a:pt x="256128" y="191097"/>
                      <a:pt x="251816" y="183619"/>
                    </a:cubicBezTo>
                    <a:lnTo>
                      <a:pt x="148870" y="11712"/>
                    </a:lnTo>
                    <a:cubicBezTo>
                      <a:pt x="144465" y="4441"/>
                      <a:pt x="136582" y="0"/>
                      <a:pt x="128081" y="0"/>
                    </a:cubicBezTo>
                    <a:cubicBezTo>
                      <a:pt x="119579" y="0"/>
                      <a:pt x="111696" y="4441"/>
                      <a:pt x="107291" y="11712"/>
                    </a:cubicBezTo>
                  </a:path>
                </a:pathLst>
              </a:custGeom>
              <a:noFill/>
              <a:ln w="25400">
                <a:solidFill>
                  <a:schemeClr val="accent3"/>
                </a:solidFill>
              </a:ln>
            </p:spPr>
          </p:sp>
          <p:sp>
            <p:nvSpPr>
              <p:cNvPr id="7" name="Freeform 7"/>
              <p:cNvSpPr/>
              <p:nvPr/>
            </p:nvSpPr>
            <p:spPr>
              <a:xfrm>
                <a:off x="762000" y="1689099"/>
                <a:ext cx="9525" cy="9525"/>
              </a:xfrm>
              <a:custGeom>
                <a:avLst/>
                <a:gdLst/>
                <a:ahLst/>
                <a:cxnLst/>
                <a:rect l="l" t="t" r="r" b="b"/>
                <a:pathLst>
                  <a:path w="9525" h="9525">
                    <a:moveTo>
                      <a:pt x="0" y="0"/>
                    </a:moveTo>
                    <a:lnTo>
                      <a:pt x="127" y="0"/>
                    </a:lnTo>
                  </a:path>
                </a:pathLst>
              </a:custGeom>
              <a:noFill/>
              <a:ln w="25400">
                <a:solidFill>
                  <a:schemeClr val="accent3"/>
                </a:solidFill>
              </a:ln>
            </p:spPr>
          </p:sp>
        </p:grpSp>
        <p:sp>
          <p:nvSpPr>
            <p:cNvPr id="9" name="TextBox 9"/>
            <p:cNvSpPr txBox="1"/>
            <p:nvPr/>
          </p:nvSpPr>
          <p:spPr>
            <a:xfrm>
              <a:off x="1019556" y="155829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发现</a:t>
              </a:r>
            </a:p>
          </p:txBody>
        </p:sp>
        <p:sp>
          <p:nvSpPr>
            <p:cNvPr id="10" name="TextBox 10"/>
            <p:cNvSpPr txBox="1"/>
            <p:nvPr/>
          </p:nvSpPr>
          <p:spPr>
            <a:xfrm>
              <a:off x="602742" y="1949768"/>
              <a:ext cx="333984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augmented 池 516 个文件，只有 12 张内容</a:t>
              </a:r>
              <a:br/>
              <a:r>
                <a:rPr lang="zh-CN" sz="1350" dirty="0">
                  <a:solidFill>
                    <a:schemeClr val="dk1"/>
                  </a:solidFill>
                  <a:latin typeface="+mn-lt"/>
                  <a:ea typeface="+mn-ea"/>
                  <a:cs typeface="+mn-cs"/>
                </a:rPr>
                <a:t>而且这 12 张全部就是测试集的 T</a:t>
              </a:r>
            </a:p>
          </p:txBody>
        </p:sp>
        <p:sp>
          <p:nvSpPr>
            <p:cNvPr id="11" name="TextBox 11"/>
            <p:cNvSpPr txBox="1"/>
            <p:nvPr/>
          </p:nvSpPr>
          <p:spPr>
            <a:xfrm>
              <a:off x="600456" y="258699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影响</a:t>
              </a:r>
            </a:p>
          </p:txBody>
        </p:sp>
        <p:sp>
          <p:nvSpPr>
            <p:cNvPr id="12" name="TextBox 12"/>
            <p:cNvSpPr txBox="1"/>
            <p:nvPr/>
          </p:nvSpPr>
          <p:spPr>
            <a:xfrm>
              <a:off x="602742" y="2959418"/>
              <a:ext cx="37856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域匹配训练集整体泄漏，相关结果全部作废</a:t>
              </a:r>
              <a:br/>
              <a:r>
                <a:rPr lang="zh-CN" sz="1350" dirty="0">
                  <a:solidFill>
                    <a:schemeClr val="dk1"/>
                  </a:solidFill>
                  <a:latin typeface="+mn-lt"/>
                  <a:ea typeface="+mn-ea"/>
                  <a:cs typeface="+mn-cs"/>
                </a:rPr>
                <a:t>按文件名与统计口径都查不出来，必须按内容核查</a:t>
              </a:r>
            </a:p>
          </p:txBody>
        </p:sp>
        <p:sp>
          <p:nvSpPr>
            <p:cNvPr id="13" name="TextBox 13"/>
            <p:cNvSpPr txBox="1"/>
            <p:nvPr/>
          </p:nvSpPr>
          <p:spPr>
            <a:xfrm>
              <a:off x="600456" y="35966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处置</a:t>
              </a:r>
            </a:p>
          </p:txBody>
        </p:sp>
        <p:sp>
          <p:nvSpPr>
            <p:cNvPr id="14" name="TextBox 14"/>
            <p:cNvSpPr txBox="1"/>
            <p:nvPr/>
          </p:nvSpPr>
          <p:spPr>
            <a:xfrm>
              <a:off x="602742" y="3969068"/>
              <a:ext cx="395706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内容级泄漏核查（md5 + 感知哈希）固化为流程护栏</a:t>
              </a:r>
              <a:br/>
              <a:r>
                <a:rPr lang="zh-CN" sz="1350" dirty="0">
                  <a:solidFill>
                    <a:schemeClr val="dk1"/>
                  </a:solidFill>
                  <a:latin typeface="+mn-lt"/>
                  <a:ea typeface="+mn-ea"/>
                  <a:cs typeface="+mn-cs"/>
                </a:rPr>
                <a:t>训练池按「谱匹配 + 对比度 + JPEG 重编」配方重建</a:t>
              </a:r>
              <a:br/>
              <a:r>
                <a:rPr lang="zh-CN" sz="1350" dirty="0">
                  <a:solidFill>
                    <a:schemeClr val="dk1"/>
                  </a:solidFill>
                  <a:latin typeface="+mn-lt"/>
                  <a:ea typeface="+mn-ea"/>
                  <a:cs typeface="+mn-cs"/>
                </a:rPr>
                <a:t>新源 rrw_gt / real_tl 均已通过内容级核查</a:t>
              </a:r>
            </a:p>
          </p:txBody>
        </p:sp>
        <p:sp>
          <p:nvSpPr>
            <p:cNvPr id="15" name="TextBox 15"/>
            <p:cNvSpPr txBox="1"/>
            <p:nvPr/>
          </p:nvSpPr>
          <p:spPr>
            <a:xfrm>
              <a:off x="600456" y="48539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教训</a:t>
              </a:r>
            </a:p>
          </p:txBody>
        </p:sp>
        <p:sp>
          <p:nvSpPr>
            <p:cNvPr id="16" name="TextBox 16"/>
            <p:cNvSpPr txBox="1"/>
            <p:nvPr/>
          </p:nvSpPr>
          <p:spPr>
            <a:xfrm>
              <a:off x="602742" y="5226368"/>
              <a:ext cx="36141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泄漏核查必须按内容，不能按文件名或统计口径</a:t>
              </a:r>
              <a:br/>
              <a:r>
                <a:rPr lang="zh-CN" sz="1350" dirty="0">
                  <a:solidFill>
                    <a:schemeClr val="dk1"/>
                  </a:solidFill>
                  <a:latin typeface="+mn-lt"/>
                  <a:ea typeface="+mn-ea"/>
                  <a:cs typeface="+mn-cs"/>
                </a:rPr>
                <a:t>这条护栏已写进每一轮实验的准入检查</a:t>
              </a:r>
            </a:p>
          </p:txBody>
        </p:sp>
      </p:grpSp>
      <p:grpSp>
        <p:nvGrpSpPr>
          <p:cNvPr id="19" name="p06-leak-chart"/>
          <p:cNvGrpSpPr/>
          <p:nvPr/>
        </p:nvGrpSpPr>
        <p:grpSpPr>
          <a:xfrm>
            <a:off x="7533279" y="1428750"/>
            <a:ext cx="4040592" cy="3864292"/>
            <a:chOff x="7533279" y="1428750"/>
            <a:chExt cx="4040592" cy="3864292"/>
          </a:xfrm>
        </p:grpSpPr>
        <p:pic>
          <p:nvPicPr>
            <p:cNvPr id="18" name="Image 18"/>
            <p:cNvPicPr>
              <a:picLocks noChangeAspect="1"/>
            </p:cNvPicPr>
            <p:nvPr/>
          </p:nvPicPr>
          <p:blipFill>
            <a:blip r:embed="rId2"/>
            <a:stretch>
              <a:fillRect/>
            </a:stretch>
          </p:blipFill>
          <p:spPr>
            <a:xfrm>
              <a:off x="7533279" y="1428750"/>
              <a:ext cx="4040592" cy="3864292"/>
            </a:xfrm>
            <a:prstGeom prst="rect">
              <a:avLst/>
            </a:prstGeom>
          </p:spPr>
        </p:pic>
      </p:grpSp>
      <p:grpSp>
        <p:nvGrpSpPr>
          <p:cNvPr id="22" name="page-footer"/>
          <p:cNvGrpSpPr/>
          <p:nvPr/>
        </p:nvGrpSpPr>
        <p:grpSpPr>
          <a:xfrm>
            <a:off x="603504" y="6252210"/>
            <a:ext cx="10984992" cy="234696"/>
            <a:chOff x="603504" y="6252210"/>
            <a:chExt cx="10984992" cy="234696"/>
          </a:xfrm>
        </p:grpSpPr>
        <p:sp>
          <p:nvSpPr>
            <p:cNvPr id="20" name="TextBox 20"/>
            <p:cNvSpPr txBox="1"/>
            <p:nvPr/>
          </p:nvSpPr>
          <p:spPr>
            <a:xfrm>
              <a:off x="603504" y="6252210"/>
              <a:ext cx="476966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docs/2026.9.15 训练池重建记录 · 右为孪生簇内容核查结果</a:t>
              </a:r>
            </a:p>
          </p:txBody>
        </p:sp>
        <p:sp>
          <p:nvSpPr>
            <p:cNvPr id="21" name="TextBox 21"/>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 / 17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5544693"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三个足以翻转判断的统计陷阱</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5" name="trap-baseline"/>
          <p:cNvGrpSpPr/>
          <p:nvPr/>
        </p:nvGrpSpPr>
        <p:grpSpPr>
          <a:xfrm>
            <a:off x="597408" y="1466850"/>
            <a:ext cx="3517392" cy="2537651"/>
            <a:chOff x="597408" y="1466850"/>
            <a:chExt cx="3517392" cy="2537651"/>
          </a:xfrm>
        </p:grpSpPr>
        <p:sp>
          <p:nvSpPr>
            <p:cNvPr id="5" name="Rectangle 5"/>
            <p:cNvSpPr/>
            <p:nvPr/>
          </p:nvSpPr>
          <p:spPr>
            <a:xfrm>
              <a:off x="609600" y="1466850"/>
              <a:ext cx="457200" cy="28575"/>
            </a:xfrm>
            <a:prstGeom prst="rect">
              <a:avLst/>
            </a:prstGeom>
            <a:solidFill>
              <a:schemeClr val="accent3"/>
            </a:solidFill>
            <a:ln>
              <a:noFill/>
            </a:ln>
          </p:spPr>
        </p:sp>
        <p:grpSp>
          <p:nvGrpSpPr>
            <p:cNvPr id="11" name="Group 11"/>
            <p:cNvGrpSpPr/>
            <p:nvPr/>
          </p:nvGrpSpPr>
          <p:grpSpPr>
            <a:xfrm>
              <a:off x="657225" y="1666875"/>
              <a:ext cx="285750" cy="279401"/>
              <a:chOff x="657225" y="1666875"/>
              <a:chExt cx="285750" cy="279401"/>
            </a:xfrm>
          </p:grpSpPr>
          <p:sp>
            <p:nvSpPr>
              <p:cNvPr id="6" name="Freeform 6"/>
              <p:cNvSpPr/>
              <p:nvPr/>
            </p:nvSpPr>
            <p:spPr>
              <a:xfrm>
                <a:off x="720725" y="1936751"/>
                <a:ext cx="158750" cy="9525"/>
              </a:xfrm>
              <a:custGeom>
                <a:avLst/>
                <a:gdLst/>
                <a:ahLst/>
                <a:cxnLst/>
                <a:rect l="l" t="t" r="r" b="b"/>
                <a:pathLst>
                  <a:path w="158750" h="9525">
                    <a:moveTo>
                      <a:pt x="0" y="0"/>
                    </a:moveTo>
                    <a:lnTo>
                      <a:pt x="158750" y="0"/>
                    </a:lnTo>
                  </a:path>
                </a:pathLst>
              </a:custGeom>
              <a:noFill/>
              <a:ln w="31750">
                <a:solidFill>
                  <a:schemeClr val="accent3"/>
                </a:solidFill>
              </a:ln>
            </p:spPr>
          </p:sp>
          <p:sp>
            <p:nvSpPr>
              <p:cNvPr id="7" name="Freeform 7"/>
              <p:cNvSpPr/>
              <p:nvPr/>
            </p:nvSpPr>
            <p:spPr>
              <a:xfrm>
                <a:off x="704850" y="1698625"/>
                <a:ext cx="190500" cy="15875"/>
              </a:xfrm>
              <a:custGeom>
                <a:avLst/>
                <a:gdLst/>
                <a:ahLst/>
                <a:cxnLst/>
                <a:rect l="l" t="t" r="r" b="b"/>
                <a:pathLst>
                  <a:path w="190500" h="15875">
                    <a:moveTo>
                      <a:pt x="0" y="15875"/>
                    </a:moveTo>
                    <a:lnTo>
                      <a:pt x="95250" y="0"/>
                    </a:lnTo>
                    <a:lnTo>
                      <a:pt x="190500" y="15875"/>
                    </a:lnTo>
                  </a:path>
                </a:pathLst>
              </a:custGeom>
              <a:noFill/>
              <a:ln w="31750">
                <a:solidFill>
                  <a:schemeClr val="accent3"/>
                </a:solidFill>
              </a:ln>
            </p:spPr>
          </p:sp>
          <p:sp>
            <p:nvSpPr>
              <p:cNvPr id="8" name="Freeform 8"/>
              <p:cNvSpPr/>
              <p:nvPr/>
            </p:nvSpPr>
            <p:spPr>
              <a:xfrm>
                <a:off x="800100" y="1666875"/>
                <a:ext cx="9525" cy="269876"/>
              </a:xfrm>
              <a:custGeom>
                <a:avLst/>
                <a:gdLst/>
                <a:ahLst/>
                <a:cxnLst/>
                <a:rect l="l" t="t" r="r" b="b"/>
                <a:pathLst>
                  <a:path w="9525" h="269876">
                    <a:moveTo>
                      <a:pt x="0" y="0"/>
                    </a:moveTo>
                    <a:lnTo>
                      <a:pt x="0" y="269876"/>
                    </a:lnTo>
                  </a:path>
                </a:pathLst>
              </a:custGeom>
              <a:noFill/>
              <a:ln w="31750">
                <a:solidFill>
                  <a:schemeClr val="accent3"/>
                </a:solidFill>
              </a:ln>
            </p:spPr>
          </p:sp>
          <p:sp>
            <p:nvSpPr>
              <p:cNvPr id="9" name="Freeform 9"/>
              <p:cNvSpPr/>
              <p:nvPr/>
            </p:nvSpPr>
            <p:spPr>
              <a:xfrm>
                <a:off x="657225" y="1714500"/>
                <a:ext cx="95250" cy="142875"/>
              </a:xfrm>
              <a:custGeom>
                <a:avLst/>
                <a:gdLst/>
                <a:ahLst/>
                <a:cxnLst/>
                <a:rect l="l" t="t" r="r" b="b"/>
                <a:pathLst>
                  <a:path w="95250" h="142875">
                    <a:moveTo>
                      <a:pt x="95250" y="95250"/>
                    </a:moveTo>
                    <a:lnTo>
                      <a:pt x="47625" y="0"/>
                    </a:lnTo>
                    <a:lnTo>
                      <a:pt x="0" y="95250"/>
                    </a:lnTo>
                    <a:cubicBezTo>
                      <a:pt x="0" y="121553"/>
                      <a:pt x="21322" y="142875"/>
                      <a:pt x="47625" y="142875"/>
                    </a:cubicBezTo>
                    <a:cubicBezTo>
                      <a:pt x="73928" y="142875"/>
                      <a:pt x="95250" y="121553"/>
                      <a:pt x="95250" y="95250"/>
                    </a:cubicBezTo>
                  </a:path>
                </a:pathLst>
              </a:custGeom>
              <a:noFill/>
              <a:ln w="31750">
                <a:solidFill>
                  <a:schemeClr val="accent3"/>
                </a:solidFill>
              </a:ln>
            </p:spPr>
          </p:sp>
          <p:sp>
            <p:nvSpPr>
              <p:cNvPr id="10" name="Freeform 10"/>
              <p:cNvSpPr/>
              <p:nvPr/>
            </p:nvSpPr>
            <p:spPr>
              <a:xfrm>
                <a:off x="847725" y="1714500"/>
                <a:ext cx="95250" cy="142875"/>
              </a:xfrm>
              <a:custGeom>
                <a:avLst/>
                <a:gdLst/>
                <a:ahLst/>
                <a:cxnLst/>
                <a:rect l="l" t="t" r="r" b="b"/>
                <a:pathLst>
                  <a:path w="95250" h="142875">
                    <a:moveTo>
                      <a:pt x="95250" y="95250"/>
                    </a:moveTo>
                    <a:lnTo>
                      <a:pt x="47625" y="0"/>
                    </a:lnTo>
                    <a:lnTo>
                      <a:pt x="0" y="95250"/>
                    </a:lnTo>
                    <a:cubicBezTo>
                      <a:pt x="0" y="121553"/>
                      <a:pt x="21322" y="142875"/>
                      <a:pt x="47625" y="142875"/>
                    </a:cubicBezTo>
                    <a:cubicBezTo>
                      <a:pt x="73928" y="142875"/>
                      <a:pt x="95250" y="121553"/>
                      <a:pt x="95250" y="95250"/>
                    </a:cubicBezTo>
                  </a:path>
                </a:pathLst>
              </a:custGeom>
              <a:noFill/>
              <a:ln w="31750">
                <a:solidFill>
                  <a:schemeClr val="accent3"/>
                </a:solidFill>
              </a:ln>
            </p:spPr>
          </p:sp>
        </p:grpSp>
        <p:sp>
          <p:nvSpPr>
            <p:cNvPr id="12" name="TextBox 12"/>
            <p:cNvSpPr txBox="1"/>
            <p:nvPr/>
          </p:nvSpPr>
          <p:spPr>
            <a:xfrm>
              <a:off x="597408" y="229362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常数基线</a:t>
              </a:r>
            </a:p>
          </p:txBody>
        </p:sp>
        <p:sp>
          <p:nvSpPr>
            <p:cNvPr id="13" name="Line 13"/>
            <p:cNvSpPr/>
            <p:nvPr/>
          </p:nvSpPr>
          <p:spPr>
            <a:xfrm>
              <a:off x="609600" y="276225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14" name="TextBox 14"/>
            <p:cNvSpPr txBox="1"/>
            <p:nvPr/>
          </p:nvSpPr>
          <p:spPr>
            <a:xfrm>
              <a:off x="602742" y="2997518"/>
              <a:ext cx="1840944"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低对比 GT 下，一张</a:t>
              </a:r>
              <a:br/>
              <a:r>
                <a:rPr lang="zh-CN" sz="1350" dirty="0">
                  <a:solidFill>
                    <a:schemeClr val="dk1"/>
                  </a:solidFill>
                  <a:latin typeface="+mn-lt"/>
                  <a:ea typeface="+mn-ea"/>
                  <a:cs typeface="+mn-cs"/>
                </a:rPr>
                <a:t>涂成 GT 均值的平坦图</a:t>
              </a:r>
              <a:br/>
              <a:r>
                <a:rPr lang="zh-CN" sz="1350" dirty="0">
                  <a:solidFill>
                    <a:schemeClr val="dk1"/>
                  </a:solidFill>
                  <a:latin typeface="+mn-lt"/>
                  <a:ea typeface="+mn-ea"/>
                  <a:cs typeface="+mn-cs"/>
                </a:rPr>
                <a:t xml:space="preserve">就能拿 </a:t>
              </a:r>
              <a:r>
                <a:rPr lang="en-US" sz="1350" b="1" dirty="0">
                  <a:solidFill>
                    <a:schemeClr val="accent3"/>
                  </a:solidFill>
                  <a:latin typeface="+mn-lt"/>
                  <a:ea typeface="+mn-ea"/>
                  <a:cs typeface="+mn-cs"/>
                </a:rPr>
                <a:t>17.68 dB</a:t>
              </a:r>
              <a:r>
                <a:rPr lang="zh-CN" sz="1350" dirty="0">
                  <a:solidFill>
                    <a:schemeClr val="dk1"/>
                  </a:solidFill>
                  <a:latin typeface="+mn-lt"/>
                  <a:ea typeface="+mn-ea"/>
                  <a:cs typeface="+mn-cs"/>
                </a:rPr>
                <a:t>。低档</a:t>
              </a:r>
              <a:br/>
              <a:r>
                <a:rPr lang="zh-CN" sz="1350" dirty="0">
                  <a:solidFill>
                    <a:schemeClr val="dk1"/>
                  </a:solidFill>
                  <a:latin typeface="+mn-lt"/>
                  <a:ea typeface="+mn-ea"/>
                  <a:cs typeface="+mn-cs"/>
                </a:rPr>
                <a:t>PSNR 必须并读基线。</a:t>
              </a:r>
            </a:p>
          </p:txBody>
        </p:sp>
      </p:grpSp>
      <p:grpSp>
        <p:nvGrpSpPr>
          <p:cNvPr id="23" name="trap-testset-sign"/>
          <p:cNvGrpSpPr/>
          <p:nvPr/>
        </p:nvGrpSpPr>
        <p:grpSpPr>
          <a:xfrm>
            <a:off x="4331208" y="1466850"/>
            <a:ext cx="3517392" cy="2537651"/>
            <a:chOff x="4331208" y="1466850"/>
            <a:chExt cx="3517392" cy="2537651"/>
          </a:xfrm>
        </p:grpSpPr>
        <p:sp>
          <p:nvSpPr>
            <p:cNvPr id="16" name="Rectangle 16"/>
            <p:cNvSpPr/>
            <p:nvPr/>
          </p:nvSpPr>
          <p:spPr>
            <a:xfrm>
              <a:off x="4343400" y="1466850"/>
              <a:ext cx="457200" cy="28575"/>
            </a:xfrm>
            <a:prstGeom prst="rect">
              <a:avLst/>
            </a:prstGeom>
            <a:solidFill>
              <a:schemeClr val="accent3"/>
            </a:solidFill>
            <a:ln>
              <a:noFill/>
            </a:ln>
          </p:spPr>
        </p:sp>
        <p:grpSp>
          <p:nvGrpSpPr>
            <p:cNvPr id="19" name="Group 19"/>
            <p:cNvGrpSpPr/>
            <p:nvPr/>
          </p:nvGrpSpPr>
          <p:grpSpPr>
            <a:xfrm>
              <a:off x="4406900" y="1714500"/>
              <a:ext cx="254001" cy="215901"/>
              <a:chOff x="4406900" y="1714500"/>
              <a:chExt cx="254001" cy="215901"/>
            </a:xfrm>
          </p:grpSpPr>
          <p:sp>
            <p:nvSpPr>
              <p:cNvPr id="17" name="Freeform 17"/>
              <p:cNvSpPr/>
              <p:nvPr/>
            </p:nvSpPr>
            <p:spPr>
              <a:xfrm>
                <a:off x="4406900" y="1920876"/>
                <a:ext cx="254001" cy="9525"/>
              </a:xfrm>
              <a:custGeom>
                <a:avLst/>
                <a:gdLst/>
                <a:ahLst/>
                <a:cxnLst/>
                <a:rect l="l" t="t" r="r" b="b"/>
                <a:pathLst>
                  <a:path w="254001" h="9525">
                    <a:moveTo>
                      <a:pt x="0" y="0"/>
                    </a:moveTo>
                    <a:lnTo>
                      <a:pt x="254001" y="0"/>
                    </a:lnTo>
                  </a:path>
                </a:pathLst>
              </a:custGeom>
              <a:noFill/>
              <a:ln w="31750">
                <a:solidFill>
                  <a:schemeClr val="accent3"/>
                </a:solidFill>
              </a:ln>
            </p:spPr>
          </p:sp>
          <p:sp>
            <p:nvSpPr>
              <p:cNvPr id="18" name="Freeform 18"/>
              <p:cNvSpPr/>
              <p:nvPr/>
            </p:nvSpPr>
            <p:spPr>
              <a:xfrm>
                <a:off x="4406900" y="1714500"/>
                <a:ext cx="254001" cy="142875"/>
              </a:xfrm>
              <a:custGeom>
                <a:avLst/>
                <a:gdLst/>
                <a:ahLst/>
                <a:cxnLst/>
                <a:rect l="l" t="t" r="r" b="b"/>
                <a:pathLst>
                  <a:path w="254001" h="142875">
                    <a:moveTo>
                      <a:pt x="0" y="142875"/>
                    </a:moveTo>
                    <a:lnTo>
                      <a:pt x="63500" y="47625"/>
                    </a:lnTo>
                    <a:lnTo>
                      <a:pt x="127000" y="79375"/>
                    </a:lnTo>
                    <a:lnTo>
                      <a:pt x="190500" y="0"/>
                    </a:lnTo>
                    <a:lnTo>
                      <a:pt x="254001" y="63500"/>
                    </a:lnTo>
                  </a:path>
                </a:pathLst>
              </a:custGeom>
              <a:noFill/>
              <a:ln w="31750">
                <a:solidFill>
                  <a:schemeClr val="accent3"/>
                </a:solidFill>
              </a:ln>
            </p:spPr>
          </p:sp>
        </p:grpSp>
        <p:sp>
          <p:nvSpPr>
            <p:cNvPr id="20" name="TextBox 20"/>
            <p:cNvSpPr txBox="1"/>
            <p:nvPr/>
          </p:nvSpPr>
          <p:spPr>
            <a:xfrm>
              <a:off x="4331208" y="229362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跟测试集走</a:t>
              </a:r>
            </a:p>
          </p:txBody>
        </p:sp>
        <p:sp>
          <p:nvSpPr>
            <p:cNvPr id="21" name="Line 21"/>
            <p:cNvSpPr/>
            <p:nvPr/>
          </p:nvSpPr>
          <p:spPr>
            <a:xfrm>
              <a:off x="4343400" y="276225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22" name="TextBox 22"/>
            <p:cNvSpPr txBox="1"/>
            <p:nvPr/>
          </p:nvSpPr>
          <p:spPr>
            <a:xfrm>
              <a:off x="4336542" y="2997518"/>
              <a:ext cx="2028254"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w 重加权在 v2.1 为负、</a:t>
              </a:r>
              <a:br/>
              <a:r>
                <a:rPr lang="zh-CN" sz="1350" dirty="0">
                  <a:solidFill>
                    <a:schemeClr val="dk1"/>
                  </a:solidFill>
                  <a:latin typeface="+mn-lt"/>
                  <a:ea typeface="+mn-ea"/>
                  <a:cs typeface="+mn-cs"/>
                </a:rPr>
                <a:t>在扩增集为正；R 偏差</a:t>
              </a:r>
              <a:br/>
              <a:r>
                <a:rPr lang="zh-CN" sz="1350" dirty="0">
                  <a:solidFill>
                    <a:schemeClr val="dk1"/>
                  </a:solidFill>
                  <a:latin typeface="+mn-lt"/>
                  <a:ea typeface="+mn-ea"/>
                  <a:cs typeface="+mn-cs"/>
                </a:rPr>
                <a:t>在 v2.1 偏亮、v23 偏暗。</a:t>
              </a:r>
              <a:br/>
              <a:r>
                <a:rPr lang="zh-CN" sz="1350" dirty="0">
                  <a:solidFill>
                    <a:schemeClr val="dk1"/>
                  </a:solidFill>
                  <a:latin typeface="+mn-lt"/>
                  <a:ea typeface="+mn-ea"/>
                  <a:cs typeface="+mn-cs"/>
                </a:rPr>
                <a:t>单集结论不可外推。</a:t>
              </a:r>
            </a:p>
          </p:txBody>
        </p:sp>
      </p:grpSp>
      <p:grpSp>
        <p:nvGrpSpPr>
          <p:cNvPr id="32" name="trap-noise-power"/>
          <p:cNvGrpSpPr/>
          <p:nvPr/>
        </p:nvGrpSpPr>
        <p:grpSpPr>
          <a:xfrm>
            <a:off x="8065008" y="1466850"/>
            <a:ext cx="3517392" cy="2537651"/>
            <a:chOff x="8065008" y="1466850"/>
            <a:chExt cx="3517392" cy="2537651"/>
          </a:xfrm>
        </p:grpSpPr>
        <p:sp>
          <p:nvSpPr>
            <p:cNvPr id="24" name="Rectangle 24"/>
            <p:cNvSpPr/>
            <p:nvPr/>
          </p:nvSpPr>
          <p:spPr>
            <a:xfrm>
              <a:off x="8077200" y="1466850"/>
              <a:ext cx="457200" cy="28575"/>
            </a:xfrm>
            <a:prstGeom prst="rect">
              <a:avLst/>
            </a:prstGeom>
            <a:solidFill>
              <a:schemeClr val="accent3"/>
            </a:solidFill>
            <a:ln>
              <a:noFill/>
            </a:ln>
          </p:spPr>
        </p:sp>
        <p:grpSp>
          <p:nvGrpSpPr>
            <p:cNvPr id="28" name="Group 28"/>
            <p:cNvGrpSpPr/>
            <p:nvPr/>
          </p:nvGrpSpPr>
          <p:grpSpPr>
            <a:xfrm>
              <a:off x="8107599" y="1661601"/>
              <a:ext cx="320191" cy="275086"/>
              <a:chOff x="8107599" y="1661601"/>
              <a:chExt cx="320191" cy="275086"/>
            </a:xfrm>
          </p:grpSpPr>
          <p:sp>
            <p:nvSpPr>
              <p:cNvPr id="25" name="Freeform 25"/>
              <p:cNvSpPr/>
              <p:nvPr/>
            </p:nvSpPr>
            <p:spPr>
              <a:xfrm>
                <a:off x="8267700" y="1762125"/>
                <a:ext cx="9525" cy="63500"/>
              </a:xfrm>
              <a:custGeom>
                <a:avLst/>
                <a:gdLst/>
                <a:ahLst/>
                <a:cxnLst/>
                <a:rect l="l" t="t" r="r" b="b"/>
                <a:pathLst>
                  <a:path w="9525" h="63500">
                    <a:moveTo>
                      <a:pt x="0" y="0"/>
                    </a:moveTo>
                    <a:lnTo>
                      <a:pt x="0" y="63500"/>
                    </a:lnTo>
                  </a:path>
                </a:pathLst>
              </a:custGeom>
              <a:noFill/>
              <a:ln w="31750">
                <a:solidFill>
                  <a:schemeClr val="accent3"/>
                </a:solidFill>
              </a:ln>
            </p:spPr>
          </p:sp>
          <p:sp>
            <p:nvSpPr>
              <p:cNvPr id="26" name="Freeform 26"/>
              <p:cNvSpPr/>
              <p:nvPr/>
            </p:nvSpPr>
            <p:spPr>
              <a:xfrm>
                <a:off x="8107599" y="1661601"/>
                <a:ext cx="320191" cy="275086"/>
              </a:xfrm>
              <a:custGeom>
                <a:avLst/>
                <a:gdLst/>
                <a:ahLst/>
                <a:cxnLst/>
                <a:rect l="l" t="t" r="r" b="b"/>
                <a:pathLst>
                  <a:path w="320191" h="275086">
                    <a:moveTo>
                      <a:pt x="134114" y="14656"/>
                    </a:moveTo>
                    <a:lnTo>
                      <a:pt x="5431" y="229509"/>
                    </a:lnTo>
                    <a:cubicBezTo>
                      <a:pt x="33" y="238857"/>
                      <a:pt x="0" y="250368"/>
                      <a:pt x="5345" y="259747"/>
                    </a:cubicBezTo>
                    <a:cubicBezTo>
                      <a:pt x="10689" y="269126"/>
                      <a:pt x="20608" y="274965"/>
                      <a:pt x="31403" y="275086"/>
                    </a:cubicBezTo>
                    <a:lnTo>
                      <a:pt x="288800" y="275086"/>
                    </a:lnTo>
                    <a:cubicBezTo>
                      <a:pt x="299590" y="274962"/>
                      <a:pt x="309504" y="269125"/>
                      <a:pt x="314847" y="259751"/>
                    </a:cubicBezTo>
                    <a:cubicBezTo>
                      <a:pt x="320191" y="250377"/>
                      <a:pt x="320162" y="238872"/>
                      <a:pt x="314772" y="229525"/>
                    </a:cubicBezTo>
                    <a:lnTo>
                      <a:pt x="186089" y="14640"/>
                    </a:lnTo>
                    <a:cubicBezTo>
                      <a:pt x="180583" y="5552"/>
                      <a:pt x="170728" y="0"/>
                      <a:pt x="160102" y="0"/>
                    </a:cubicBezTo>
                    <a:cubicBezTo>
                      <a:pt x="149475" y="0"/>
                      <a:pt x="139620" y="5552"/>
                      <a:pt x="134114" y="14640"/>
                    </a:cubicBezTo>
                  </a:path>
                </a:pathLst>
              </a:custGeom>
              <a:noFill/>
              <a:ln w="31750">
                <a:solidFill>
                  <a:schemeClr val="accent3"/>
                </a:solidFill>
              </a:ln>
            </p:spPr>
          </p:sp>
          <p:sp>
            <p:nvSpPr>
              <p:cNvPr id="27" name="Freeform 27"/>
              <p:cNvSpPr/>
              <p:nvPr/>
            </p:nvSpPr>
            <p:spPr>
              <a:xfrm>
                <a:off x="8267700" y="1873251"/>
                <a:ext cx="9525" cy="9525"/>
              </a:xfrm>
              <a:custGeom>
                <a:avLst/>
                <a:gdLst/>
                <a:ahLst/>
                <a:cxnLst/>
                <a:rect l="l" t="t" r="r" b="b"/>
                <a:pathLst>
                  <a:path w="9525" h="9525">
                    <a:moveTo>
                      <a:pt x="0" y="0"/>
                    </a:moveTo>
                    <a:lnTo>
                      <a:pt x="159" y="0"/>
                    </a:lnTo>
                  </a:path>
                </a:pathLst>
              </a:custGeom>
              <a:noFill/>
              <a:ln w="31750">
                <a:solidFill>
                  <a:schemeClr val="accent3"/>
                </a:solidFill>
              </a:ln>
            </p:spPr>
          </p:sp>
        </p:grpSp>
        <p:sp>
          <p:nvSpPr>
            <p:cNvPr id="29" name="TextBox 29"/>
            <p:cNvSpPr txBox="1"/>
            <p:nvPr/>
          </p:nvSpPr>
          <p:spPr>
            <a:xfrm>
              <a:off x="8065008" y="229362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噪声同量级</a:t>
              </a:r>
            </a:p>
          </p:txBody>
        </p:sp>
        <p:sp>
          <p:nvSpPr>
            <p:cNvPr id="30" name="Line 30"/>
            <p:cNvSpPr/>
            <p:nvPr/>
          </p:nvSpPr>
          <p:spPr>
            <a:xfrm>
              <a:off x="8077200" y="276225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31" name="TextBox 31"/>
            <p:cNvSpPr txBox="1"/>
            <p:nvPr/>
          </p:nvSpPr>
          <p:spPr>
            <a:xfrm>
              <a:off x="8070342" y="2997518"/>
              <a:ext cx="1822514"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seed 极差</a:t>
              </a:r>
              <a:br/>
              <a:r>
                <a:rPr lang="zh-CN" sz="1350" dirty="0">
                  <a:solidFill>
                    <a:schemeClr val="dk1"/>
                  </a:solidFill>
                  <a:latin typeface="+mn-lt"/>
                  <a:ea typeface="+mn-ea"/>
                  <a:cs typeface="+mn-cs"/>
                </a:rPr>
                <a:t>0.4–0.6 dB 与判据门槛</a:t>
              </a:r>
              <a:br/>
              <a:r>
                <a:rPr lang="zh-CN" sz="1350" dirty="0">
                  <a:solidFill>
                    <a:schemeClr val="dk1"/>
                  </a:solidFill>
                  <a:latin typeface="+mn-lt"/>
                  <a:ea typeface="+mn-ea"/>
                  <a:cs typeface="+mn-cs"/>
                </a:rPr>
                <a:t>同量级；一律配对检验</a:t>
              </a:r>
              <a:br/>
              <a:r>
                <a:rPr lang="zh-CN" sz="1350" dirty="0">
                  <a:solidFill>
                    <a:schemeClr val="dk1"/>
                  </a:solidFill>
                  <a:latin typeface="+mn-lt"/>
                  <a:ea typeface="+mn-ea"/>
                  <a:cs typeface="+mn-cs"/>
                </a:rPr>
                <a:t>+ 场景聚类 95% CI。</a:t>
              </a:r>
            </a:p>
          </p:txBody>
        </p:sp>
      </p:grpSp>
      <p:grpSp>
        <p:nvGrpSpPr>
          <p:cNvPr id="36" name="traps-takeaway"/>
          <p:cNvGrpSpPr/>
          <p:nvPr/>
        </p:nvGrpSpPr>
        <p:grpSpPr>
          <a:xfrm>
            <a:off x="600456" y="4400550"/>
            <a:ext cx="10981944" cy="1185101"/>
            <a:chOff x="600456" y="4400550"/>
            <a:chExt cx="10981944" cy="1185101"/>
          </a:xfrm>
        </p:grpSpPr>
        <p:sp>
          <p:nvSpPr>
            <p:cNvPr id="33" name="Line 33"/>
            <p:cNvSpPr/>
            <p:nvPr/>
          </p:nvSpPr>
          <p:spPr>
            <a:xfrm>
              <a:off x="609600" y="4400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4" name="TextBox 34"/>
            <p:cNvSpPr txBox="1"/>
            <p:nvPr/>
          </p:nvSpPr>
          <p:spPr>
            <a:xfrm>
              <a:off x="600456" y="464439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口径先于结论</a:t>
              </a:r>
            </a:p>
          </p:txBody>
        </p:sp>
        <p:sp>
          <p:nvSpPr>
            <p:cNvPr id="35" name="TextBox 35"/>
            <p:cNvSpPr txBox="1"/>
            <p:nvPr/>
          </p:nvSpPr>
          <p:spPr>
            <a:xfrm>
              <a:off x="602742" y="5054918"/>
              <a:ext cx="429996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每一个数字旁边，都要站着它的基线、测试集与不确定性</a:t>
              </a:r>
              <a:br/>
              <a:r>
                <a:rPr lang="zh-CN" sz="1350" dirty="0">
                  <a:solidFill>
                    <a:schemeClr val="dk1"/>
                  </a:solidFill>
                  <a:latin typeface="+mn-lt"/>
                  <a:ea typeface="+mn-ea"/>
                  <a:cs typeface="+mn-cs"/>
                </a:rPr>
                <a:t>三条均已固化为流程护栏，写进每一轮实验的准入检查</a:t>
              </a:r>
            </a:p>
          </p:txBody>
        </p:sp>
      </p:grpSp>
      <p:grpSp>
        <p:nvGrpSpPr>
          <p:cNvPr id="39" name="page-footer"/>
          <p:cNvGrpSpPr/>
          <p:nvPr/>
        </p:nvGrpSpPr>
        <p:grpSpPr>
          <a:xfrm>
            <a:off x="603504" y="6252210"/>
            <a:ext cx="10984992" cy="234696"/>
            <a:chOff x="603504" y="6252210"/>
            <a:chExt cx="10984992" cy="234696"/>
          </a:xfrm>
        </p:grpSpPr>
        <p:sp>
          <p:nvSpPr>
            <p:cNvPr id="37" name="TextBox 37"/>
            <p:cNvSpPr txBox="1"/>
            <p:nvPr/>
          </p:nvSpPr>
          <p:spPr>
            <a:xfrm>
              <a:off x="603504" y="6252210"/>
              <a:ext cx="405079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三个陷阱各自对应一次本项目的真实翻转，不是假想风险</a:t>
              </a:r>
            </a:p>
          </p:txBody>
        </p:sp>
        <p:sp>
          <p:nvSpPr>
            <p:cNvPr id="38" name="TextBox 38"/>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 / 17</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8220627"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域适配把 α = 0.3 档从 12.05 拉到 18.5 dB</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8" name="p08-kpi"/>
          <p:cNvGrpSpPr/>
          <p:nvPr/>
        </p:nvGrpSpPr>
        <p:grpSpPr>
          <a:xfrm>
            <a:off x="593598" y="1447800"/>
            <a:ext cx="9194521" cy="1451801"/>
            <a:chOff x="593598" y="1447800"/>
            <a:chExt cx="9194521" cy="1451801"/>
          </a:xfrm>
        </p:grpSpPr>
        <p:sp>
          <p:nvSpPr>
            <p:cNvPr id="5" name="Line 5"/>
            <p:cNvSpPr/>
            <p:nvPr/>
          </p:nvSpPr>
          <p:spPr>
            <a:xfrm>
              <a:off x="3124200" y="1447800"/>
              <a:ext cx="9525" cy="1104900"/>
            </a:xfrm>
            <a:custGeom>
              <a:avLst/>
              <a:gdLst/>
              <a:ahLst/>
              <a:cxnLst/>
              <a:rect l="l" t="t" r="r" b="b"/>
              <a:pathLst>
                <a:path w="9525" h="1104900">
                  <a:moveTo>
                    <a:pt x="0" y="0"/>
                  </a:moveTo>
                  <a:lnTo>
                    <a:pt x="0" y="1104900"/>
                  </a:lnTo>
                </a:path>
              </a:pathLst>
            </a:custGeom>
            <a:noFill/>
            <a:ln w="9525">
              <a:solidFill>
                <a:schemeClr val="accent6"/>
              </a:solidFill>
            </a:ln>
          </p:spPr>
        </p:sp>
        <p:sp>
          <p:nvSpPr>
            <p:cNvPr id="6" name="Line 6"/>
            <p:cNvSpPr/>
            <p:nvPr/>
          </p:nvSpPr>
          <p:spPr>
            <a:xfrm>
              <a:off x="5867400" y="1447800"/>
              <a:ext cx="9525" cy="1104900"/>
            </a:xfrm>
            <a:custGeom>
              <a:avLst/>
              <a:gdLst/>
              <a:ahLst/>
              <a:cxnLst/>
              <a:rect l="l" t="t" r="r" b="b"/>
              <a:pathLst>
                <a:path w="9525" h="1104900">
                  <a:moveTo>
                    <a:pt x="0" y="0"/>
                  </a:moveTo>
                  <a:lnTo>
                    <a:pt x="0" y="1104900"/>
                  </a:lnTo>
                </a:path>
              </a:pathLst>
            </a:custGeom>
            <a:noFill/>
            <a:ln w="9525">
              <a:solidFill>
                <a:schemeClr val="accent6"/>
              </a:solidFill>
            </a:ln>
          </p:spPr>
        </p:sp>
        <p:sp>
          <p:nvSpPr>
            <p:cNvPr id="7" name="Line 7"/>
            <p:cNvSpPr/>
            <p:nvPr/>
          </p:nvSpPr>
          <p:spPr>
            <a:xfrm>
              <a:off x="8610600" y="1447800"/>
              <a:ext cx="9525" cy="1104900"/>
            </a:xfrm>
            <a:custGeom>
              <a:avLst/>
              <a:gdLst/>
              <a:ahLst/>
              <a:cxnLst/>
              <a:rect l="l" t="t" r="r" b="b"/>
              <a:pathLst>
                <a:path w="9525" h="1104900">
                  <a:moveTo>
                    <a:pt x="0" y="0"/>
                  </a:moveTo>
                  <a:lnTo>
                    <a:pt x="0" y="1104900"/>
                  </a:lnTo>
                </a:path>
              </a:pathLst>
            </a:custGeom>
            <a:noFill/>
            <a:ln w="9525">
              <a:solidFill>
                <a:schemeClr val="accent6"/>
              </a:solidFill>
            </a:ln>
          </p:spPr>
        </p:sp>
        <p:sp>
          <p:nvSpPr>
            <p:cNvPr id="8" name="TextBox 8"/>
            <p:cNvSpPr txBox="1"/>
            <p:nvPr/>
          </p:nvSpPr>
          <p:spPr>
            <a:xfrm>
              <a:off x="602742" y="1606868"/>
              <a:ext cx="164934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零样本（官方权重）</a:t>
              </a:r>
            </a:p>
          </p:txBody>
        </p:sp>
        <p:sp>
          <p:nvSpPr>
            <p:cNvPr id="9" name="TextBox 9"/>
            <p:cNvSpPr txBox="1"/>
            <p:nvPr/>
          </p:nvSpPr>
          <p:spPr>
            <a:xfrm>
              <a:off x="593598" y="2003108"/>
              <a:ext cx="1198150" cy="616077"/>
            </a:xfrm>
            <a:prstGeom prst="rect">
              <a:avLst/>
            </a:prstGeom>
            <a:noFill/>
            <a:ln>
              <a:noFill/>
            </a:ln>
          </p:spPr>
          <p:txBody>
            <a:bodyPr wrap="none" lIns="0" tIns="0" rIns="0" bIns="0" anchor="t" anchorCtr="0">
              <a:spAutoFit/>
            </a:bodyPr>
            <a:lstStyle/>
            <a:p>
              <a:pPr algn="l"/>
              <a:r>
                <a:rPr lang="zh-CN" sz="3150" dirty="0">
                  <a:solidFill>
                    <a:srgbClr val="8A9099"/>
                  </a:solidFill>
                  <a:latin typeface="+mn-lt"/>
                  <a:ea typeface="+mn-ea"/>
                  <a:cs typeface="+mn-cs"/>
                </a:rPr>
                <a:t>12.05</a:t>
              </a:r>
            </a:p>
          </p:txBody>
        </p:sp>
        <p:sp>
          <p:nvSpPr>
            <p:cNvPr id="10" name="TextBox 10"/>
            <p:cNvSpPr txBox="1"/>
            <p:nvPr/>
          </p:nvSpPr>
          <p:spPr>
            <a:xfrm>
              <a:off x="3345942" y="1606868"/>
              <a:ext cx="164934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域适配后（主结果）</a:t>
              </a:r>
            </a:p>
          </p:txBody>
        </p:sp>
        <p:sp>
          <p:nvSpPr>
            <p:cNvPr id="11" name="TextBox 11"/>
            <p:cNvSpPr txBox="1"/>
            <p:nvPr/>
          </p:nvSpPr>
          <p:spPr>
            <a:xfrm>
              <a:off x="3336798" y="2003108"/>
              <a:ext cx="1011566"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mn-lt"/>
                  <a:ea typeface="+mn-ea"/>
                  <a:cs typeface="+mn-cs"/>
                </a:rPr>
                <a:t>18.5</a:t>
              </a:r>
            </a:p>
          </p:txBody>
        </p:sp>
        <p:sp>
          <p:nvSpPr>
            <p:cNvPr id="12" name="TextBox 12"/>
            <p:cNvSpPr txBox="1"/>
            <p:nvPr/>
          </p:nvSpPr>
          <p:spPr>
            <a:xfrm>
              <a:off x="4469892" y="2197418"/>
              <a:ext cx="68648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+6.4 dB</a:t>
              </a:r>
            </a:p>
          </p:txBody>
        </p:sp>
        <p:sp>
          <p:nvSpPr>
            <p:cNvPr id="13" name="TextBox 13"/>
            <p:cNvSpPr txBox="1"/>
            <p:nvPr/>
          </p:nvSpPr>
          <p:spPr>
            <a:xfrm>
              <a:off x="6089142" y="1606868"/>
              <a:ext cx="8587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α = 0.6 档</a:t>
              </a:r>
            </a:p>
          </p:txBody>
        </p:sp>
        <p:sp>
          <p:nvSpPr>
            <p:cNvPr id="14" name="TextBox 14"/>
            <p:cNvSpPr txBox="1"/>
            <p:nvPr/>
          </p:nvSpPr>
          <p:spPr>
            <a:xfrm>
              <a:off x="6079998" y="2003108"/>
              <a:ext cx="96492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19.7</a:t>
              </a:r>
            </a:p>
          </p:txBody>
        </p:sp>
        <p:sp>
          <p:nvSpPr>
            <p:cNvPr id="15" name="TextBox 15"/>
            <p:cNvSpPr txBox="1"/>
            <p:nvPr/>
          </p:nvSpPr>
          <p:spPr>
            <a:xfrm>
              <a:off x="8832342" y="1606868"/>
              <a:ext cx="8587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α = 1.0 档</a:t>
              </a:r>
            </a:p>
          </p:txBody>
        </p:sp>
        <p:sp>
          <p:nvSpPr>
            <p:cNvPr id="16" name="TextBox 16"/>
            <p:cNvSpPr txBox="1"/>
            <p:nvPr/>
          </p:nvSpPr>
          <p:spPr>
            <a:xfrm>
              <a:off x="8823198" y="2003108"/>
              <a:ext cx="96492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19.7</a:t>
              </a:r>
            </a:p>
          </p:txBody>
        </p:sp>
        <p:sp>
          <p:nvSpPr>
            <p:cNvPr id="17" name="TextBox 17"/>
            <p:cNvSpPr txBox="1"/>
            <p:nvPr/>
          </p:nvSpPr>
          <p:spPr>
            <a:xfrm>
              <a:off x="602742" y="2635568"/>
              <a:ext cx="641585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 xml:space="preserve">方法：冻主干 + 30k iter 域适配微调 + 干净数据管线 ｜ 结构相关 </a:t>
              </a:r>
              <a:r>
                <a:rPr lang="zh-CN" sz="1350" b="1" dirty="0">
                  <a:solidFill>
                    <a:schemeClr val="accent2"/>
                  </a:solidFill>
                  <a:latin typeface="+mn-lt"/>
                  <a:ea typeface="+mn-ea"/>
                  <a:cs typeface="+mn-cs"/>
                </a:rPr>
                <a:t>0.26 → 0.63</a:t>
              </a:r>
            </a:p>
          </p:txBody>
        </p:sp>
      </p:grpSp>
      <p:grpSp>
        <p:nvGrpSpPr>
          <p:cNvPr id="20" name="p08-evidence"/>
          <p:cNvGrpSpPr/>
          <p:nvPr/>
        </p:nvGrpSpPr>
        <p:grpSpPr>
          <a:xfrm>
            <a:off x="1352550" y="3067050"/>
            <a:ext cx="9477375" cy="3028950"/>
            <a:chOff x="1352550" y="3067050"/>
            <a:chExt cx="9477375" cy="3028950"/>
          </a:xfrm>
        </p:grpSpPr>
        <p:pic>
          <p:nvPicPr>
            <p:cNvPr id="19" name="Image 19"/>
            <p:cNvPicPr>
              <a:picLocks noChangeAspect="1"/>
            </p:cNvPicPr>
            <p:nvPr/>
          </p:nvPicPr>
          <p:blipFill>
            <a:blip r:embed="rId2"/>
            <a:stretch>
              <a:fillRect/>
            </a:stretch>
          </p:blipFill>
          <p:spPr>
            <a:xfrm>
              <a:off x="1352550" y="3067050"/>
              <a:ext cx="9477375" cy="3028950"/>
            </a:xfrm>
            <a:prstGeom prst="rect">
              <a:avLst/>
            </a:prstGeom>
          </p:spPr>
        </p:pic>
      </p:grpSp>
      <p:grpSp>
        <p:nvGrpSpPr>
          <p:cNvPr id="23" name="page-footer"/>
          <p:cNvGrpSpPr/>
          <p:nvPr/>
        </p:nvGrpSpPr>
        <p:grpSpPr>
          <a:xfrm>
            <a:off x="603504" y="6252210"/>
            <a:ext cx="10984992" cy="234696"/>
            <a:chOff x="603504" y="6252210"/>
            <a:chExt cx="10984992" cy="234696"/>
          </a:xfrm>
        </p:grpSpPr>
        <p:sp>
          <p:nvSpPr>
            <p:cNvPr id="21" name="TextBox 21"/>
            <p:cNvSpPr txBox="1"/>
            <p:nvPr/>
          </p:nvSpPr>
          <p:spPr>
            <a:xfrm>
              <a:off x="603504" y="6252210"/>
              <a:ext cx="814280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fig/rdt_s1_v21_t_alpha03.png · 六列对照（输入 / GT / 零样本 / pilot / 域适配），四臂 18.3–18.7 dB</a:t>
              </a:r>
            </a:p>
          </p:txBody>
        </p:sp>
        <p:sp>
          <p:nvSpPr>
            <p:cNvPr id="22" name="TextBox 22"/>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 / 17</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6456407"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低 α 专支：增益与代价分别落在哪</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6" name="p09-curve"/>
          <p:cNvGrpSpPr/>
          <p:nvPr/>
        </p:nvGrpSpPr>
        <p:grpSpPr>
          <a:xfrm>
            <a:off x="609600" y="1428750"/>
            <a:ext cx="5905500" cy="3810000"/>
            <a:chOff x="609600" y="1428750"/>
            <a:chExt cx="5905500" cy="3810000"/>
          </a:xfrm>
        </p:grpSpPr>
        <p:pic>
          <p:nvPicPr>
            <p:cNvPr id="5" name="Image 5"/>
            <p:cNvPicPr>
              <a:picLocks noChangeAspect="1"/>
            </p:cNvPicPr>
            <p:nvPr/>
          </p:nvPicPr>
          <p:blipFill>
            <a:blip r:embed="rId2"/>
            <a:stretch>
              <a:fillRect/>
            </a:stretch>
          </p:blipFill>
          <p:spPr>
            <a:xfrm>
              <a:off x="609600" y="1428750"/>
              <a:ext cx="5905500" cy="3810000"/>
            </a:xfrm>
            <a:prstGeom prst="rect">
              <a:avLst/>
            </a:prstGeom>
          </p:spPr>
        </p:pic>
      </p:grpSp>
      <p:grpSp>
        <p:nvGrpSpPr>
          <p:cNvPr id="15" name="p09-numbers"/>
          <p:cNvGrpSpPr/>
          <p:nvPr/>
        </p:nvGrpSpPr>
        <p:grpSpPr>
          <a:xfrm>
            <a:off x="6848856" y="1577340"/>
            <a:ext cx="4733544" cy="4217861"/>
            <a:chOff x="6848856" y="1577340"/>
            <a:chExt cx="4733544" cy="4217861"/>
          </a:xfrm>
        </p:grpSpPr>
        <p:sp>
          <p:nvSpPr>
            <p:cNvPr id="7" name="TextBox 7"/>
            <p:cNvSpPr txBox="1"/>
            <p:nvPr/>
          </p:nvSpPr>
          <p:spPr>
            <a:xfrm>
              <a:off x="6848856" y="1577340"/>
              <a:ext cx="350885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扩增集（48 场景，leak-free）</a:t>
              </a:r>
            </a:p>
          </p:txBody>
        </p:sp>
        <p:sp>
          <p:nvSpPr>
            <p:cNvPr id="8" name="TextBox 8"/>
            <p:cNvSpPr txBox="1"/>
            <p:nvPr/>
          </p:nvSpPr>
          <p:spPr>
            <a:xfrm>
              <a:off x="6851142" y="1949768"/>
              <a:ext cx="2774061" cy="12546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α = 0.05：+1.31　[+0.93, +1.69]</a:t>
              </a:r>
              <a:br/>
              <a:r>
                <a:rPr lang="zh-CN" sz="1350" dirty="0">
                  <a:solidFill>
                    <a:schemeClr val="dk1"/>
                  </a:solidFill>
                  <a:latin typeface="+mn-lt"/>
                  <a:ea typeface="+mn-ea"/>
                  <a:cs typeface="+mn-cs"/>
                </a:rPr>
                <a:t>α = 0.1 ：</a:t>
              </a:r>
              <a:r>
                <a:rPr lang="zh-CN" sz="1350" b="1" dirty="0">
                  <a:solidFill>
                    <a:schemeClr val="accent2"/>
                  </a:solidFill>
                  <a:latin typeface="+mn-lt"/>
                  <a:ea typeface="+mn-ea"/>
                  <a:cs typeface="+mn-cs"/>
                </a:rPr>
                <a:t>+1.75</a:t>
              </a:r>
              <a:r>
                <a:rPr lang="zh-CN" sz="1350" dirty="0">
                  <a:solidFill>
                    <a:schemeClr val="dk1"/>
                  </a:solidFill>
                  <a:latin typeface="+mn-lt"/>
                  <a:ea typeface="+mn-ea"/>
                  <a:cs typeface="+mn-cs"/>
                </a:rPr>
                <a:t xml:space="preserve">　[+1.18, +2.26]</a:t>
              </a:r>
              <a:br/>
              <a:r>
                <a:rPr lang="zh-CN" sz="1350" dirty="0">
                  <a:solidFill>
                    <a:schemeClr val="dk1"/>
                  </a:solidFill>
                  <a:latin typeface="+mn-lt"/>
                  <a:ea typeface="+mn-ea"/>
                  <a:cs typeface="+mn-cs"/>
                </a:rPr>
                <a:t>α = 0.2 ：+1.09　[+0.55, +1.64]</a:t>
              </a:r>
              <a:br/>
              <a:r>
                <a:rPr lang="zh-CN" sz="1350" dirty="0">
                  <a:solidFill>
                    <a:schemeClr val="dk1"/>
                  </a:solidFill>
                  <a:latin typeface="+mn-lt"/>
                  <a:ea typeface="+mn-ea"/>
                  <a:cs typeface="+mn-cs"/>
                </a:rPr>
                <a:t>α = 0.3 ：</a:t>
              </a:r>
              <a:r>
                <a:rPr lang="zh-CN" sz="1350" b="1" dirty="0">
                  <a:solidFill>
                    <a:schemeClr val="accent3"/>
                  </a:solidFill>
                  <a:latin typeface="+mn-lt"/>
                  <a:ea typeface="+mn-ea"/>
                  <a:cs typeface="+mn-cs"/>
                </a:rPr>
                <a:t>+0.52</a:t>
              </a:r>
              <a:r>
                <a:rPr lang="zh-CN" sz="1350" dirty="0">
                  <a:solidFill>
                    <a:schemeClr val="dk1"/>
                  </a:solidFill>
                  <a:latin typeface="+mn-lt"/>
                  <a:ea typeface="+mn-ea"/>
                  <a:cs typeface="+mn-cs"/>
                </a:rPr>
                <a:t xml:space="preserve">　[+0.06, +0.99]</a:t>
              </a:r>
              <a:br/>
              <a:r>
                <a:rPr lang="zh-CN" sz="1350" dirty="0">
                  <a:solidFill>
                    <a:schemeClr val="dk1"/>
                  </a:solidFill>
                  <a:latin typeface="+mn-lt"/>
                  <a:ea typeface="+mn-ea"/>
                  <a:cs typeface="+mn-cs"/>
                </a:rPr>
                <a:t>α = 1.0 ：−0.36　[−0.79, +0.08]</a:t>
              </a:r>
            </a:p>
          </p:txBody>
        </p:sp>
        <p:sp>
          <p:nvSpPr>
            <p:cNvPr id="9" name="Line 9"/>
            <p:cNvSpPr/>
            <p:nvPr/>
          </p:nvSpPr>
          <p:spPr>
            <a:xfrm>
              <a:off x="6858000" y="335280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0" name="TextBox 10"/>
            <p:cNvSpPr txBox="1"/>
            <p:nvPr/>
          </p:nvSpPr>
          <p:spPr>
            <a:xfrm>
              <a:off x="6848856" y="3501390"/>
              <a:ext cx="263045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代价（v2.1，12 场景）</a:t>
              </a:r>
            </a:p>
          </p:txBody>
        </p:sp>
        <p:sp>
          <p:nvSpPr>
            <p:cNvPr id="11" name="TextBox 11"/>
            <p:cNvSpPr txBox="1"/>
            <p:nvPr/>
          </p:nvSpPr>
          <p:spPr>
            <a:xfrm>
              <a:off x="6851142" y="3873818"/>
              <a:ext cx="303123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v2.1：α = 0.6 / 1.0 档 −1.75 / −0.94</a:t>
              </a:r>
              <a:br/>
              <a:r>
                <a:rPr lang="zh-CN" sz="1350" dirty="0">
                  <a:solidFill>
                    <a:schemeClr val="dk1"/>
                  </a:solidFill>
                  <a:latin typeface="+mn-lt"/>
                  <a:ea typeface="+mn-ea"/>
                  <a:cs typeface="+mn-cs"/>
                </a:rPr>
                <a:t>代价量级只在 v2.1，两集不可直接换算</a:t>
              </a:r>
            </a:p>
          </p:txBody>
        </p:sp>
        <p:sp>
          <p:nvSpPr>
            <p:cNvPr id="12" name="Line 12"/>
            <p:cNvSpPr/>
            <p:nvPr/>
          </p:nvSpPr>
          <p:spPr>
            <a:xfrm>
              <a:off x="6858000" y="451485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3" name="TextBox 13"/>
            <p:cNvSpPr txBox="1"/>
            <p:nvPr/>
          </p:nvSpPr>
          <p:spPr>
            <a:xfrm>
              <a:off x="6848856" y="46634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定位</a:t>
              </a:r>
            </a:p>
          </p:txBody>
        </p:sp>
        <p:sp>
          <p:nvSpPr>
            <p:cNvPr id="14" name="TextBox 14"/>
            <p:cNvSpPr txBox="1"/>
            <p:nvPr/>
          </p:nvSpPr>
          <p:spPr>
            <a:xfrm>
              <a:off x="6851142" y="5035868"/>
              <a:ext cx="3639883"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这不是独立增益，而是把工作点往低 α 搬的旋钮</a:t>
              </a:r>
              <a:br/>
              <a:r>
                <a:rPr lang="zh-CN" sz="1350" dirty="0">
                  <a:solidFill>
                    <a:schemeClr val="dk1"/>
                  </a:solidFill>
                  <a:latin typeface="+mn-lt"/>
                  <a:ea typeface="+mn-ea"/>
                  <a:cs typeface="+mn-cs"/>
                </a:rPr>
                <a:t>价值主要在 0.2 档及以下；0.3 档已贴线</a:t>
              </a:r>
              <a:br/>
              <a:r>
                <a:rPr lang="zh-CN" sz="1350" dirty="0">
                  <a:solidFill>
                    <a:schemeClr val="dk1"/>
                  </a:solidFill>
                  <a:latin typeface="+mn-lt"/>
                  <a:ea typeface="+mn-ea"/>
                  <a:cs typeface="+mn-cs"/>
                </a:rPr>
                <a:t>定位：低 α 专支，与主臂分工，不作替代</a:t>
              </a:r>
            </a:p>
          </p:txBody>
        </p:sp>
      </p:grpSp>
      <p:grpSp>
        <p:nvGrpSpPr>
          <p:cNvPr id="18" name="page-footer"/>
          <p:cNvGrpSpPr/>
          <p:nvPr/>
        </p:nvGrpSpPr>
        <p:grpSpPr>
          <a:xfrm>
            <a:off x="603504" y="6252210"/>
            <a:ext cx="10984992" cy="234696"/>
            <a:chOff x="603504" y="6252210"/>
            <a:chExt cx="10984992" cy="234696"/>
          </a:xfrm>
        </p:grpSpPr>
        <p:sp>
          <p:nvSpPr>
            <p:cNvPr id="16" name="TextBox 16"/>
            <p:cNvSpPr txBox="1"/>
            <p:nvPr/>
          </p:nvSpPr>
          <p:spPr>
            <a:xfrm>
              <a:off x="603504" y="6252210"/>
              <a:ext cx="459538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eval/ · Δ = freeze − plain，raw PSNR，场景聚类 95% CI</a:t>
              </a:r>
            </a:p>
          </p:txBody>
        </p:sp>
        <p:sp>
          <p:nvSpPr>
            <p:cNvPr id="17" name="TextBox 17"/>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 / 17</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808901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可辨识性地图：天花板在哪，我们卡在哪级</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6" name="p10-chart"/>
          <p:cNvGrpSpPr/>
          <p:nvPr/>
        </p:nvGrpSpPr>
        <p:grpSpPr>
          <a:xfrm>
            <a:off x="609600" y="1428750"/>
            <a:ext cx="5905500" cy="4045268"/>
            <a:chOff x="609600" y="1428750"/>
            <a:chExt cx="5905500" cy="4045268"/>
          </a:xfrm>
        </p:grpSpPr>
        <p:pic>
          <p:nvPicPr>
            <p:cNvPr id="5" name="Image 5"/>
            <p:cNvPicPr>
              <a:picLocks noChangeAspect="1"/>
            </p:cNvPicPr>
            <p:nvPr/>
          </p:nvPicPr>
          <p:blipFill>
            <a:blip r:embed="rId2"/>
            <a:stretch>
              <a:fillRect/>
            </a:stretch>
          </p:blipFill>
          <p:spPr>
            <a:xfrm>
              <a:off x="609600" y="1428750"/>
              <a:ext cx="5905500" cy="4045268"/>
            </a:xfrm>
            <a:prstGeom prst="rect">
              <a:avLst/>
            </a:prstGeom>
          </p:spPr>
        </p:pic>
      </p:grpSp>
      <p:grpSp>
        <p:nvGrpSpPr>
          <p:cNvPr id="21" name="p10-ladder"/>
          <p:cNvGrpSpPr/>
          <p:nvPr/>
        </p:nvGrpSpPr>
        <p:grpSpPr>
          <a:xfrm>
            <a:off x="6846570" y="1600200"/>
            <a:ext cx="4735830" cy="4271201"/>
            <a:chOff x="6846570" y="1600200"/>
            <a:chExt cx="4735830" cy="4271201"/>
          </a:xfrm>
        </p:grpSpPr>
        <p:sp>
          <p:nvSpPr>
            <p:cNvPr id="7" name="Rectangle 7"/>
            <p:cNvSpPr/>
            <p:nvPr/>
          </p:nvSpPr>
          <p:spPr>
            <a:xfrm>
              <a:off x="6858000" y="1600200"/>
              <a:ext cx="190500" cy="190500"/>
            </a:xfrm>
            <a:prstGeom prst="rect">
              <a:avLst/>
            </a:prstGeom>
            <a:solidFill>
              <a:srgbClr val="8A9099"/>
            </a:solidFill>
            <a:ln>
              <a:noFill/>
            </a:ln>
          </p:spPr>
        </p:sp>
        <p:sp>
          <p:nvSpPr>
            <p:cNvPr id="8" name="TextBox 8"/>
            <p:cNvSpPr txBox="1"/>
            <p:nvPr/>
          </p:nvSpPr>
          <p:spPr>
            <a:xfrm>
              <a:off x="7194042" y="1606868"/>
              <a:ext cx="218787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真值天花板（真 R / 真 α）</a:t>
              </a:r>
            </a:p>
          </p:txBody>
        </p:sp>
        <p:sp>
          <p:nvSpPr>
            <p:cNvPr id="9" name="TextBox 9"/>
            <p:cNvSpPr txBox="1"/>
            <p:nvPr/>
          </p:nvSpPr>
          <p:spPr>
            <a:xfrm>
              <a:off x="6846570" y="1871662"/>
              <a:ext cx="2718626"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30.7 / 34.1 / 34.9</a:t>
              </a:r>
            </a:p>
          </p:txBody>
        </p:sp>
        <p:sp>
          <p:nvSpPr>
            <p:cNvPr id="10" name="Rectangle 10"/>
            <p:cNvSpPr/>
            <p:nvPr/>
          </p:nvSpPr>
          <p:spPr>
            <a:xfrm>
              <a:off x="6858000" y="2495550"/>
              <a:ext cx="190500" cy="190500"/>
            </a:xfrm>
            <a:prstGeom prst="rect">
              <a:avLst/>
            </a:prstGeom>
            <a:solidFill>
              <a:schemeClr val="accent2"/>
            </a:solidFill>
            <a:ln>
              <a:noFill/>
            </a:ln>
          </p:spPr>
        </p:sp>
        <p:sp>
          <p:nvSpPr>
            <p:cNvPr id="11" name="TextBox 11"/>
            <p:cNvSpPr txBox="1"/>
            <p:nvPr/>
          </p:nvSpPr>
          <p:spPr>
            <a:xfrm>
              <a:off x="7194042" y="2502218"/>
              <a:ext cx="216935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R̂ 除法（我们的 R / 真 α）</a:t>
              </a:r>
            </a:p>
          </p:txBody>
        </p:sp>
        <p:sp>
          <p:nvSpPr>
            <p:cNvPr id="12" name="TextBox 12"/>
            <p:cNvSpPr txBox="1"/>
            <p:nvPr/>
          </p:nvSpPr>
          <p:spPr>
            <a:xfrm>
              <a:off x="6846570" y="2767012"/>
              <a:ext cx="2718626"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17.2 / 20.3 / 22.3</a:t>
              </a:r>
            </a:p>
          </p:txBody>
        </p:sp>
        <p:sp>
          <p:nvSpPr>
            <p:cNvPr id="13" name="Rectangle 13"/>
            <p:cNvSpPr/>
            <p:nvPr/>
          </p:nvSpPr>
          <p:spPr>
            <a:xfrm>
              <a:off x="6858000" y="3390900"/>
              <a:ext cx="190500" cy="190500"/>
            </a:xfrm>
            <a:prstGeom prst="rect">
              <a:avLst/>
            </a:prstGeom>
            <a:solidFill>
              <a:srgbClr val="1F5C8B"/>
            </a:solidFill>
            <a:ln>
              <a:noFill/>
            </a:ln>
          </p:spPr>
        </p:sp>
        <p:sp>
          <p:nvSpPr>
            <p:cNvPr id="14" name="TextBox 14"/>
            <p:cNvSpPr txBox="1"/>
            <p:nvPr/>
          </p:nvSpPr>
          <p:spPr>
            <a:xfrm>
              <a:off x="7194042" y="339756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当前方法（域适配后）</a:t>
              </a:r>
            </a:p>
          </p:txBody>
        </p:sp>
        <p:sp>
          <p:nvSpPr>
            <p:cNvPr id="15" name="TextBox 15"/>
            <p:cNvSpPr txBox="1"/>
            <p:nvPr/>
          </p:nvSpPr>
          <p:spPr>
            <a:xfrm>
              <a:off x="6846570" y="3662362"/>
              <a:ext cx="2718626"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18.5 / 19.7 / 19.7</a:t>
              </a:r>
            </a:p>
          </p:txBody>
        </p:sp>
        <p:sp>
          <p:nvSpPr>
            <p:cNvPr id="16" name="Rectangle 16"/>
            <p:cNvSpPr/>
            <p:nvPr/>
          </p:nvSpPr>
          <p:spPr>
            <a:xfrm>
              <a:off x="6858000" y="4286250"/>
              <a:ext cx="190500" cy="190500"/>
            </a:xfrm>
            <a:prstGeom prst="rect">
              <a:avLst/>
            </a:prstGeom>
            <a:solidFill>
              <a:schemeClr val="accent3"/>
            </a:solidFill>
            <a:ln>
              <a:noFill/>
            </a:ln>
          </p:spPr>
        </p:sp>
        <p:sp>
          <p:nvSpPr>
            <p:cNvPr id="17" name="TextBox 17"/>
            <p:cNvSpPr txBox="1"/>
            <p:nvPr/>
          </p:nvSpPr>
          <p:spPr>
            <a:xfrm>
              <a:off x="7194042" y="42929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平坦图常数基线</a:t>
              </a:r>
            </a:p>
          </p:txBody>
        </p:sp>
        <p:sp>
          <p:nvSpPr>
            <p:cNvPr id="18" name="TextBox 18"/>
            <p:cNvSpPr txBox="1"/>
            <p:nvPr/>
          </p:nvSpPr>
          <p:spPr>
            <a:xfrm>
              <a:off x="6846570" y="4557712"/>
              <a:ext cx="855821" cy="440055"/>
            </a:xfrm>
            <a:prstGeom prst="rect">
              <a:avLst/>
            </a:prstGeom>
            <a:noFill/>
            <a:ln>
              <a:noFill/>
            </a:ln>
          </p:spPr>
          <p:txBody>
            <a:bodyPr wrap="none" lIns="0" tIns="0" rIns="0" bIns="0" anchor="t" anchorCtr="0">
              <a:spAutoFit/>
            </a:bodyPr>
            <a:lstStyle/>
            <a:p>
              <a:pPr algn="l"/>
              <a:r>
                <a:rPr lang="zh-CN" sz="2250" dirty="0">
                  <a:solidFill>
                    <a:schemeClr val="accent3"/>
                  </a:solidFill>
                  <a:latin typeface="+mn-lt"/>
                  <a:ea typeface="+mn-ea"/>
                  <a:cs typeface="+mn-cs"/>
                </a:rPr>
                <a:t>17.68</a:t>
              </a:r>
            </a:p>
          </p:txBody>
        </p:sp>
        <p:sp>
          <p:nvSpPr>
            <p:cNvPr id="19" name="Line 19"/>
            <p:cNvSpPr/>
            <p:nvPr/>
          </p:nvSpPr>
          <p:spPr>
            <a:xfrm>
              <a:off x="6858000" y="514350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20" name="TextBox 20"/>
            <p:cNvSpPr txBox="1"/>
            <p:nvPr/>
          </p:nvSpPr>
          <p:spPr>
            <a:xfrm>
              <a:off x="6851142" y="5359718"/>
              <a:ext cx="2851214"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按 α = 0.3 / 0.6 / 1.0 档顺次给出。</a:t>
              </a:r>
              <a:br/>
              <a:r>
                <a:rPr lang="zh-CN" sz="1350" dirty="0">
                  <a:solidFill>
                    <a:schemeClr val="dk1"/>
                  </a:solidFill>
                  <a:latin typeface="+mn-lt"/>
                  <a:ea typeface="+mn-ea"/>
                  <a:cs typeface="+mn-cs"/>
                </a:rPr>
                <a:t>差距几乎全在 R̂ 与 α 上，不在出口。</a:t>
              </a:r>
            </a:p>
          </p:txBody>
        </p:sp>
      </p:grpSp>
      <p:grpSp>
        <p:nvGrpSpPr>
          <p:cNvPr id="24" name="page-footer"/>
          <p:cNvGrpSpPr/>
          <p:nvPr/>
        </p:nvGrpSpPr>
        <p:grpSpPr>
          <a:xfrm>
            <a:off x="603504" y="6252210"/>
            <a:ext cx="10984992" cy="234696"/>
            <a:chOff x="603504" y="6252210"/>
            <a:chExt cx="10984992" cy="234696"/>
          </a:xfrm>
        </p:grpSpPr>
        <p:sp>
          <p:nvSpPr>
            <p:cNvPr id="22" name="TextBox 22"/>
            <p:cNvSpPr txBox="1"/>
            <p:nvPr/>
          </p:nvSpPr>
          <p:spPr>
            <a:xfrm>
              <a:off x="603504" y="6252210"/>
              <a:ext cx="587029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eval/e2_oracle 与 probe_s2_exit · 真值天花板 = 完美去 R + 精确逐像素 α</a:t>
              </a:r>
            </a:p>
          </p:txBody>
        </p:sp>
        <p:sp>
          <p:nvSpPr>
            <p:cNvPr id="23" name="TextBox 23"/>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 / 17</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7304513"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出口机制没问题，瓶颈是 α 的跨域校准</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2" name="p11-findings"/>
          <p:cNvGrpSpPr/>
          <p:nvPr/>
        </p:nvGrpSpPr>
        <p:grpSpPr>
          <a:xfrm>
            <a:off x="600456" y="1577340"/>
            <a:ext cx="5971794" cy="3970211"/>
            <a:chOff x="600456" y="1577340"/>
            <a:chExt cx="5971794" cy="3970211"/>
          </a:xfrm>
        </p:grpSpPr>
        <p:sp>
          <p:nvSpPr>
            <p:cNvPr id="5" name="TextBox 5"/>
            <p:cNvSpPr txBox="1"/>
            <p:nvPr/>
          </p:nvSpPr>
          <p:spPr>
            <a:xfrm>
              <a:off x="600456" y="1577340"/>
              <a:ext cx="249448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判决：E 与 G 完全等价</a:t>
              </a:r>
            </a:p>
          </p:txBody>
        </p:sp>
        <p:sp>
          <p:nvSpPr>
            <p:cNvPr id="6" name="TextBox 6"/>
            <p:cNvSpPr txBox="1"/>
            <p:nvPr/>
          </p:nvSpPr>
          <p:spPr>
            <a:xfrm>
              <a:off x="602742" y="1949768"/>
              <a:ext cx="4068509"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E（估计 α 除法）与 G（自由增益）差异 ≤ 0.02 dB</a:t>
              </a:r>
              <a:br/>
              <a:r>
                <a:rPr lang="zh-CN" sz="1350" dirty="0">
                  <a:solidFill>
                    <a:schemeClr val="dk1"/>
                  </a:solidFill>
                  <a:latin typeface="+mn-lt"/>
                  <a:ea typeface="+mn-ea"/>
                  <a:cs typeface="+mn-cs"/>
                </a:rPr>
                <a:t>α = 1.0 档相对 plain −2.02 dB，出口只把工作点搬走</a:t>
              </a:r>
            </a:p>
          </p:txBody>
        </p:sp>
        <mc:AlternateContent xmlns:mc="http://schemas.openxmlformats.org/markup-compatibility/2006">
          <mc:Choice xmlns:a14="http://schemas.microsoft.com/office/drawing/2010/main" Requires="a14">
            <p:sp>
              <p:nvSpPr>
                <p:cNvPr id="7" name="p11-exit-formula"/>
                <p:cNvSpPr txBox="1">
                  <a:spLocks noGrp="1"/>
                </p:cNvSpPr>
                <p:nvPr/>
              </p:nvSpPr>
              <p:spPr>
                <a:xfrm>
                  <a:off x="609600" y="2647950"/>
                  <a:ext cx="5962650" cy="6096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acc>
                          <m:accPr>
                            <m:chr m:val="ˆ"/>
                            <m:ctrlPr>
                              <a:rPr lang="zh-CN" sz="2250" dirty="0">
                                <a:solidFill>
                                  <a:srgbClr val="123A5C"/>
                                </a:solidFill>
                                <a:latin typeface="Cambria Math"/>
                                <a:ea typeface="Cambria Math"/>
                                <a:cs typeface="Cambria Math"/>
                              </a:rPr>
                            </m:ctrlPr>
                          </m:accPr>
                          <m:e>
                            <m:r>
                              <a:rPr lang="zh-CN" sz="2250" dirty="0">
                                <a:solidFill>
                                  <a:srgbClr val="123A5C"/>
                                </a:solidFill>
                                <a:latin typeface="Cambria Math"/>
                                <a:ea typeface="Cambria Math"/>
                                <a:cs typeface="Cambria Math"/>
                              </a:rPr>
                              <m:t>T</m:t>
                            </m:r>
                          </m:e>
                        </m:acc>
                        <m:r>
                          <m:rPr>
                            <m:sty m:val="p"/>
                          </m:rPr>
                          <a:rPr lang="zh-CN" sz="2250" dirty="0">
                            <a:solidFill>
                              <a:srgbClr val="123A5C"/>
                            </a:solidFill>
                            <a:latin typeface="Cambria Math"/>
                            <a:ea typeface="Cambria Math"/>
                            <a:cs typeface="Cambria Math"/>
                          </a:rPr>
                          <m:t>=</m:t>
                        </m:r>
                        <m:d>
                          <m:dPr>
                            <m:begChr m:val="("/>
                            <m:sepChr m:val=""/>
                            <m:endChr m:val=")"/>
                            <m:grow m:val="on"/>
                            <m:ctrlPr>
                              <a:rPr lang="zh-CN" sz="2250" dirty="0">
                                <a:solidFill>
                                  <a:srgbClr val="123A5C"/>
                                </a:solidFill>
                                <a:latin typeface="Cambria Math"/>
                                <a:ea typeface="Cambria Math"/>
                                <a:cs typeface="Cambria Math"/>
                              </a:rPr>
                            </m:ctrlPr>
                          </m:dPr>
                          <m:e>
                            <m:r>
                              <a:rPr lang="zh-CN" sz="2250" dirty="0">
                                <a:solidFill>
                                  <a:srgbClr val="123A5C"/>
                                </a:solidFill>
                                <a:latin typeface="Cambria Math"/>
                                <a:ea typeface="Cambria Math"/>
                                <a:cs typeface="Cambria Math"/>
                              </a:rPr>
                              <m:t>1</m:t>
                            </m:r>
                            <m:r>
                              <m:rPr>
                                <m:sty m:val="p"/>
                              </m:rPr>
                              <a:rPr lang="zh-CN" sz="2250" dirty="0">
                                <a:solidFill>
                                  <a:srgbClr val="123A5C"/>
                                </a:solidFill>
                                <a:latin typeface="Cambria Math"/>
                                <a:ea typeface="Cambria Math"/>
                                <a:cs typeface="Cambria Math"/>
                              </a:rPr>
                              <m:t>−</m:t>
                            </m:r>
                            <m:r>
                              <a:rPr lang="zh-CN" sz="2250" dirty="0">
                                <a:solidFill>
                                  <a:srgbClr val="123A5C"/>
                                </a:solidFill>
                                <a:latin typeface="Cambria Math"/>
                                <a:ea typeface="Cambria Math"/>
                                <a:cs typeface="Cambria Math"/>
                              </a:rPr>
                              <m:t>β</m:t>
                            </m:r>
                          </m:e>
                        </m:d>
                        <m:r>
                          <m:rPr>
                            <m:sty m:val="p"/>
                          </m:rPr>
                          <a:rPr lang="zh-CN" sz="2250" dirty="0">
                            <a:solidFill>
                              <a:srgbClr val="123A5C"/>
                            </a:solidFill>
                            <a:latin typeface="Cambria Math"/>
                            <a:ea typeface="Cambria Math"/>
                            <a:cs typeface="Cambria Math"/>
                          </a:rPr>
                          <m:t>⋅</m:t>
                        </m:r>
                        <m:sSub>
                          <m:e>
                            <m:acc>
                              <m:accPr>
                                <m:chr m:val="ˆ"/>
                                <m:ctrlPr>
                                  <a:rPr lang="zh-CN" sz="2250" dirty="0">
                                    <a:solidFill>
                                      <a:srgbClr val="123A5C"/>
                                    </a:solidFill>
                                    <a:latin typeface="Cambria Math"/>
                                    <a:ea typeface="Cambria Math"/>
                                    <a:cs typeface="Cambria Math"/>
                                  </a:rPr>
                                </m:ctrlPr>
                              </m:accPr>
                              <m:e>
                                <m:r>
                                  <a:rPr lang="zh-CN" sz="2250" dirty="0">
                                    <a:solidFill>
                                      <a:srgbClr val="123A5C"/>
                                    </a:solidFill>
                                    <a:latin typeface="Cambria Math"/>
                                    <a:ea typeface="Cambria Math"/>
                                    <a:cs typeface="Cambria Math"/>
                                  </a:rPr>
                                  <m:t>T</m:t>
                                </m:r>
                              </m:e>
                            </m:acc>
                          </m:e>
                          <m:sub>
                            <m:r>
                              <a:rPr lang="zh-CN" sz="2250" dirty="0">
                                <a:solidFill>
                                  <a:srgbClr val="123A5C"/>
                                </a:solidFill>
                                <a:latin typeface="Cambria Math"/>
                                <a:ea typeface="Cambria Math"/>
                                <a:cs typeface="Cambria Math"/>
                              </a:rPr>
                              <m:t>head</m:t>
                            </m:r>
                          </m:sub>
                        </m:sSub>
                        <m:r>
                          <m:rPr>
                            <m:sty m:val="p"/>
                          </m:rPr>
                          <a:rPr lang="zh-CN" sz="2250" dirty="0">
                            <a:solidFill>
                              <a:srgbClr val="123A5C"/>
                            </a:solidFill>
                            <a:latin typeface="Cambria Math"/>
                            <a:ea typeface="Cambria Math"/>
                            <a:cs typeface="Cambria Math"/>
                          </a:rPr>
                          <m:t>+</m:t>
                        </m:r>
                        <m:r>
                          <a:rPr lang="zh-CN" sz="2250" dirty="0">
                            <a:solidFill>
                              <a:srgbClr val="123A5C"/>
                            </a:solidFill>
                            <a:latin typeface="Cambria Math"/>
                            <a:ea typeface="Cambria Math"/>
                            <a:cs typeface="Cambria Math"/>
                          </a:rPr>
                          <m:t>β</m:t>
                        </m:r>
                        <m:r>
                          <m:rPr>
                            <m:sty m:val="p"/>
                          </m:rPr>
                          <a:rPr lang="zh-CN" sz="2250" dirty="0">
                            <a:solidFill>
                              <a:srgbClr val="123A5C"/>
                            </a:solidFill>
                            <a:latin typeface="Cambria Math"/>
                            <a:ea typeface="Cambria Math"/>
                            <a:cs typeface="Cambria Math"/>
                          </a:rPr>
                          <m:t>⋅</m:t>
                        </m:r>
                        <m:d>
                          <m:dPr>
                            <m:begChr m:val="("/>
                            <m:sepChr m:val=""/>
                            <m:endChr m:val=")"/>
                            <m:grow m:val="on"/>
                            <m:ctrlPr>
                              <a:rPr lang="zh-CN" sz="2250" dirty="0">
                                <a:solidFill>
                                  <a:srgbClr val="123A5C"/>
                                </a:solidFill>
                                <a:latin typeface="Cambria Math"/>
                                <a:ea typeface="Cambria Math"/>
                                <a:cs typeface="Cambria Math"/>
                              </a:rPr>
                            </m:ctrlPr>
                          </m:dPr>
                          <m:e>
                            <m:r>
                              <a:rPr lang="zh-CN" sz="2250" dirty="0">
                                <a:solidFill>
                                  <a:srgbClr val="123A5C"/>
                                </a:solidFill>
                                <a:latin typeface="Cambria Math"/>
                                <a:ea typeface="Cambria Math"/>
                                <a:cs typeface="Cambria Math"/>
                              </a:rPr>
                              <m:t>I</m:t>
                            </m:r>
                            <m:r>
                              <m:rPr>
                                <m:sty m:val="p"/>
                              </m:rPr>
                              <a:rPr lang="zh-CN" sz="2250" dirty="0">
                                <a:solidFill>
                                  <a:srgbClr val="123A5C"/>
                                </a:solidFill>
                                <a:latin typeface="Cambria Math"/>
                                <a:ea typeface="Cambria Math"/>
                                <a:cs typeface="Cambria Math"/>
                              </a:rPr>
                              <m:t>−</m:t>
                            </m:r>
                            <m:acc>
                              <m:accPr>
                                <m:chr m:val="ˆ"/>
                                <m:ctrlPr>
                                  <a:rPr lang="zh-CN" sz="2250" dirty="0">
                                    <a:solidFill>
                                      <a:srgbClr val="123A5C"/>
                                    </a:solidFill>
                                    <a:latin typeface="Cambria Math"/>
                                    <a:ea typeface="Cambria Math"/>
                                    <a:cs typeface="Cambria Math"/>
                                  </a:rPr>
                                </m:ctrlPr>
                              </m:accPr>
                              <m:e>
                                <m:r>
                                  <a:rPr lang="zh-CN" sz="2250" dirty="0">
                                    <a:solidFill>
                                      <a:srgbClr val="123A5C"/>
                                    </a:solidFill>
                                    <a:latin typeface="Cambria Math"/>
                                    <a:ea typeface="Cambria Math"/>
                                    <a:cs typeface="Cambria Math"/>
                                  </a:rPr>
                                  <m:t>R</m:t>
                                </m:r>
                              </m:e>
                            </m:acc>
                          </m:e>
                        </m:d>
                        <m:r>
                          <m:rPr>
                            <m:sty m:val="p"/>
                          </m:rPr>
                          <a:rPr lang="zh-CN" sz="2250" dirty="0">
                            <a:solidFill>
                              <a:srgbClr val="123A5C"/>
                            </a:solidFill>
                            <a:latin typeface="Cambria Math"/>
                            <a:ea typeface="Cambria Math"/>
                            <a:cs typeface="Cambria Math"/>
                          </a:rPr>
                          <m:t>/</m:t>
                        </m:r>
                        <m:acc>
                          <m:accPr>
                            <m:chr m:val="˜"/>
                            <m:ctrlPr>
                              <a:rPr lang="zh-CN" sz="2250" dirty="0">
                                <a:solidFill>
                                  <a:srgbClr val="123A5C"/>
                                </a:solidFill>
                                <a:latin typeface="Cambria Math"/>
                                <a:ea typeface="Cambria Math"/>
                                <a:cs typeface="Cambria Math"/>
                              </a:rPr>
                            </m:ctrlPr>
                          </m:accPr>
                          <m:e>
                            <m:r>
                              <a:rPr lang="zh-CN" sz="2250" dirty="0">
                                <a:solidFill>
                                  <a:srgbClr val="123A5C"/>
                                </a:solidFill>
                                <a:latin typeface="Cambria Math"/>
                                <a:ea typeface="Cambria Math"/>
                                <a:cs typeface="Cambria Math"/>
                              </a:rPr>
                              <m:t>α</m:t>
                            </m:r>
                          </m:e>
                        </m:acc>
                      </m:oMath>
                    </m:oMathPara>
                  </a14:m>
                </a:p>
              </p:txBody>
            </p:sp>
          </mc:Choice>
        </mc:AlternateContent>
        <p:sp>
          <p:nvSpPr>
            <p:cNvPr id="8" name="TextBox 8"/>
            <p:cNvSpPr txBox="1"/>
            <p:nvPr/>
          </p:nvSpPr>
          <p:spPr>
            <a:xfrm>
              <a:off x="600456" y="361569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决定性反事实</a:t>
              </a:r>
            </a:p>
          </p:txBody>
        </p:sp>
        <p:sp>
          <p:nvSpPr>
            <p:cNvPr id="9" name="TextBox 9"/>
            <p:cNvSpPr txBox="1"/>
            <p:nvPr/>
          </p:nvSpPr>
          <p:spPr>
            <a:xfrm>
              <a:off x="602742" y="3988118"/>
              <a:ext cx="403421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 xml:space="preserve">同 β 换真值 α → </a:t>
              </a:r>
              <a:r>
                <a:rPr lang="zh-CN" sz="1350" b="1" dirty="0">
                  <a:solidFill>
                    <a:schemeClr val="accent2"/>
                  </a:solidFill>
                  <a:latin typeface="+mn-lt"/>
                  <a:ea typeface="+mn-ea"/>
                  <a:cs typeface="+mn-cs"/>
                </a:rPr>
                <a:t>22.15 / 21.18 / 18.85</a:t>
              </a:r>
              <a:br/>
              <a:r>
                <a:rPr lang="zh-CN" sz="1350" dirty="0">
                  <a:solidFill>
                    <a:schemeClr val="dk1"/>
                  </a:solidFill>
                  <a:latin typeface="+mn-lt"/>
                  <a:ea typeface="+mn-ea"/>
                  <a:cs typeface="+mn-cs"/>
                </a:rPr>
                <a:t>α = 1.0 档单档 +4.26 dB，与天花板 22.25 几乎重合</a:t>
              </a:r>
            </a:p>
          </p:txBody>
        </p:sp>
        <p:sp>
          <p:nvSpPr>
            <p:cNvPr id="10" name="TextBox 10"/>
            <p:cNvSpPr txBox="1"/>
            <p:nvPr/>
          </p:nvSpPr>
          <p:spPr>
            <a:xfrm>
              <a:off x="600456" y="4663440"/>
              <a:ext cx="171450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结论与重启条件</a:t>
              </a:r>
            </a:p>
          </p:txBody>
        </p:sp>
        <p:sp>
          <p:nvSpPr>
            <p:cNvPr id="11" name="TextBox 11"/>
            <p:cNvSpPr txBox="1"/>
            <p:nvPr/>
          </p:nvSpPr>
          <p:spPr>
            <a:xfrm>
              <a:off x="602742" y="5035868"/>
              <a:ext cx="474573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出口线条件性冻结；重启条件 = α 跨域误差足够小</a:t>
              </a:r>
              <a:br/>
              <a:r>
                <a:rPr lang="zh-CN" sz="1350" dirty="0">
                  <a:solidFill>
                    <a:schemeClr val="dk1"/>
                  </a:solidFill>
                  <a:latin typeface="+mn-lt"/>
                  <a:ea typeface="+mn-ea"/>
                  <a:cs typeface="+mn-cs"/>
                </a:rPr>
                <a:t>当前测试端场景均值 MAE 0.26 / 0.17 / 0.07，远高于 0.1 门</a:t>
              </a:r>
            </a:p>
          </p:txBody>
        </p:sp>
      </p:grpSp>
      <p:grpSp>
        <p:nvGrpSpPr>
          <p:cNvPr id="14" name="p11-counterfactual"/>
          <p:cNvGrpSpPr/>
          <p:nvPr/>
        </p:nvGrpSpPr>
        <p:grpSpPr>
          <a:xfrm>
            <a:off x="6960394" y="1428750"/>
            <a:ext cx="4614862" cy="3305175"/>
            <a:chOff x="6960394" y="1428750"/>
            <a:chExt cx="4614862" cy="3305175"/>
          </a:xfrm>
        </p:grpSpPr>
        <p:pic>
          <p:nvPicPr>
            <p:cNvPr id="13" name="Image 13"/>
            <p:cNvPicPr>
              <a:picLocks noChangeAspect="1"/>
            </p:cNvPicPr>
            <p:nvPr/>
          </p:nvPicPr>
          <p:blipFill>
            <a:blip r:embed="rId2"/>
            <a:stretch>
              <a:fillRect/>
            </a:stretch>
          </p:blipFill>
          <p:spPr>
            <a:xfrm>
              <a:off x="6960394" y="1428750"/>
              <a:ext cx="4614862" cy="3305175"/>
            </a:xfrm>
            <a:prstGeom prst="rect">
              <a:avLst/>
            </a:prstGeom>
          </p:spPr>
        </p:pic>
      </p:grpSp>
      <p:grpSp>
        <p:nvGrpSpPr>
          <p:cNvPr id="17" name="page-footer"/>
          <p:cNvGrpSpPr/>
          <p:nvPr/>
        </p:nvGrpSpPr>
        <p:grpSpPr>
          <a:xfrm>
            <a:off x="603504" y="6252210"/>
            <a:ext cx="10984992" cy="234696"/>
            <a:chOff x="603504" y="6252210"/>
            <a:chExt cx="10984992" cy="234696"/>
          </a:xfrm>
        </p:grpSpPr>
        <p:sp>
          <p:nvSpPr>
            <p:cNvPr id="15" name="TextBox 15"/>
            <p:cNvSpPr txBox="1"/>
            <p:nvPr/>
          </p:nvSpPr>
          <p:spPr>
            <a:xfrm>
              <a:off x="603504" y="6252210"/>
              <a:ext cx="554010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docs/2026.9.17 S2 物理出口轮 · E / G 各 2 seed，反事实为冻 β 复算</a:t>
              </a:r>
            </a:p>
          </p:txBody>
        </p:sp>
        <p:sp>
          <p:nvSpPr>
            <p:cNvPr id="16" name="TextBox 16"/>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 / 17</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518344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瓶颈是 R̂：误差被 1/α 放大</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3" name="p12-mechanism"/>
          <p:cNvGrpSpPr/>
          <p:nvPr/>
        </p:nvGrpSpPr>
        <p:grpSpPr>
          <a:xfrm>
            <a:off x="600456" y="1577340"/>
            <a:ext cx="5971794" cy="3779711"/>
            <a:chOff x="600456" y="1577340"/>
            <a:chExt cx="5971794" cy="3779711"/>
          </a:xfrm>
        </p:grpSpPr>
        <p:sp>
          <p:nvSpPr>
            <p:cNvPr id="5" name="TextBox 5"/>
            <p:cNvSpPr txBox="1"/>
            <p:nvPr/>
          </p:nvSpPr>
          <p:spPr>
            <a:xfrm>
              <a:off x="600456" y="15773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误差预算</a:t>
              </a:r>
            </a:p>
          </p:txBody>
        </p:sp>
        <p:sp>
          <p:nvSpPr>
            <p:cNvPr id="6" name="TextBox 6"/>
            <p:cNvSpPr txBox="1"/>
            <p:nvPr/>
          </p:nvSpPr>
          <p:spPr>
            <a:xfrm>
              <a:off x="602742" y="1949768"/>
              <a:ext cx="3777043"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真 R 30.7 / 34.1 / 34.9 → R̂ 17.2 / 20.3 / 22.3</a:t>
              </a:r>
              <a:br/>
              <a:r>
                <a:rPr lang="zh-CN" sz="1350" dirty="0">
                  <a:solidFill>
                    <a:schemeClr val="dk1"/>
                  </a:solidFill>
                  <a:latin typeface="+mn-lt"/>
                  <a:ea typeface="+mn-ea"/>
                  <a:cs typeface="+mn-cs"/>
                </a:rPr>
                <a:t xml:space="preserve">落差 </a:t>
              </a:r>
              <a:r>
                <a:rPr lang="en-US" sz="1350" b="1" dirty="0">
                  <a:solidFill>
                    <a:schemeClr val="accent3"/>
                  </a:solidFill>
                  <a:latin typeface="+mn-lt"/>
                  <a:ea typeface="+mn-ea"/>
                  <a:cs typeface="+mn-cs"/>
                </a:rPr>
                <a:t>13.5 / 13.7 / 12.6 dB</a:t>
              </a:r>
              <a:br/>
              <a:r>
                <a:rPr lang="zh-CN" sz="1350" dirty="0">
                  <a:solidFill>
                    <a:schemeClr val="dk1"/>
                  </a:solidFill>
                  <a:latin typeface="+mn-lt"/>
                  <a:ea typeface="+mn-ea"/>
                  <a:cs typeface="+mn-cs"/>
                </a:rPr>
                <a:t>α = 0.3 档的 R̂ 误差被 1/α ≈ 2.44 倍放大</a:t>
              </a:r>
            </a:p>
          </p:txBody>
        </p:sp>
        <p:sp>
          <p:nvSpPr>
            <p:cNvPr id="7" name="Line 7"/>
            <p:cNvSpPr/>
            <p:nvPr/>
          </p:nvSpPr>
          <p:spPr>
            <a:xfrm>
              <a:off x="609600" y="3067050"/>
              <a:ext cx="5962650" cy="9525"/>
            </a:xfrm>
            <a:custGeom>
              <a:avLst/>
              <a:gdLst/>
              <a:ahLst/>
              <a:cxnLst/>
              <a:rect l="l" t="t" r="r" b="b"/>
              <a:pathLst>
                <a:path w="5962650" h="9525">
                  <a:moveTo>
                    <a:pt x="0" y="0"/>
                  </a:moveTo>
                  <a:lnTo>
                    <a:pt x="5962650" y="0"/>
                  </a:lnTo>
                </a:path>
              </a:pathLst>
            </a:custGeom>
            <a:noFill/>
            <a:ln w="9525">
              <a:solidFill>
                <a:schemeClr val="accent6"/>
              </a:solidFill>
            </a:ln>
          </p:spPr>
        </p:sp>
        <p:sp>
          <p:nvSpPr>
            <p:cNvPr id="8" name="TextBox 8"/>
            <p:cNvSpPr txBox="1"/>
            <p:nvPr/>
          </p:nvSpPr>
          <p:spPr>
            <a:xfrm>
              <a:off x="600456" y="325374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跨域翻符号</a:t>
              </a:r>
            </a:p>
          </p:txBody>
        </p:sp>
        <p:sp>
          <p:nvSpPr>
            <p:cNvPr id="9" name="TextBox 9"/>
            <p:cNvSpPr txBox="1"/>
            <p:nvPr/>
          </p:nvSpPr>
          <p:spPr>
            <a:xfrm>
              <a:off x="602742" y="3626168"/>
              <a:ext cx="324554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v2.1 上偏亮（+4 ~ +15 灰阶，92% 同号）</a:t>
              </a:r>
              <a:br/>
              <a:r>
                <a:rPr lang="zh-CN" sz="1350" dirty="0">
                  <a:solidFill>
                    <a:schemeClr val="dk1"/>
                  </a:solidFill>
                  <a:latin typeface="+mn-lt"/>
                  <a:ea typeface="+mn-ea"/>
                  <a:cs typeface="+mn-cs"/>
                </a:rPr>
                <a:t>扩增集上反为偏暗 —— 同一根因的两种表现</a:t>
              </a:r>
            </a:p>
          </p:txBody>
        </p:sp>
        <p:sp>
          <p:nvSpPr>
            <p:cNvPr id="10" name="Line 10"/>
            <p:cNvSpPr/>
            <p:nvPr/>
          </p:nvSpPr>
          <p:spPr>
            <a:xfrm>
              <a:off x="609600" y="4286250"/>
              <a:ext cx="5962650" cy="9525"/>
            </a:xfrm>
            <a:custGeom>
              <a:avLst/>
              <a:gdLst/>
              <a:ahLst/>
              <a:cxnLst/>
              <a:rect l="l" t="t" r="r" b="b"/>
              <a:pathLst>
                <a:path w="5962650" h="9525">
                  <a:moveTo>
                    <a:pt x="0" y="0"/>
                  </a:moveTo>
                  <a:lnTo>
                    <a:pt x="5962650" y="0"/>
                  </a:lnTo>
                </a:path>
              </a:pathLst>
            </a:custGeom>
            <a:noFill/>
            <a:ln w="9525">
              <a:solidFill>
                <a:schemeClr val="accent6"/>
              </a:solidFill>
            </a:ln>
          </p:spPr>
        </p:sp>
        <p:sp>
          <p:nvSpPr>
            <p:cNvPr id="11" name="TextBox 11"/>
            <p:cNvSpPr txBox="1"/>
            <p:nvPr/>
          </p:nvSpPr>
          <p:spPr>
            <a:xfrm>
              <a:off x="600456" y="44729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根因假设</a:t>
              </a:r>
            </a:p>
          </p:txBody>
        </p:sp>
        <p:sp>
          <p:nvSpPr>
            <p:cNvPr id="12" name="TextBox 12"/>
            <p:cNvSpPr txBox="1"/>
            <p:nvPr/>
          </p:nvSpPr>
          <p:spPr>
            <a:xfrm>
              <a:off x="602742" y="4845368"/>
              <a:ext cx="345686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 xml:space="preserve">R 训练池只有 </a:t>
              </a:r>
              <a:r>
                <a:rPr lang="zh-CN" sz="1350" b="1" dirty="0">
                  <a:solidFill>
                    <a:schemeClr val="accent3"/>
                  </a:solidFill>
                  <a:latin typeface="+mn-lt"/>
                  <a:ea typeface="+mn-ea"/>
                  <a:cs typeface="+mn-cs"/>
                </a:rPr>
                <a:t>131</a:t>
              </a:r>
              <a:r>
                <a:rPr lang="zh-CN" sz="1350" dirty="0">
                  <a:solidFill>
                    <a:schemeClr val="dk1"/>
                  </a:solidFill>
                  <a:latin typeface="+mn-lt"/>
                  <a:ea typeface="+mn-ea"/>
                  <a:cs typeface="+mn-cs"/>
                </a:rPr>
                <a:t xml:space="preserve"> 张（601 候选中剔除 470）</a:t>
              </a:r>
              <a:br/>
              <a:r>
                <a:rPr lang="zh-CN" sz="1350" dirty="0">
                  <a:solidFill>
                    <a:schemeClr val="dk1"/>
                  </a:solidFill>
                  <a:latin typeface="+mn-lt"/>
                  <a:ea typeface="+mn-ea"/>
                  <a:cs typeface="+mn-cs"/>
                </a:rPr>
                <a:t>其中真正与测试 R 同簇的只有 75 张</a:t>
              </a:r>
            </a:p>
          </p:txBody>
        </p:sp>
      </p:grpSp>
      <p:grpSp>
        <p:nvGrpSpPr>
          <p:cNvPr id="15" name="p12-budget"/>
          <p:cNvGrpSpPr/>
          <p:nvPr/>
        </p:nvGrpSpPr>
        <p:grpSpPr>
          <a:xfrm>
            <a:off x="6958012" y="1428750"/>
            <a:ext cx="4619625" cy="3305175"/>
            <a:chOff x="6958012" y="1428750"/>
            <a:chExt cx="4619625" cy="3305175"/>
          </a:xfrm>
        </p:grpSpPr>
        <p:pic>
          <p:nvPicPr>
            <p:cNvPr id="14" name="Image 14"/>
            <p:cNvPicPr>
              <a:picLocks noChangeAspect="1"/>
            </p:cNvPicPr>
            <p:nvPr/>
          </p:nvPicPr>
          <p:blipFill>
            <a:blip r:embed="rId2"/>
            <a:stretch>
              <a:fillRect/>
            </a:stretch>
          </p:blipFill>
          <p:spPr>
            <a:xfrm>
              <a:off x="6958012" y="1428750"/>
              <a:ext cx="4619625" cy="3305175"/>
            </a:xfrm>
            <a:prstGeom prst="rect">
              <a:avLst/>
            </a:prstGeom>
          </p:spPr>
        </p:pic>
      </p:grpSp>
      <p:grpSp>
        <p:nvGrpSpPr>
          <p:cNvPr id="18" name="page-footer"/>
          <p:cNvGrpSpPr/>
          <p:nvPr/>
        </p:nvGrpSpPr>
        <p:grpSpPr>
          <a:xfrm>
            <a:off x="603504" y="6252210"/>
            <a:ext cx="10984992" cy="234696"/>
            <a:chOff x="603504" y="6252210"/>
            <a:chExt cx="10984992" cy="234696"/>
          </a:xfrm>
        </p:grpSpPr>
        <p:sp>
          <p:nvSpPr>
            <p:cNvPr id="16" name="TextBox 16"/>
            <p:cNvSpPr txBox="1"/>
            <p:nvPr/>
          </p:nvSpPr>
          <p:spPr>
            <a:xfrm>
              <a:off x="603504" y="6252210"/>
              <a:ext cx="524621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eval/probe_s2_exit · 误差预算以 α = 0.3 / 0.6 / 1.0 档顺次给出</a:t>
              </a:r>
            </a:p>
          </p:txBody>
        </p:sp>
        <p:sp>
          <p:nvSpPr>
            <p:cNvPr id="17" name="TextBox 17"/>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 / 17</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840205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Mona 适配器：桥接预训练语义与去反射语义</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3" name="p13-rationale"/>
          <p:cNvGrpSpPr/>
          <p:nvPr/>
        </p:nvGrpSpPr>
        <p:grpSpPr>
          <a:xfrm>
            <a:off x="600456" y="1536700"/>
            <a:ext cx="6257544" cy="3858451"/>
            <a:chOff x="600456" y="1536700"/>
            <a:chExt cx="6257544" cy="3858451"/>
          </a:xfrm>
        </p:grpSpPr>
        <p:grpSp>
          <p:nvGrpSpPr>
            <p:cNvPr id="14" name="Group 14"/>
            <p:cNvGrpSpPr/>
            <p:nvPr/>
          </p:nvGrpSpPr>
          <p:grpSpPr>
            <a:xfrm>
              <a:off x="660400" y="1536700"/>
              <a:ext cx="203199" cy="203200"/>
              <a:chOff x="660400" y="1536700"/>
              <a:chExt cx="203199" cy="203200"/>
            </a:xfrm>
          </p:grpSpPr>
          <p:sp>
            <p:nvSpPr>
              <p:cNvPr id="5" name="Freeform 5"/>
              <p:cNvSpPr/>
              <p:nvPr/>
            </p:nvSpPr>
            <p:spPr>
              <a:xfrm>
                <a:off x="660400" y="15875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6" name="Freeform 6"/>
              <p:cNvSpPr/>
              <p:nvPr/>
            </p:nvSpPr>
            <p:spPr>
              <a:xfrm>
                <a:off x="685800" y="1536700"/>
                <a:ext cx="9525" cy="50800"/>
              </a:xfrm>
              <a:custGeom>
                <a:avLst/>
                <a:gdLst/>
                <a:ahLst/>
                <a:cxnLst/>
                <a:rect l="l" t="t" r="r" b="b"/>
                <a:pathLst>
                  <a:path w="9525" h="50800">
                    <a:moveTo>
                      <a:pt x="0" y="0"/>
                    </a:moveTo>
                    <a:lnTo>
                      <a:pt x="0" y="50800"/>
                    </a:lnTo>
                  </a:path>
                </a:pathLst>
              </a:custGeom>
              <a:noFill/>
              <a:ln w="25400">
                <a:solidFill>
                  <a:schemeClr val="accent1"/>
                </a:solidFill>
              </a:ln>
            </p:spPr>
          </p:sp>
          <p:sp>
            <p:nvSpPr>
              <p:cNvPr id="7" name="Freeform 7"/>
              <p:cNvSpPr/>
              <p:nvPr/>
            </p:nvSpPr>
            <p:spPr>
              <a:xfrm>
                <a:off x="685800" y="1638300"/>
                <a:ext cx="9525" cy="101600"/>
              </a:xfrm>
              <a:custGeom>
                <a:avLst/>
                <a:gdLst/>
                <a:ahLst/>
                <a:cxnLst/>
                <a:rect l="l" t="t" r="r" b="b"/>
                <a:pathLst>
                  <a:path w="9525" h="101600">
                    <a:moveTo>
                      <a:pt x="0" y="0"/>
                    </a:moveTo>
                    <a:lnTo>
                      <a:pt x="0" y="101600"/>
                    </a:lnTo>
                  </a:path>
                </a:pathLst>
              </a:custGeom>
              <a:noFill/>
              <a:ln w="25400">
                <a:solidFill>
                  <a:schemeClr val="accent1"/>
                </a:solidFill>
              </a:ln>
            </p:spPr>
          </p:sp>
          <p:sp>
            <p:nvSpPr>
              <p:cNvPr id="8" name="Freeform 8"/>
              <p:cNvSpPr/>
              <p:nvPr/>
            </p:nvSpPr>
            <p:spPr>
              <a:xfrm>
                <a:off x="736600" y="16637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9" name="Freeform 9"/>
              <p:cNvSpPr/>
              <p:nvPr/>
            </p:nvSpPr>
            <p:spPr>
              <a:xfrm>
                <a:off x="762000" y="1536700"/>
                <a:ext cx="9525" cy="127000"/>
              </a:xfrm>
              <a:custGeom>
                <a:avLst/>
                <a:gdLst/>
                <a:ahLst/>
                <a:cxnLst/>
                <a:rect l="l" t="t" r="r" b="b"/>
                <a:pathLst>
                  <a:path w="9525" h="127000">
                    <a:moveTo>
                      <a:pt x="0" y="0"/>
                    </a:moveTo>
                    <a:lnTo>
                      <a:pt x="0" y="127000"/>
                    </a:lnTo>
                  </a:path>
                </a:pathLst>
              </a:custGeom>
              <a:noFill/>
              <a:ln w="25400">
                <a:solidFill>
                  <a:schemeClr val="accent1"/>
                </a:solidFill>
              </a:ln>
            </p:spPr>
          </p:sp>
          <p:sp>
            <p:nvSpPr>
              <p:cNvPr id="10" name="Freeform 10"/>
              <p:cNvSpPr/>
              <p:nvPr/>
            </p:nvSpPr>
            <p:spPr>
              <a:xfrm>
                <a:off x="762000" y="1714499"/>
                <a:ext cx="9525" cy="25400"/>
              </a:xfrm>
              <a:custGeom>
                <a:avLst/>
                <a:gdLst/>
                <a:ahLst/>
                <a:cxnLst/>
                <a:rect l="l" t="t" r="r" b="b"/>
                <a:pathLst>
                  <a:path w="9525" h="25400">
                    <a:moveTo>
                      <a:pt x="0" y="0"/>
                    </a:moveTo>
                    <a:lnTo>
                      <a:pt x="0" y="25400"/>
                    </a:lnTo>
                  </a:path>
                </a:pathLst>
              </a:custGeom>
              <a:noFill/>
              <a:ln w="25400">
                <a:solidFill>
                  <a:schemeClr val="accent1"/>
                </a:solidFill>
              </a:ln>
            </p:spPr>
          </p:sp>
          <p:sp>
            <p:nvSpPr>
              <p:cNvPr id="11" name="Freeform 11"/>
              <p:cNvSpPr/>
              <p:nvPr/>
            </p:nvSpPr>
            <p:spPr>
              <a:xfrm>
                <a:off x="812799" y="15494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12" name="Freeform 12"/>
              <p:cNvSpPr/>
              <p:nvPr/>
            </p:nvSpPr>
            <p:spPr>
              <a:xfrm>
                <a:off x="838199" y="1536700"/>
                <a:ext cx="9525" cy="12700"/>
              </a:xfrm>
              <a:custGeom>
                <a:avLst/>
                <a:gdLst/>
                <a:ahLst/>
                <a:cxnLst/>
                <a:rect l="l" t="t" r="r" b="b"/>
                <a:pathLst>
                  <a:path w="9525" h="12700">
                    <a:moveTo>
                      <a:pt x="0" y="0"/>
                    </a:moveTo>
                    <a:lnTo>
                      <a:pt x="0" y="12700"/>
                    </a:lnTo>
                  </a:path>
                </a:pathLst>
              </a:custGeom>
              <a:noFill/>
              <a:ln w="25400">
                <a:solidFill>
                  <a:schemeClr val="accent1"/>
                </a:solidFill>
              </a:ln>
            </p:spPr>
          </p:sp>
          <p:sp>
            <p:nvSpPr>
              <p:cNvPr id="13" name="Freeform 13"/>
              <p:cNvSpPr/>
              <p:nvPr/>
            </p:nvSpPr>
            <p:spPr>
              <a:xfrm>
                <a:off x="838199" y="1600200"/>
                <a:ext cx="9525" cy="139700"/>
              </a:xfrm>
              <a:custGeom>
                <a:avLst/>
                <a:gdLst/>
                <a:ahLst/>
                <a:cxnLst/>
                <a:rect l="l" t="t" r="r" b="b"/>
                <a:pathLst>
                  <a:path w="9525" h="139700">
                    <a:moveTo>
                      <a:pt x="0" y="0"/>
                    </a:moveTo>
                    <a:lnTo>
                      <a:pt x="0" y="139700"/>
                    </a:lnTo>
                  </a:path>
                </a:pathLst>
              </a:custGeom>
              <a:noFill/>
              <a:ln w="25400">
                <a:solidFill>
                  <a:schemeClr val="accent1"/>
                </a:solidFill>
              </a:ln>
            </p:spPr>
          </p:sp>
        </p:grpSp>
        <p:sp>
          <p:nvSpPr>
            <p:cNvPr id="15" name="TextBox 15"/>
            <p:cNvSpPr txBox="1"/>
            <p:nvPr/>
          </p:nvSpPr>
          <p:spPr>
            <a:xfrm>
              <a:off x="1019556" y="1558290"/>
              <a:ext cx="244144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依据：一条同构的先例</a:t>
              </a:r>
            </a:p>
          </p:txBody>
        </p:sp>
        <p:sp>
          <p:nvSpPr>
            <p:cNvPr id="16" name="TextBox 16"/>
            <p:cNvSpPr txBox="1"/>
            <p:nvPr/>
          </p:nvSpPr>
          <p:spPr>
            <a:xfrm>
              <a:off x="602742" y="1949768"/>
              <a:ext cx="402564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CVPR 2026 GFRRN：全量微调掉分（26.70 → 25.35）</a:t>
              </a:r>
              <a:br/>
              <a:r>
                <a:rPr lang="zh-CN" sz="1350" dirty="0">
                  <a:solidFill>
                    <a:schemeClr val="dk1"/>
                  </a:solidFill>
                  <a:latin typeface="+mn-lt"/>
                  <a:ea typeface="+mn-ea"/>
                  <a:cs typeface="+mn-cs"/>
                </a:rPr>
                <a:t xml:space="preserve">而 </a:t>
              </a:r>
              <a:r>
                <a:rPr lang="zh-CN" sz="1350" b="1" dirty="0">
                  <a:solidFill>
                    <a:schemeClr val="accent2"/>
                  </a:solidFill>
                  <a:latin typeface="+mn-lt"/>
                  <a:ea typeface="+mn-ea"/>
                  <a:cs typeface="+mn-cs"/>
                </a:rPr>
                <a:t>Mona 适配器反而涨分</a:t>
              </a:r>
              <a:r>
                <a:rPr lang="zh-CN" sz="1350" dirty="0">
                  <a:solidFill>
                    <a:schemeClr val="dk1"/>
                  </a:solidFill>
                  <a:latin typeface="+mn-lt"/>
                  <a:ea typeface="+mn-ea"/>
                  <a:cs typeface="+mn-cs"/>
                </a:rPr>
                <a:t>（25.35 → 27.33）</a:t>
              </a:r>
            </a:p>
          </p:txBody>
        </p:sp>
        <p:sp>
          <p:nvSpPr>
            <p:cNvPr id="17" name="Line 17"/>
            <p:cNvSpPr/>
            <p:nvPr/>
          </p:nvSpPr>
          <p:spPr>
            <a:xfrm>
              <a:off x="609600" y="2857500"/>
              <a:ext cx="6248400" cy="9525"/>
            </a:xfrm>
            <a:custGeom>
              <a:avLst/>
              <a:gdLst/>
              <a:ahLst/>
              <a:cxnLst/>
              <a:rect l="l" t="t" r="r" b="b"/>
              <a:pathLst>
                <a:path w="6248400" h="9525">
                  <a:moveTo>
                    <a:pt x="0" y="0"/>
                  </a:moveTo>
                  <a:lnTo>
                    <a:pt x="6248400" y="0"/>
                  </a:lnTo>
                </a:path>
              </a:pathLst>
            </a:custGeom>
            <a:noFill/>
            <a:ln w="9525">
              <a:solidFill>
                <a:schemeClr val="accent6"/>
              </a:solidFill>
            </a:ln>
          </p:spPr>
        </p:sp>
        <p:sp>
          <p:nvSpPr>
            <p:cNvPr id="18" name="TextBox 18"/>
            <p:cNvSpPr txBox="1"/>
            <p:nvPr/>
          </p:nvSpPr>
          <p:spPr>
            <a:xfrm>
              <a:off x="600456" y="3044190"/>
              <a:ext cx="341071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同构性：本项目也见过同一现象</a:t>
              </a:r>
            </a:p>
          </p:txBody>
        </p:sp>
        <p:sp>
          <p:nvSpPr>
            <p:cNvPr id="19" name="TextBox 19"/>
            <p:cNvSpPr txBox="1"/>
            <p:nvPr/>
          </p:nvSpPr>
          <p:spPr>
            <a:xfrm>
              <a:off x="602742" y="3416618"/>
              <a:ext cx="435140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pilot 长训后 R̂ 反而下降，与先例同构</a:t>
              </a:r>
              <a:br/>
              <a:r>
                <a:rPr lang="zh-CN" sz="1350" dirty="0">
                  <a:solidFill>
                    <a:schemeClr val="dk1"/>
                  </a:solidFill>
                  <a:latin typeface="+mn-lt"/>
                  <a:ea typeface="+mn-ea"/>
                  <a:cs typeface="+mn-cs"/>
                </a:rPr>
                <a:t>判别性实验：有效 → 特征侧是瓶颈；无效 → 数据侧是瓶颈</a:t>
              </a:r>
            </a:p>
          </p:txBody>
        </p:sp>
        <p:sp>
          <p:nvSpPr>
            <p:cNvPr id="20" name="Line 20"/>
            <p:cNvSpPr/>
            <p:nvPr/>
          </p:nvSpPr>
          <p:spPr>
            <a:xfrm>
              <a:off x="609600" y="4076700"/>
              <a:ext cx="6248400" cy="9525"/>
            </a:xfrm>
            <a:custGeom>
              <a:avLst/>
              <a:gdLst/>
              <a:ahLst/>
              <a:cxnLst/>
              <a:rect l="l" t="t" r="r" b="b"/>
              <a:pathLst>
                <a:path w="6248400" h="9525">
                  <a:moveTo>
                    <a:pt x="0" y="0"/>
                  </a:moveTo>
                  <a:lnTo>
                    <a:pt x="6248400" y="0"/>
                  </a:lnTo>
                </a:path>
              </a:pathLst>
            </a:custGeom>
            <a:noFill/>
            <a:ln w="9525">
              <a:solidFill>
                <a:schemeClr val="accent6"/>
              </a:solidFill>
            </a:ln>
          </p:spPr>
        </p:sp>
        <p:sp>
          <p:nvSpPr>
            <p:cNvPr id="21" name="TextBox 21"/>
            <p:cNvSpPr txBox="1"/>
            <p:nvPr/>
          </p:nvSpPr>
          <p:spPr>
            <a:xfrm>
              <a:off x="600456" y="4263390"/>
              <a:ext cx="74523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已落地</a:t>
              </a:r>
            </a:p>
          </p:txBody>
        </p:sp>
        <p:sp>
          <p:nvSpPr>
            <p:cNvPr id="22" name="TextBox 22"/>
            <p:cNvSpPr txBox="1"/>
            <p:nvPr/>
          </p:nvSpPr>
          <p:spPr>
            <a:xfrm>
              <a:off x="602742" y="4635818"/>
              <a:ext cx="4771454"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官方实现调研 + 插入点确认（FocalNet 块内两个残差之后）</a:t>
              </a:r>
              <a:br/>
              <a:r>
                <a:rPr lang="zh-CN" sz="1350" dirty="0">
                  <a:solidFill>
                    <a:schemeClr val="dk1"/>
                  </a:solidFill>
                  <a:latin typeface="+mn-lt"/>
                  <a:ea typeface="+mn-ea"/>
                  <a:cs typeface="+mn-cs"/>
                </a:rPr>
                <a:t>实现与冒烟测试进行中</a:t>
              </a:r>
              <a:br/>
              <a:r>
                <a:rPr lang="zh-CN" sz="1350" dirty="0">
                  <a:solidFill>
                    <a:schemeClr val="dk1"/>
                  </a:solidFill>
                  <a:latin typeface="+mn-lt"/>
                  <a:ea typeface="+mn-ea"/>
                  <a:cs typeface="+mn-cs"/>
                </a:rPr>
                <a:t>诚实预期 +0.2 ~ +0.8 dB（点估 +0.5），无论结果都有信息量</a:t>
              </a:r>
            </a:p>
          </p:txBody>
        </p:sp>
      </p:grpSp>
      <p:grpSp>
        <p:nvGrpSpPr>
          <p:cNvPr id="37" name="p13-diagram"/>
          <p:cNvGrpSpPr/>
          <p:nvPr/>
        </p:nvGrpSpPr>
        <p:grpSpPr>
          <a:xfrm>
            <a:off x="7422642" y="2038350"/>
            <a:ext cx="4159758" cy="3109151"/>
            <a:chOff x="7422642" y="2038350"/>
            <a:chExt cx="4159758" cy="3109151"/>
          </a:xfrm>
        </p:grpSpPr>
        <p:sp>
          <p:nvSpPr>
            <p:cNvPr id="24" name="Rectangle 24"/>
            <p:cNvSpPr/>
            <p:nvPr/>
          </p:nvSpPr>
          <p:spPr>
            <a:xfrm>
              <a:off x="7429500" y="2038350"/>
              <a:ext cx="4152900" cy="2381250"/>
            </a:xfrm>
            <a:prstGeom prst="roundRect">
              <a:avLst>
                <a:gd name="adj" fmla="val 3200"/>
              </a:avLst>
            </a:prstGeom>
            <a:noFill/>
            <a:ln w="14288">
              <a:solidFill>
                <a:schemeClr val="accent1"/>
              </a:solidFill>
            </a:ln>
          </p:spPr>
        </p:sp>
        <p:sp>
          <p:nvSpPr>
            <p:cNvPr id="25" name="TextBox 25"/>
            <p:cNvSpPr txBox="1"/>
            <p:nvPr/>
          </p:nvSpPr>
          <p:spPr>
            <a:xfrm>
              <a:off x="7613142" y="2197418"/>
              <a:ext cx="238370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FocalNet Block（主干冻结）</a:t>
              </a:r>
            </a:p>
          </p:txBody>
        </p:sp>
        <p:sp>
          <p:nvSpPr>
            <p:cNvPr id="26" name="Rectangle 26"/>
            <p:cNvSpPr/>
            <p:nvPr/>
          </p:nvSpPr>
          <p:spPr>
            <a:xfrm>
              <a:off x="7620000" y="2609850"/>
              <a:ext cx="1905000" cy="419100"/>
            </a:xfrm>
            <a:prstGeom prst="rect">
              <a:avLst/>
            </a:prstGeom>
            <a:solidFill>
              <a:schemeClr val="lt2"/>
            </a:solidFill>
            <a:ln>
              <a:noFill/>
            </a:ln>
          </p:spPr>
        </p:sp>
        <p:sp>
          <p:nvSpPr>
            <p:cNvPr id="27" name="TextBox 27"/>
            <p:cNvSpPr txBox="1"/>
            <p:nvPr/>
          </p:nvSpPr>
          <p:spPr>
            <a:xfrm>
              <a:off x="8124930" y="2730818"/>
              <a:ext cx="895140"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残差分支 1</a:t>
              </a:r>
            </a:p>
          </p:txBody>
        </p:sp>
        <p:sp>
          <p:nvSpPr>
            <p:cNvPr id="28" name="Line 28"/>
            <p:cNvSpPr/>
            <p:nvPr/>
          </p:nvSpPr>
          <p:spPr>
            <a:xfrm>
              <a:off x="9525000" y="2819400"/>
              <a:ext cx="228600" cy="9525"/>
            </a:xfrm>
            <a:custGeom>
              <a:avLst/>
              <a:gdLst/>
              <a:ahLst/>
              <a:cxnLst/>
              <a:rect l="l" t="t" r="r" b="b"/>
              <a:pathLst>
                <a:path w="228600" h="9525">
                  <a:moveTo>
                    <a:pt x="0" y="0"/>
                  </a:moveTo>
                  <a:lnTo>
                    <a:pt x="228600" y="0"/>
                  </a:lnTo>
                </a:path>
              </a:pathLst>
            </a:custGeom>
            <a:noFill/>
            <a:ln w="19050">
              <a:solidFill>
                <a:schemeClr val="accent1"/>
              </a:solidFill>
            </a:ln>
          </p:spPr>
        </p:sp>
        <p:sp>
          <p:nvSpPr>
            <p:cNvPr id="29" name="Rectangle 29"/>
            <p:cNvSpPr/>
            <p:nvPr/>
          </p:nvSpPr>
          <p:spPr>
            <a:xfrm>
              <a:off x="9753600" y="2609850"/>
              <a:ext cx="1600200" cy="419100"/>
            </a:xfrm>
            <a:prstGeom prst="rect">
              <a:avLst/>
            </a:prstGeom>
            <a:solidFill>
              <a:schemeClr val="accent2"/>
            </a:solidFill>
            <a:ln>
              <a:noFill/>
            </a:ln>
          </p:spPr>
        </p:sp>
        <p:sp>
          <p:nvSpPr>
            <p:cNvPr id="30" name="TextBox 30"/>
            <p:cNvSpPr txBox="1"/>
            <p:nvPr/>
          </p:nvSpPr>
          <p:spPr>
            <a:xfrm>
              <a:off x="10116288" y="2730818"/>
              <a:ext cx="874824"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Mona 适配</a:t>
              </a:r>
            </a:p>
          </p:txBody>
        </p:sp>
        <p:sp>
          <p:nvSpPr>
            <p:cNvPr id="31" name="Rectangle 31"/>
            <p:cNvSpPr/>
            <p:nvPr/>
          </p:nvSpPr>
          <p:spPr>
            <a:xfrm>
              <a:off x="7620000" y="3352800"/>
              <a:ext cx="1905000" cy="419100"/>
            </a:xfrm>
            <a:prstGeom prst="rect">
              <a:avLst/>
            </a:prstGeom>
            <a:solidFill>
              <a:schemeClr val="lt2"/>
            </a:solidFill>
            <a:ln>
              <a:noFill/>
            </a:ln>
          </p:spPr>
        </p:sp>
        <p:sp>
          <p:nvSpPr>
            <p:cNvPr id="32" name="TextBox 32"/>
            <p:cNvSpPr txBox="1"/>
            <p:nvPr/>
          </p:nvSpPr>
          <p:spPr>
            <a:xfrm>
              <a:off x="8124930" y="3473768"/>
              <a:ext cx="895140"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残差分支 2</a:t>
              </a:r>
            </a:p>
          </p:txBody>
        </p:sp>
        <p:sp>
          <p:nvSpPr>
            <p:cNvPr id="33" name="Line 33"/>
            <p:cNvSpPr/>
            <p:nvPr/>
          </p:nvSpPr>
          <p:spPr>
            <a:xfrm>
              <a:off x="9525000" y="3562350"/>
              <a:ext cx="228600" cy="9525"/>
            </a:xfrm>
            <a:custGeom>
              <a:avLst/>
              <a:gdLst/>
              <a:ahLst/>
              <a:cxnLst/>
              <a:rect l="l" t="t" r="r" b="b"/>
              <a:pathLst>
                <a:path w="228600" h="9525">
                  <a:moveTo>
                    <a:pt x="0" y="0"/>
                  </a:moveTo>
                  <a:lnTo>
                    <a:pt x="228600" y="0"/>
                  </a:lnTo>
                </a:path>
              </a:pathLst>
            </a:custGeom>
            <a:noFill/>
            <a:ln w="19050">
              <a:solidFill>
                <a:schemeClr val="accent1"/>
              </a:solidFill>
            </a:ln>
          </p:spPr>
        </p:sp>
        <p:sp>
          <p:nvSpPr>
            <p:cNvPr id="34" name="Rectangle 34"/>
            <p:cNvSpPr/>
            <p:nvPr/>
          </p:nvSpPr>
          <p:spPr>
            <a:xfrm>
              <a:off x="9753600" y="3352800"/>
              <a:ext cx="1600200" cy="419100"/>
            </a:xfrm>
            <a:prstGeom prst="rect">
              <a:avLst/>
            </a:prstGeom>
            <a:solidFill>
              <a:schemeClr val="accent2"/>
            </a:solidFill>
            <a:ln>
              <a:noFill/>
            </a:ln>
          </p:spPr>
        </p:sp>
        <p:sp>
          <p:nvSpPr>
            <p:cNvPr id="35" name="TextBox 35"/>
            <p:cNvSpPr txBox="1"/>
            <p:nvPr/>
          </p:nvSpPr>
          <p:spPr>
            <a:xfrm>
              <a:off x="10116288" y="3473768"/>
              <a:ext cx="874824"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Mona 适配</a:t>
              </a:r>
            </a:p>
          </p:txBody>
        </p:sp>
        <p:sp>
          <p:nvSpPr>
            <p:cNvPr id="36" name="TextBox 36"/>
            <p:cNvSpPr txBox="1"/>
            <p:nvPr/>
          </p:nvSpPr>
          <p:spPr>
            <a:xfrm>
              <a:off x="7422642" y="4616768"/>
              <a:ext cx="292836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插入点：两个残差之后，主干保持冻结</a:t>
              </a:r>
              <a:br/>
              <a:r>
                <a:rPr lang="zh-CN" sz="1350" dirty="0">
                  <a:solidFill>
                    <a:schemeClr val="dk1"/>
                  </a:solidFill>
                  <a:latin typeface="+mn-lt"/>
                  <a:ea typeface="+mn-ea"/>
                  <a:cs typeface="+mn-cs"/>
                </a:rPr>
                <a:t>只新增少量参数，避免语义漂移</a:t>
              </a:r>
            </a:p>
          </p:txBody>
        </p:sp>
      </p:grpSp>
      <p:grpSp>
        <p:nvGrpSpPr>
          <p:cNvPr id="40" name="page-footer"/>
          <p:cNvGrpSpPr/>
          <p:nvPr/>
        </p:nvGrpSpPr>
        <p:grpSpPr>
          <a:xfrm>
            <a:off x="603504" y="6252210"/>
            <a:ext cx="10984992" cy="234696"/>
            <a:chOff x="603504" y="6252210"/>
            <a:chExt cx="10984992" cy="234696"/>
          </a:xfrm>
        </p:grpSpPr>
        <p:sp>
          <p:nvSpPr>
            <p:cNvPr id="38" name="TextBox 38"/>
            <p:cNvSpPr txBox="1"/>
            <p:nvPr/>
          </p:nvSpPr>
          <p:spPr>
            <a:xfrm>
              <a:off x="603504" y="6252210"/>
              <a:ext cx="572780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GFRRN（CVPR 2026）与 Mona 官方实现调研 · 插入点已确认，冒烟进行中</a:t>
              </a:r>
            </a:p>
          </p:txBody>
        </p:sp>
        <p:sp>
          <p:nvSpPr>
            <p:cNvPr id="39" name="TextBox 39"/>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 / 17</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6031554"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R 池只有 131 张：本地已挖干净</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6" name="p14-pool"/>
          <p:cNvGrpSpPr/>
          <p:nvPr/>
        </p:nvGrpSpPr>
        <p:grpSpPr>
          <a:xfrm>
            <a:off x="609600" y="1428750"/>
            <a:ext cx="6057900" cy="3448050"/>
            <a:chOff x="609600" y="1428750"/>
            <a:chExt cx="6057900" cy="3448050"/>
          </a:xfrm>
        </p:grpSpPr>
        <p:pic>
          <p:nvPicPr>
            <p:cNvPr id="5" name="Image 5"/>
            <p:cNvPicPr>
              <a:picLocks noChangeAspect="1"/>
            </p:cNvPicPr>
            <p:nvPr/>
          </p:nvPicPr>
          <p:blipFill>
            <a:blip r:embed="rId2"/>
            <a:stretch>
              <a:fillRect/>
            </a:stretch>
          </p:blipFill>
          <p:spPr>
            <a:xfrm>
              <a:off x="609600" y="1428750"/>
              <a:ext cx="6057900" cy="3448050"/>
            </a:xfrm>
            <a:prstGeom prst="rect">
              <a:avLst/>
            </a:prstGeom>
          </p:spPr>
        </p:pic>
      </p:grpSp>
      <p:grpSp>
        <p:nvGrpSpPr>
          <p:cNvPr id="16" name="p14-plan"/>
          <p:cNvGrpSpPr/>
          <p:nvPr/>
        </p:nvGrpSpPr>
        <p:grpSpPr>
          <a:xfrm>
            <a:off x="7039356" y="1524000"/>
            <a:ext cx="4543044" cy="2366201"/>
            <a:chOff x="7039356" y="1524000"/>
            <a:chExt cx="4543044" cy="2366201"/>
          </a:xfrm>
        </p:grpSpPr>
        <p:grpSp>
          <p:nvGrpSpPr>
            <p:cNvPr id="10" name="Group 10"/>
            <p:cNvGrpSpPr/>
            <p:nvPr/>
          </p:nvGrpSpPr>
          <p:grpSpPr>
            <a:xfrm>
              <a:off x="7099300" y="1524000"/>
              <a:ext cx="203199" cy="228600"/>
              <a:chOff x="7099300" y="1524000"/>
              <a:chExt cx="203199" cy="228600"/>
            </a:xfrm>
          </p:grpSpPr>
          <p:sp>
            <p:nvSpPr>
              <p:cNvPr id="7" name="Freeform 7"/>
              <p:cNvSpPr/>
              <p:nvPr/>
            </p:nvSpPr>
            <p:spPr>
              <a:xfrm>
                <a:off x="7099300" y="1524000"/>
                <a:ext cx="203199" cy="76200"/>
              </a:xfrm>
              <a:custGeom>
                <a:avLst/>
                <a:gdLst/>
                <a:ahLst/>
                <a:cxnLst/>
                <a:rect l="l" t="t" r="r" b="b"/>
                <a:pathLst>
                  <a:path w="203199" h="76200">
                    <a:moveTo>
                      <a:pt x="0" y="38100"/>
                    </a:moveTo>
                    <a:cubicBezTo>
                      <a:pt x="0" y="59142"/>
                      <a:pt x="45488" y="76200"/>
                      <a:pt x="101600" y="76200"/>
                    </a:cubicBezTo>
                    <a:cubicBezTo>
                      <a:pt x="157712" y="76200"/>
                      <a:pt x="203199" y="59142"/>
                      <a:pt x="203199" y="38100"/>
                    </a:cubicBezTo>
                    <a:cubicBezTo>
                      <a:pt x="203199" y="17058"/>
                      <a:pt x="157712" y="0"/>
                      <a:pt x="101600" y="0"/>
                    </a:cubicBezTo>
                    <a:cubicBezTo>
                      <a:pt x="45488" y="0"/>
                      <a:pt x="0" y="17058"/>
                      <a:pt x="0" y="38100"/>
                    </a:cubicBezTo>
                  </a:path>
                </a:pathLst>
              </a:custGeom>
              <a:noFill/>
              <a:ln w="25400">
                <a:solidFill>
                  <a:schemeClr val="accent1"/>
                </a:solidFill>
              </a:ln>
            </p:spPr>
          </p:sp>
          <p:sp>
            <p:nvSpPr>
              <p:cNvPr id="8" name="Freeform 8"/>
              <p:cNvSpPr/>
              <p:nvPr/>
            </p:nvSpPr>
            <p:spPr>
              <a:xfrm>
                <a:off x="7099300" y="1562100"/>
                <a:ext cx="203199" cy="114300"/>
              </a:xfrm>
              <a:custGeom>
                <a:avLst/>
                <a:gdLst/>
                <a:ahLst/>
                <a:cxnLst/>
                <a:rect l="l" t="t" r="r" b="b"/>
                <a:pathLst>
                  <a:path w="203199" h="114300">
                    <a:moveTo>
                      <a:pt x="0" y="0"/>
                    </a:moveTo>
                    <a:lnTo>
                      <a:pt x="0" y="76200"/>
                    </a:lnTo>
                    <a:cubicBezTo>
                      <a:pt x="0" y="97242"/>
                      <a:pt x="45488" y="114300"/>
                      <a:pt x="101600" y="114300"/>
                    </a:cubicBezTo>
                    <a:cubicBezTo>
                      <a:pt x="157712" y="114300"/>
                      <a:pt x="203199" y="97242"/>
                      <a:pt x="203199" y="76200"/>
                    </a:cubicBezTo>
                    <a:lnTo>
                      <a:pt x="203199" y="0"/>
                    </a:lnTo>
                  </a:path>
                </a:pathLst>
              </a:custGeom>
              <a:noFill/>
              <a:ln w="25400">
                <a:solidFill>
                  <a:schemeClr val="accent1"/>
                </a:solidFill>
              </a:ln>
            </p:spPr>
          </p:sp>
          <p:sp>
            <p:nvSpPr>
              <p:cNvPr id="9" name="Freeform 9"/>
              <p:cNvSpPr/>
              <p:nvPr/>
            </p:nvSpPr>
            <p:spPr>
              <a:xfrm>
                <a:off x="7099300" y="1638300"/>
                <a:ext cx="203199" cy="114300"/>
              </a:xfrm>
              <a:custGeom>
                <a:avLst/>
                <a:gdLst/>
                <a:ahLst/>
                <a:cxnLst/>
                <a:rect l="l" t="t" r="r" b="b"/>
                <a:pathLst>
                  <a:path w="203199" h="114300">
                    <a:moveTo>
                      <a:pt x="0" y="0"/>
                    </a:moveTo>
                    <a:lnTo>
                      <a:pt x="0" y="76200"/>
                    </a:lnTo>
                    <a:cubicBezTo>
                      <a:pt x="0" y="97242"/>
                      <a:pt x="45488" y="114300"/>
                      <a:pt x="101600" y="114300"/>
                    </a:cubicBezTo>
                    <a:cubicBezTo>
                      <a:pt x="157712" y="114300"/>
                      <a:pt x="203199" y="97242"/>
                      <a:pt x="203199" y="76200"/>
                    </a:cubicBezTo>
                    <a:lnTo>
                      <a:pt x="203199" y="0"/>
                    </a:lnTo>
                  </a:path>
                </a:pathLst>
              </a:custGeom>
              <a:noFill/>
              <a:ln w="25400">
                <a:solidFill>
                  <a:schemeClr val="accent1"/>
                </a:solidFill>
              </a:ln>
            </p:spPr>
          </p:sp>
        </p:grpSp>
        <p:sp>
          <p:nvSpPr>
            <p:cNvPr id="11" name="TextBox 11"/>
            <p:cNvSpPr txBox="1"/>
            <p:nvPr/>
          </p:nvSpPr>
          <p:spPr>
            <a:xfrm>
              <a:off x="7458456" y="1558290"/>
              <a:ext cx="171450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池为什么这么小</a:t>
              </a:r>
            </a:p>
          </p:txBody>
        </p:sp>
        <p:sp>
          <p:nvSpPr>
            <p:cNvPr id="12" name="TextBox 12"/>
            <p:cNvSpPr txBox="1"/>
            <p:nvPr/>
          </p:nvSpPr>
          <p:spPr>
            <a:xfrm>
              <a:off x="7041642" y="1949768"/>
              <a:ext cx="303123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601 = 131 保留 + 226 冗余</a:t>
              </a:r>
              <a:br/>
              <a:r>
                <a:rPr lang="zh-CN" sz="1350" dirty="0">
                  <a:solidFill>
                    <a:schemeClr val="dk1"/>
                  </a:solidFill>
                  <a:latin typeface="+mn-lt"/>
                  <a:ea typeface="+mn-ea"/>
                  <a:cs typeface="+mn-cs"/>
                </a:rPr>
                <a:t>+ 169 孪生 + 75 同簇剔除</a:t>
              </a:r>
              <a:br/>
              <a:r>
                <a:rPr lang="zh-CN" sz="1350" dirty="0">
                  <a:solidFill>
                    <a:schemeClr val="dk1"/>
                  </a:solidFill>
                  <a:latin typeface="+mn-lt"/>
                  <a:ea typeface="+mn-ea"/>
                  <a:cs typeface="+mn-cs"/>
                </a:rPr>
                <a:t>保留来源：rrw 场景层 17 + wsoft 114</a:t>
              </a:r>
            </a:p>
          </p:txBody>
        </p:sp>
        <p:sp>
          <p:nvSpPr>
            <p:cNvPr id="13" name="Line 13"/>
            <p:cNvSpPr/>
            <p:nvPr/>
          </p:nvSpPr>
          <p:spPr>
            <a:xfrm>
              <a:off x="7048500" y="2819400"/>
              <a:ext cx="4533900" cy="9525"/>
            </a:xfrm>
            <a:custGeom>
              <a:avLst/>
              <a:gdLst/>
              <a:ahLst/>
              <a:cxnLst/>
              <a:rect l="l" t="t" r="r" b="b"/>
              <a:pathLst>
                <a:path w="4533900" h="9525">
                  <a:moveTo>
                    <a:pt x="0" y="0"/>
                  </a:moveTo>
                  <a:lnTo>
                    <a:pt x="4533900" y="0"/>
                  </a:lnTo>
                </a:path>
              </a:pathLst>
            </a:custGeom>
            <a:noFill/>
            <a:ln w="9525">
              <a:solidFill>
                <a:schemeClr val="accent6"/>
              </a:solidFill>
            </a:ln>
          </p:spPr>
        </p:sp>
        <p:sp>
          <p:nvSpPr>
            <p:cNvPr id="14" name="TextBox 14"/>
            <p:cNvSpPr txBox="1"/>
            <p:nvPr/>
          </p:nvSpPr>
          <p:spPr>
            <a:xfrm>
              <a:off x="7039356" y="300609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扩池计划</a:t>
              </a:r>
            </a:p>
          </p:txBody>
        </p:sp>
        <p:sp>
          <p:nvSpPr>
            <p:cNvPr id="15" name="TextBox 15"/>
            <p:cNvSpPr txBox="1"/>
            <p:nvPr/>
          </p:nvSpPr>
          <p:spPr>
            <a:xfrm>
              <a:off x="7041642" y="3378518"/>
              <a:ext cx="324554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本地 10,508 帧 / 42 场景已全部开采</a:t>
              </a:r>
              <a:br/>
              <a:r>
                <a:rPr lang="zh-CN" sz="1350" dirty="0">
                  <a:solidFill>
                    <a:schemeClr val="dk1"/>
                  </a:solidFill>
                  <a:latin typeface="+mn-lt"/>
                  <a:ea typeface="+mn-ea"/>
                  <a:cs typeface="+mn-cs"/>
                </a:rPr>
                <a:t>余量 = 107 个未下载场景；目标 131 → 287</a:t>
              </a:r>
            </a:p>
          </p:txBody>
        </p:sp>
      </p:grpSp>
      <p:grpSp>
        <p:nvGrpSpPr>
          <p:cNvPr id="18" name="p14-preview"/>
          <p:cNvGrpSpPr/>
          <p:nvPr/>
        </p:nvGrpSpPr>
        <p:grpSpPr>
          <a:xfrm>
            <a:off x="7048500" y="3924300"/>
            <a:ext cx="4533900" cy="1205865"/>
            <a:chOff x="7048500" y="3924300"/>
            <a:chExt cx="4533900" cy="1205865"/>
          </a:xfrm>
        </p:grpSpPr>
        <p:pic>
          <p:nvPicPr>
            <p:cNvPr id="17" name="Image 17"/>
            <p:cNvPicPr>
              <a:picLocks noChangeAspect="1"/>
            </p:cNvPicPr>
            <p:nvPr/>
          </p:nvPicPr>
          <p:blipFill>
            <a:blip r:embed="rId3"/>
            <a:stretch>
              <a:fillRect/>
            </a:stretch>
          </p:blipFill>
          <p:spPr>
            <a:xfrm>
              <a:off x="7048500" y="3924300"/>
              <a:ext cx="4533900" cy="1205865"/>
            </a:xfrm>
            <a:prstGeom prst="rect">
              <a:avLst/>
            </a:prstGeom>
          </p:spPr>
        </p:pic>
      </p:grpSp>
      <p:grpSp>
        <p:nvGrpSpPr>
          <p:cNvPr id="21" name="page-footer"/>
          <p:cNvGrpSpPr/>
          <p:nvPr/>
        </p:nvGrpSpPr>
        <p:grpSpPr>
          <a:xfrm>
            <a:off x="603504" y="6252210"/>
            <a:ext cx="10984992" cy="234696"/>
            <a:chOff x="603504" y="6252210"/>
            <a:chExt cx="10984992" cy="234696"/>
          </a:xfrm>
        </p:grpSpPr>
        <p:sp>
          <p:nvSpPr>
            <p:cNvPr id="19" name="TextBox 19"/>
            <p:cNvSpPr txBox="1"/>
            <p:nvPr/>
          </p:nvSpPr>
          <p:spPr>
            <a:xfrm>
              <a:off x="603504" y="6252210"/>
              <a:ext cx="659511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data/pools/r_train_0915_meta.csv · 剔除构成按内容级核查逐行统计，非按文件名</a:t>
              </a:r>
            </a:p>
          </p:txBody>
        </p:sp>
        <p:sp>
          <p:nvSpPr>
            <p:cNvPr id="20" name="TextBox 20"/>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 / 17</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760135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用结构钉住 α，无参照场景交给一次标定</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4" name="p15-step-anchor"/>
          <p:cNvGrpSpPr/>
          <p:nvPr/>
        </p:nvGrpSpPr>
        <p:grpSpPr>
          <a:xfrm>
            <a:off x="598170" y="1714500"/>
            <a:ext cx="3781615" cy="1680401"/>
            <a:chOff x="598170" y="1714500"/>
            <a:chExt cx="3781615" cy="1680401"/>
          </a:xfrm>
        </p:grpSpPr>
        <p:grpSp>
          <p:nvGrpSpPr>
            <p:cNvPr id="10" name="Group 10"/>
            <p:cNvGrpSpPr/>
            <p:nvPr/>
          </p:nvGrpSpPr>
          <p:grpSpPr>
            <a:xfrm>
              <a:off x="647700" y="1714500"/>
              <a:ext cx="228600" cy="225424"/>
              <a:chOff x="647700" y="1714500"/>
              <a:chExt cx="228600" cy="225424"/>
            </a:xfrm>
          </p:grpSpPr>
          <p:sp>
            <p:nvSpPr>
              <p:cNvPr id="5" name="Freeform 5"/>
              <p:cNvSpPr/>
              <p:nvPr/>
            </p:nvSpPr>
            <p:spPr>
              <a:xfrm>
                <a:off x="698500" y="1930399"/>
                <a:ext cx="127000" cy="9525"/>
              </a:xfrm>
              <a:custGeom>
                <a:avLst/>
                <a:gdLst/>
                <a:ahLst/>
                <a:cxnLst/>
                <a:rect l="l" t="t" r="r" b="b"/>
                <a:pathLst>
                  <a:path w="127000" h="9525">
                    <a:moveTo>
                      <a:pt x="0" y="0"/>
                    </a:moveTo>
                    <a:lnTo>
                      <a:pt x="127000" y="0"/>
                    </a:lnTo>
                  </a:path>
                </a:pathLst>
              </a:custGeom>
              <a:noFill/>
              <a:ln w="25400">
                <a:solidFill>
                  <a:schemeClr val="accent2"/>
                </a:solidFill>
              </a:ln>
            </p:spPr>
          </p:sp>
          <p:sp>
            <p:nvSpPr>
              <p:cNvPr id="6" name="Freeform 6"/>
              <p:cNvSpPr/>
              <p:nvPr/>
            </p:nvSpPr>
            <p:spPr>
              <a:xfrm>
                <a:off x="685800" y="1739900"/>
                <a:ext cx="152400" cy="12700"/>
              </a:xfrm>
              <a:custGeom>
                <a:avLst/>
                <a:gdLst/>
                <a:ahLst/>
                <a:cxnLst/>
                <a:rect l="l" t="t" r="r" b="b"/>
                <a:pathLst>
                  <a:path w="152400" h="12700">
                    <a:moveTo>
                      <a:pt x="0" y="12700"/>
                    </a:moveTo>
                    <a:lnTo>
                      <a:pt x="76200" y="0"/>
                    </a:lnTo>
                    <a:lnTo>
                      <a:pt x="152400" y="12700"/>
                    </a:lnTo>
                  </a:path>
                </a:pathLst>
              </a:custGeom>
              <a:noFill/>
              <a:ln w="25400">
                <a:solidFill>
                  <a:schemeClr val="accent2"/>
                </a:solidFill>
              </a:ln>
            </p:spPr>
          </p:sp>
          <p:sp>
            <p:nvSpPr>
              <p:cNvPr id="7" name="Freeform 7"/>
              <p:cNvSpPr/>
              <p:nvPr/>
            </p:nvSpPr>
            <p:spPr>
              <a:xfrm>
                <a:off x="762000" y="1714500"/>
                <a:ext cx="9525" cy="215899"/>
              </a:xfrm>
              <a:custGeom>
                <a:avLst/>
                <a:gdLst/>
                <a:ahLst/>
                <a:cxnLst/>
                <a:rect l="l" t="t" r="r" b="b"/>
                <a:pathLst>
                  <a:path w="9525" h="215899">
                    <a:moveTo>
                      <a:pt x="0" y="0"/>
                    </a:moveTo>
                    <a:lnTo>
                      <a:pt x="0" y="215899"/>
                    </a:lnTo>
                  </a:path>
                </a:pathLst>
              </a:custGeom>
              <a:noFill/>
              <a:ln w="25400">
                <a:solidFill>
                  <a:schemeClr val="accent2"/>
                </a:solidFill>
              </a:ln>
            </p:spPr>
          </p:sp>
          <p:sp>
            <p:nvSpPr>
              <p:cNvPr id="8" name="Freeform 8"/>
              <p:cNvSpPr/>
              <p:nvPr/>
            </p:nvSpPr>
            <p:spPr>
              <a:xfrm>
                <a:off x="647700" y="1752600"/>
                <a:ext cx="76200" cy="114300"/>
              </a:xfrm>
              <a:custGeom>
                <a:avLst/>
                <a:gdLst/>
                <a:ahLst/>
                <a:cxnLst/>
                <a:rect l="l" t="t" r="r" b="b"/>
                <a:pathLst>
                  <a:path w="76200" h="114300">
                    <a:moveTo>
                      <a:pt x="76200" y="76200"/>
                    </a:moveTo>
                    <a:lnTo>
                      <a:pt x="38100" y="0"/>
                    </a:lnTo>
                    <a:lnTo>
                      <a:pt x="0" y="76200"/>
                    </a:lnTo>
                    <a:cubicBezTo>
                      <a:pt x="0" y="97242"/>
                      <a:pt x="17058" y="114300"/>
                      <a:pt x="38100" y="114300"/>
                    </a:cubicBezTo>
                    <a:cubicBezTo>
                      <a:pt x="59142" y="114300"/>
                      <a:pt x="76200" y="97242"/>
                      <a:pt x="76200" y="76200"/>
                    </a:cubicBezTo>
                  </a:path>
                </a:pathLst>
              </a:custGeom>
              <a:noFill/>
              <a:ln w="25400">
                <a:solidFill>
                  <a:schemeClr val="accent2"/>
                </a:solidFill>
              </a:ln>
            </p:spPr>
          </p:sp>
          <p:sp>
            <p:nvSpPr>
              <p:cNvPr id="9" name="Freeform 9"/>
              <p:cNvSpPr/>
              <p:nvPr/>
            </p:nvSpPr>
            <p:spPr>
              <a:xfrm>
                <a:off x="800100" y="1752600"/>
                <a:ext cx="76200" cy="114300"/>
              </a:xfrm>
              <a:custGeom>
                <a:avLst/>
                <a:gdLst/>
                <a:ahLst/>
                <a:cxnLst/>
                <a:rect l="l" t="t" r="r" b="b"/>
                <a:pathLst>
                  <a:path w="76200" h="114300">
                    <a:moveTo>
                      <a:pt x="76200" y="76200"/>
                    </a:moveTo>
                    <a:lnTo>
                      <a:pt x="38100" y="0"/>
                    </a:lnTo>
                    <a:lnTo>
                      <a:pt x="0" y="76200"/>
                    </a:lnTo>
                    <a:cubicBezTo>
                      <a:pt x="0" y="97242"/>
                      <a:pt x="17058" y="114300"/>
                      <a:pt x="38100" y="114300"/>
                    </a:cubicBezTo>
                    <a:cubicBezTo>
                      <a:pt x="59142" y="114300"/>
                      <a:pt x="76200" y="97242"/>
                      <a:pt x="76200" y="76200"/>
                    </a:cubicBezTo>
                  </a:path>
                </a:pathLst>
              </a:custGeom>
              <a:noFill/>
              <a:ln w="25400">
                <a:solidFill>
                  <a:schemeClr val="accent2"/>
                </a:solidFill>
              </a:ln>
            </p:spPr>
          </p:sp>
        </p:grpSp>
        <p:sp>
          <p:nvSpPr>
            <p:cNvPr id="11" name="TextBox 11"/>
            <p:cNvSpPr txBox="1"/>
            <p:nvPr/>
          </p:nvSpPr>
          <p:spPr>
            <a:xfrm>
              <a:off x="1019556" y="174879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边界台阶锚</a:t>
              </a:r>
            </a:p>
          </p:txBody>
        </p:sp>
        <p:sp>
          <p:nvSpPr>
            <p:cNvPr id="12" name="TextBox 12"/>
            <p:cNvSpPr txBox="1"/>
            <p:nvPr/>
          </p:nvSpPr>
          <p:spPr>
            <a:xfrm>
              <a:off x="598170" y="2157412"/>
              <a:ext cx="1607058"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Consolas"/>
                  <a:ea typeface="Consolas"/>
                  <a:cs typeface="Consolas"/>
                </a:rPr>
                <a:t>MAE 0.080</a:t>
              </a:r>
            </a:p>
          </p:txBody>
        </p:sp>
        <p:sp>
          <p:nvSpPr>
            <p:cNvPr id="13" name="TextBox 13"/>
            <p:cNvSpPr txBox="1"/>
            <p:nvPr/>
          </p:nvSpPr>
          <p:spPr>
            <a:xfrm>
              <a:off x="602742" y="2635568"/>
              <a:ext cx="3777043"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聚类 95% CI [0.059, 0.101]，R 真值下界 0.023</a:t>
              </a:r>
              <a:br/>
              <a:r>
                <a:rPr lang="zh-CN" sz="1350" dirty="0">
                  <a:solidFill>
                    <a:schemeClr val="dk1"/>
                  </a:solidFill>
                  <a:latin typeface="+mn-lt"/>
                  <a:ea typeface="+mn-ea"/>
                  <a:cs typeface="+mn-cs"/>
                </a:rPr>
                <a:t>零训练可得，只读图像的硬边界结构</a:t>
              </a:r>
              <a:br/>
              <a:r>
                <a:rPr lang="zh-CN" sz="1350" dirty="0">
                  <a:solidFill>
                    <a:schemeClr val="dk1"/>
                  </a:solidFill>
                  <a:latin typeface="+mn-lt"/>
                  <a:ea typeface="+mn-ea"/>
                  <a:cs typeface="+mn-cs"/>
                </a:rPr>
                <a:t>下一步：进训练做一致性损失</a:t>
              </a:r>
            </a:p>
          </p:txBody>
        </p:sp>
      </p:grpSp>
      <p:grpSp>
        <p:nvGrpSpPr>
          <p:cNvPr id="21" name="p15-invariant"/>
          <p:cNvGrpSpPr/>
          <p:nvPr/>
        </p:nvGrpSpPr>
        <p:grpSpPr>
          <a:xfrm>
            <a:off x="6275070" y="1748790"/>
            <a:ext cx="3404425" cy="1646111"/>
            <a:chOff x="6275070" y="1748790"/>
            <a:chExt cx="3404425" cy="1646111"/>
          </a:xfrm>
        </p:grpSpPr>
        <p:grpSp>
          <p:nvGrpSpPr>
            <p:cNvPr id="17" name="Group 17"/>
            <p:cNvGrpSpPr/>
            <p:nvPr/>
          </p:nvGrpSpPr>
          <p:grpSpPr>
            <a:xfrm>
              <a:off x="6337300" y="1752600"/>
              <a:ext cx="203199" cy="174624"/>
              <a:chOff x="6337300" y="1752600"/>
              <a:chExt cx="203199" cy="174624"/>
            </a:xfrm>
          </p:grpSpPr>
          <p:sp>
            <p:nvSpPr>
              <p:cNvPr id="15" name="Freeform 15"/>
              <p:cNvSpPr/>
              <p:nvPr/>
            </p:nvSpPr>
            <p:spPr>
              <a:xfrm>
                <a:off x="6337300" y="1917699"/>
                <a:ext cx="203199" cy="9525"/>
              </a:xfrm>
              <a:custGeom>
                <a:avLst/>
                <a:gdLst/>
                <a:ahLst/>
                <a:cxnLst/>
                <a:rect l="l" t="t" r="r" b="b"/>
                <a:pathLst>
                  <a:path w="203199" h="9525">
                    <a:moveTo>
                      <a:pt x="0" y="0"/>
                    </a:moveTo>
                    <a:lnTo>
                      <a:pt x="203199" y="0"/>
                    </a:lnTo>
                  </a:path>
                </a:pathLst>
              </a:custGeom>
              <a:noFill/>
              <a:ln w="25400">
                <a:solidFill>
                  <a:schemeClr val="accent2"/>
                </a:solidFill>
              </a:ln>
            </p:spPr>
          </p:sp>
          <p:sp>
            <p:nvSpPr>
              <p:cNvPr id="16" name="Freeform 16"/>
              <p:cNvSpPr/>
              <p:nvPr/>
            </p:nvSpPr>
            <p:spPr>
              <a:xfrm>
                <a:off x="6337300" y="1752600"/>
                <a:ext cx="203199" cy="114300"/>
              </a:xfrm>
              <a:custGeom>
                <a:avLst/>
                <a:gdLst/>
                <a:ahLst/>
                <a:cxnLst/>
                <a:rect l="l" t="t" r="r" b="b"/>
                <a:pathLst>
                  <a:path w="203199" h="114300">
                    <a:moveTo>
                      <a:pt x="0" y="114300"/>
                    </a:moveTo>
                    <a:lnTo>
                      <a:pt x="50800" y="38100"/>
                    </a:lnTo>
                    <a:lnTo>
                      <a:pt x="101600" y="63500"/>
                    </a:lnTo>
                    <a:lnTo>
                      <a:pt x="152400" y="0"/>
                    </a:lnTo>
                    <a:lnTo>
                      <a:pt x="203199" y="50800"/>
                    </a:lnTo>
                  </a:path>
                </a:pathLst>
              </a:custGeom>
              <a:noFill/>
              <a:ln w="25400">
                <a:solidFill>
                  <a:schemeClr val="accent2"/>
                </a:solidFill>
              </a:ln>
            </p:spPr>
          </p:sp>
        </p:grpSp>
        <p:sp>
          <p:nvSpPr>
            <p:cNvPr id="18" name="TextBox 18"/>
            <p:cNvSpPr txBox="1"/>
            <p:nvPr/>
          </p:nvSpPr>
          <p:spPr>
            <a:xfrm>
              <a:off x="6696456" y="1748790"/>
              <a:ext cx="171450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多档配对不变量</a:t>
              </a:r>
            </a:p>
          </p:txBody>
        </p:sp>
        <p:sp>
          <p:nvSpPr>
            <p:cNvPr id="19" name="TextBox 19"/>
            <p:cNvSpPr txBox="1"/>
            <p:nvPr/>
          </p:nvSpPr>
          <p:spPr>
            <a:xfrm>
              <a:off x="6275070" y="2157412"/>
              <a:ext cx="1794796"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Consolas"/>
                  <a:ea typeface="Microsoft YaHei"/>
                  <a:cs typeface="Consolas"/>
                </a:rPr>
                <a:t>误差 0.065%</a:t>
              </a:r>
            </a:p>
          </p:txBody>
        </p:sp>
        <p:sp>
          <p:nvSpPr>
            <p:cNvPr id="20" name="TextBox 20"/>
            <p:cNvSpPr txBox="1"/>
            <p:nvPr/>
          </p:nvSpPr>
          <p:spPr>
            <a:xfrm>
              <a:off x="6279642" y="2635568"/>
              <a:ext cx="3399853"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无掩膜口径；GT 掩膜口径为 0.31% / 0.25%</a:t>
              </a:r>
              <a:br/>
              <a:r>
                <a:rPr lang="zh-CN" sz="1350" dirty="0">
                  <a:solidFill>
                    <a:schemeClr val="dk1"/>
                  </a:solidFill>
                  <a:latin typeface="+mn-lt"/>
                  <a:ea typeface="+mn-ea"/>
                  <a:cs typeface="+mn-cs"/>
                </a:rPr>
                <a:t>同一物理量在两档之间的比值关系恒定</a:t>
              </a:r>
              <a:br/>
              <a:r>
                <a:rPr lang="zh-CN" sz="1350" dirty="0">
                  <a:solidFill>
                    <a:schemeClr val="dk1"/>
                  </a:solidFill>
                  <a:latin typeface="+mn-lt"/>
                  <a:ea typeface="+mn-ea"/>
                  <a:cs typeface="+mn-cs"/>
                </a:rPr>
                <a:t>同样是零训练可得的结构约束</a:t>
              </a:r>
            </a:p>
          </p:txBody>
        </p:sp>
      </p:grpSp>
      <p:grpSp>
        <p:nvGrpSpPr>
          <p:cNvPr id="25" name="p15-fullfilm"/>
          <p:cNvGrpSpPr/>
          <p:nvPr/>
        </p:nvGrpSpPr>
        <p:grpSpPr>
          <a:xfrm>
            <a:off x="600456" y="4229100"/>
            <a:ext cx="10981944" cy="1642301"/>
            <a:chOff x="600456" y="4229100"/>
            <a:chExt cx="10981944" cy="1642301"/>
          </a:xfrm>
        </p:grpSpPr>
        <p:sp>
          <p:nvSpPr>
            <p:cNvPr id="22" name="Line 22"/>
            <p:cNvSpPr/>
            <p:nvPr/>
          </p:nvSpPr>
          <p:spPr>
            <a:xfrm>
              <a:off x="609600" y="4229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600456" y="4415790"/>
              <a:ext cx="394562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全膜（无参照）：候选族 + 一次标定</a:t>
              </a:r>
            </a:p>
          </p:txBody>
        </p:sp>
        <p:sp>
          <p:nvSpPr>
            <p:cNvPr id="24" name="TextBox 24"/>
            <p:cNvSpPr txBox="1"/>
            <p:nvPr/>
          </p:nvSpPr>
          <p:spPr>
            <a:xfrm>
              <a:off x="602742" y="4807268"/>
              <a:ext cx="6357366" cy="10641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单帧不可辨 → 解不出唯一 α；给候选族（同一图若干亮度档），由一次外部标定选定</a:t>
              </a:r>
              <a:br/>
              <a:r>
                <a:rPr lang="zh-CN" sz="1350" dirty="0">
                  <a:solidFill>
                    <a:schemeClr val="dk1"/>
                  </a:solidFill>
                  <a:latin typeface="+mn-lt"/>
                  <a:ea typeface="+mn-ea"/>
                  <a:cs typeface="+mn-cs"/>
                </a:rPr>
                <a:t>oracle@k 扩档 k=7 为 20.90 dB；标定后选择悔值 +3.20 dB、top2 命中 86%</a:t>
              </a:r>
              <a:br/>
              <a:r>
                <a:rPr lang="zh-CN" sz="1350" dirty="0">
                  <a:solidFill>
                    <a:schemeClr val="dk1"/>
                  </a:solidFill>
                  <a:latin typeface="+mn-lt"/>
                  <a:ea typeface="+mn-ea"/>
                  <a:cs typeface="+mn-cs"/>
                </a:rPr>
                <a:t>按采纳门仍需改进 —— 诚实标注为「储备」而非「已解决」</a:t>
              </a:r>
              <a:br/>
              <a:r>
                <a:rPr lang="zh-CN" sz="1350" dirty="0">
                  <a:solidFill>
                    <a:schemeClr val="dk1"/>
                  </a:solidFill>
                  <a:latin typeface="+mn-lt"/>
                  <a:ea typeface="+mn-ea"/>
                  <a:cs typeface="+mn-cs"/>
                </a:rPr>
                <a:t>新颖性：文献调研确认「单帧 + 硬边界 + 离散档 + 深衰减」无人占位</a:t>
              </a:r>
            </a:p>
          </p:txBody>
        </p:sp>
      </p:grpSp>
      <p:grpSp>
        <p:nvGrpSpPr>
          <p:cNvPr id="28" name="page-footer"/>
          <p:cNvGrpSpPr/>
          <p:nvPr/>
        </p:nvGrpSpPr>
        <p:grpSpPr>
          <a:xfrm>
            <a:off x="603504" y="6252210"/>
            <a:ext cx="10984992" cy="234696"/>
            <a:chOff x="603504" y="6252210"/>
            <a:chExt cx="10984992" cy="234696"/>
          </a:xfrm>
        </p:grpSpPr>
        <p:sp>
          <p:nvSpPr>
            <p:cNvPr id="26" name="TextBox 26"/>
            <p:cNvSpPr txBox="1"/>
            <p:nvPr/>
          </p:nvSpPr>
          <p:spPr>
            <a:xfrm>
              <a:off x="603504" y="6252210"/>
              <a:ext cx="587623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docs/2026.9.17 批次1 锚点探针 · 两项锚点均为零训练；全膜协议暂列储备</a:t>
              </a:r>
            </a:p>
          </p:txBody>
        </p:sp>
        <p:sp>
          <p:nvSpPr>
            <p:cNvPr id="27" name="TextBox 27"/>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16 / 17</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384848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三条判断与推进节奏</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judgment-mainline"/>
          <p:cNvGrpSpPr/>
          <p:nvPr/>
        </p:nvGrpSpPr>
        <p:grpSpPr>
          <a:xfrm>
            <a:off x="600456" y="1466850"/>
            <a:ext cx="3514344" cy="1966151"/>
            <a:chOff x="600456" y="1466850"/>
            <a:chExt cx="3514344" cy="1966151"/>
          </a:xfrm>
        </p:grpSpPr>
        <p:sp>
          <p:nvSpPr>
            <p:cNvPr id="5" name="Rectangle 5"/>
            <p:cNvSpPr/>
            <p:nvPr/>
          </p:nvSpPr>
          <p:spPr>
            <a:xfrm>
              <a:off x="609600" y="1466850"/>
              <a:ext cx="457200" cy="28575"/>
            </a:xfrm>
            <a:prstGeom prst="rect">
              <a:avLst/>
            </a:prstGeom>
            <a:solidFill>
              <a:schemeClr val="accent2"/>
            </a:solidFill>
            <a:ln>
              <a:noFill/>
            </a:ln>
          </p:spPr>
        </p:sp>
        <p:sp>
          <p:nvSpPr>
            <p:cNvPr id="6" name="TextBox 6"/>
            <p:cNvSpPr txBox="1"/>
            <p:nvPr/>
          </p:nvSpPr>
          <p:spPr>
            <a:xfrm>
              <a:off x="600456" y="1634490"/>
              <a:ext cx="152246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判断一 · 主线</a:t>
              </a:r>
            </a:p>
          </p:txBody>
        </p:sp>
        <p:sp>
          <p:nvSpPr>
            <p:cNvPr id="7" name="Line 7"/>
            <p:cNvSpPr/>
            <p:nvPr/>
          </p:nvSpPr>
          <p:spPr>
            <a:xfrm>
              <a:off x="609600" y="201930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8" name="TextBox 8"/>
            <p:cNvSpPr txBox="1"/>
            <p:nvPr/>
          </p:nvSpPr>
          <p:spPr>
            <a:xfrm>
              <a:off x="602742" y="2178368"/>
              <a:ext cx="2611184"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论文押「域适配 + 可辨识性地图」</a:t>
              </a:r>
              <a:br/>
              <a:r>
                <a:rPr lang="zh-CN" sz="1350" dirty="0">
                  <a:solidFill>
                    <a:schemeClr val="dk1"/>
                  </a:solidFill>
                  <a:latin typeface="+mn-lt"/>
                  <a:ea typeface="+mn-ea"/>
                  <a:cs typeface="+mn-cs"/>
                </a:rPr>
                <a:t>主结果 12 → 18.5 dB</a:t>
              </a:r>
              <a:br/>
              <a:r>
                <a:rPr lang="zh-CN" sz="1350" dirty="0">
                  <a:solidFill>
                    <a:schemeClr val="dk1"/>
                  </a:solidFill>
                  <a:latin typeface="+mn-lt"/>
                  <a:ea typeface="+mn-ea"/>
                  <a:cs typeface="+mn-cs"/>
                </a:rPr>
                <a:t>把边界量化成图</a:t>
              </a:r>
              <a:br/>
              <a:r>
                <a:rPr lang="zh-CN" sz="1350" dirty="0">
                  <a:solidFill>
                    <a:schemeClr val="dk1"/>
                  </a:solidFill>
                  <a:latin typeface="+mn-lt"/>
                  <a:ea typeface="+mn-ea"/>
                  <a:cs typeface="+mn-cs"/>
                </a:rPr>
                <a:t>方法增量是上行空间，不是前提</a:t>
              </a:r>
            </a:p>
          </p:txBody>
        </p:sp>
        <p:sp>
          <p:nvSpPr>
            <p:cNvPr id="9" name="TextBox 9"/>
            <p:cNvSpPr txBox="1"/>
            <p:nvPr/>
          </p:nvSpPr>
          <p:spPr>
            <a:xfrm>
              <a:off x="602742" y="3168968"/>
              <a:ext cx="74066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主线不动</a:t>
              </a:r>
            </a:p>
          </p:txBody>
        </p:sp>
      </p:grpSp>
      <p:grpSp>
        <p:nvGrpSpPr>
          <p:cNvPr id="16" name="judgment-stoploss"/>
          <p:cNvGrpSpPr/>
          <p:nvPr/>
        </p:nvGrpSpPr>
        <p:grpSpPr>
          <a:xfrm>
            <a:off x="4334256" y="1466850"/>
            <a:ext cx="3514344" cy="1966151"/>
            <a:chOff x="4334256" y="1466850"/>
            <a:chExt cx="3514344" cy="1966151"/>
          </a:xfrm>
        </p:grpSpPr>
        <p:sp>
          <p:nvSpPr>
            <p:cNvPr id="11" name="Rectangle 11"/>
            <p:cNvSpPr/>
            <p:nvPr/>
          </p:nvSpPr>
          <p:spPr>
            <a:xfrm>
              <a:off x="4343400" y="1466850"/>
              <a:ext cx="457200" cy="28575"/>
            </a:xfrm>
            <a:prstGeom prst="rect">
              <a:avLst/>
            </a:prstGeom>
            <a:solidFill>
              <a:schemeClr val="accent3"/>
            </a:solidFill>
            <a:ln>
              <a:noFill/>
            </a:ln>
          </p:spPr>
        </p:sp>
        <p:sp>
          <p:nvSpPr>
            <p:cNvPr id="12" name="TextBox 12"/>
            <p:cNvSpPr txBox="1"/>
            <p:nvPr/>
          </p:nvSpPr>
          <p:spPr>
            <a:xfrm>
              <a:off x="4334256" y="1634490"/>
              <a:ext cx="152246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判断二 · 止损</a:t>
              </a:r>
            </a:p>
          </p:txBody>
        </p:sp>
        <p:sp>
          <p:nvSpPr>
            <p:cNvPr id="13" name="Line 13"/>
            <p:cNvSpPr/>
            <p:nvPr/>
          </p:nvSpPr>
          <p:spPr>
            <a:xfrm>
              <a:off x="4343400" y="201930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14" name="TextBox 14"/>
            <p:cNvSpPr txBox="1"/>
            <p:nvPr/>
          </p:nvSpPr>
          <p:spPr>
            <a:xfrm>
              <a:off x="4336542" y="2178368"/>
              <a:ext cx="2242566"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出口在低 α 档判死</a:t>
              </a:r>
              <a:br/>
              <a:r>
                <a:rPr lang="zh-CN" sz="1350" dirty="0">
                  <a:solidFill>
                    <a:schemeClr val="dk1"/>
                  </a:solidFill>
                  <a:latin typeface="+mn-lt"/>
                  <a:ea typeface="+mn-ea"/>
                  <a:cs typeface="+mn-cs"/>
                </a:rPr>
                <a:t>判死的原因是 α，不是机制</a:t>
              </a:r>
              <a:br/>
              <a:r>
                <a:rPr lang="zh-CN" sz="1350" dirty="0">
                  <a:solidFill>
                    <a:schemeClr val="dk1"/>
                  </a:solidFill>
                  <a:latin typeface="+mn-lt"/>
                  <a:ea typeface="+mn-ea"/>
                  <a:cs typeface="+mn-cs"/>
                </a:rPr>
                <a:t>重启条件 = α 跨域误差足够小</a:t>
              </a:r>
              <a:br/>
              <a:r>
                <a:rPr lang="zh-CN" sz="1350" dirty="0">
                  <a:solidFill>
                    <a:schemeClr val="dk1"/>
                  </a:solidFill>
                  <a:latin typeface="+mn-lt"/>
                  <a:ea typeface="+mn-ea"/>
                  <a:cs typeface="+mn-cs"/>
                </a:rPr>
                <a:t>不再投入算力</a:t>
              </a:r>
            </a:p>
          </p:txBody>
        </p:sp>
        <p:sp>
          <p:nvSpPr>
            <p:cNvPr id="15" name="TextBox 15"/>
            <p:cNvSpPr txBox="1"/>
            <p:nvPr/>
          </p:nvSpPr>
          <p:spPr>
            <a:xfrm>
              <a:off x="4336542" y="3168968"/>
              <a:ext cx="110413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该止损就止损</a:t>
              </a:r>
            </a:p>
          </p:txBody>
        </p:sp>
      </p:grpSp>
      <p:grpSp>
        <p:nvGrpSpPr>
          <p:cNvPr id="22" name="judgment-newdirection"/>
          <p:cNvGrpSpPr/>
          <p:nvPr/>
        </p:nvGrpSpPr>
        <p:grpSpPr>
          <a:xfrm>
            <a:off x="8068056" y="1466850"/>
            <a:ext cx="3514344" cy="1966151"/>
            <a:chOff x="8068056" y="1466850"/>
            <a:chExt cx="3514344" cy="1966151"/>
          </a:xfrm>
        </p:grpSpPr>
        <p:sp>
          <p:nvSpPr>
            <p:cNvPr id="17" name="Rectangle 17"/>
            <p:cNvSpPr/>
            <p:nvPr/>
          </p:nvSpPr>
          <p:spPr>
            <a:xfrm>
              <a:off x="8077200" y="1466850"/>
              <a:ext cx="457200" cy="28575"/>
            </a:xfrm>
            <a:prstGeom prst="rect">
              <a:avLst/>
            </a:prstGeom>
            <a:solidFill>
              <a:schemeClr val="accent2"/>
            </a:solidFill>
            <a:ln>
              <a:noFill/>
            </a:ln>
          </p:spPr>
        </p:sp>
        <p:sp>
          <p:nvSpPr>
            <p:cNvPr id="18" name="TextBox 18"/>
            <p:cNvSpPr txBox="1"/>
            <p:nvPr/>
          </p:nvSpPr>
          <p:spPr>
            <a:xfrm>
              <a:off x="8068056" y="1634490"/>
              <a:ext cx="176478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判断三 · 新方向</a:t>
              </a:r>
            </a:p>
          </p:txBody>
        </p:sp>
        <p:sp>
          <p:nvSpPr>
            <p:cNvPr id="19" name="Line 19"/>
            <p:cNvSpPr/>
            <p:nvPr/>
          </p:nvSpPr>
          <p:spPr>
            <a:xfrm>
              <a:off x="8077200" y="201930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20" name="TextBox 20"/>
            <p:cNvSpPr txBox="1"/>
            <p:nvPr/>
          </p:nvSpPr>
          <p:spPr>
            <a:xfrm>
              <a:off x="8070342" y="2178368"/>
              <a:ext cx="2105406"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特征侧 Mona PEFT</a:t>
              </a:r>
              <a:br/>
              <a:r>
                <a:rPr lang="zh-CN" sz="1350" dirty="0">
                  <a:solidFill>
                    <a:schemeClr val="dk1"/>
                  </a:solidFill>
                  <a:latin typeface="+mn-lt"/>
                  <a:ea typeface="+mn-ea"/>
                  <a:cs typeface="+mn-cs"/>
                </a:rPr>
                <a:t>数据侧 RRW 扩池 131 → 287</a:t>
              </a:r>
              <a:br/>
              <a:r>
                <a:rPr lang="zh-CN" sz="1350" dirty="0">
                  <a:solidFill>
                    <a:schemeClr val="dk1"/>
                  </a:solidFill>
                  <a:latin typeface="+mn-lt"/>
                  <a:ea typeface="+mn-ea"/>
                  <a:cs typeface="+mn-cs"/>
                </a:rPr>
                <a:t>两条腿并行验证</a:t>
              </a:r>
              <a:br/>
              <a:r>
                <a:rPr lang="zh-CN" sz="1350" dirty="0">
                  <a:solidFill>
                    <a:schemeClr val="dk1"/>
                  </a:solidFill>
                  <a:latin typeface="+mn-lt"/>
                  <a:ea typeface="+mn-ea"/>
                  <a:cs typeface="+mn-cs"/>
                </a:rPr>
                <a:t>本周内出判决</a:t>
              </a:r>
            </a:p>
          </p:txBody>
        </p:sp>
        <p:sp>
          <p:nvSpPr>
            <p:cNvPr id="21" name="TextBox 21"/>
            <p:cNvSpPr txBox="1"/>
            <p:nvPr/>
          </p:nvSpPr>
          <p:spPr>
            <a:xfrm>
              <a:off x="8070342" y="3168968"/>
              <a:ext cx="92240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本周出判决</a:t>
              </a:r>
            </a:p>
          </p:txBody>
        </p:sp>
      </p:grpSp>
      <p:grpSp>
        <p:nvGrpSpPr>
          <p:cNvPr id="36" name="p16-plan"/>
          <p:cNvGrpSpPr/>
          <p:nvPr/>
        </p:nvGrpSpPr>
        <p:grpSpPr>
          <a:xfrm>
            <a:off x="609600" y="3844290"/>
            <a:ext cx="10972800" cy="1322261"/>
            <a:chOff x="609600" y="3844290"/>
            <a:chExt cx="10972800" cy="1322261"/>
          </a:xfrm>
        </p:grpSpPr>
        <p:sp>
          <p:nvSpPr>
            <p:cNvPr id="23" name="Line 23"/>
            <p:cNvSpPr/>
            <p:nvPr/>
          </p:nvSpPr>
          <p:spPr>
            <a:xfrm>
              <a:off x="609600" y="4419600"/>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24" name="TextBox 24"/>
            <p:cNvSpPr txBox="1"/>
            <p:nvPr/>
          </p:nvSpPr>
          <p:spPr>
            <a:xfrm>
              <a:off x="2186940" y="3844290"/>
              <a:ext cx="502920"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本周</a:t>
              </a:r>
            </a:p>
          </p:txBody>
        </p:sp>
        <p:sp>
          <p:nvSpPr>
            <p:cNvPr id="25" name="Line 25"/>
            <p:cNvSpPr/>
            <p:nvPr/>
          </p:nvSpPr>
          <p:spPr>
            <a:xfrm>
              <a:off x="2438400" y="4171950"/>
              <a:ext cx="9525" cy="152400"/>
            </a:xfrm>
            <a:custGeom>
              <a:avLst/>
              <a:gdLst/>
              <a:ahLst/>
              <a:cxnLst/>
              <a:rect l="l" t="t" r="r" b="b"/>
              <a:pathLst>
                <a:path w="9525" h="152400">
                  <a:moveTo>
                    <a:pt x="0" y="0"/>
                  </a:moveTo>
                  <a:lnTo>
                    <a:pt x="0" y="152400"/>
                  </a:lnTo>
                </a:path>
              </a:pathLst>
            </a:custGeom>
            <a:noFill/>
            <a:ln w="19050">
              <a:solidFill>
                <a:schemeClr val="accent2"/>
              </a:solidFill>
            </a:ln>
          </p:spPr>
        </p:sp>
        <p:sp>
          <p:nvSpPr>
            <p:cNvPr id="26" name="Ellipse 26"/>
            <p:cNvSpPr/>
            <p:nvPr/>
          </p:nvSpPr>
          <p:spPr>
            <a:xfrm>
              <a:off x="2352675" y="4333875"/>
              <a:ext cx="171450" cy="171450"/>
            </a:xfrm>
            <a:prstGeom prst="ellipse">
              <a:avLst/>
            </a:prstGeom>
            <a:solidFill>
              <a:schemeClr val="accent2"/>
            </a:solidFill>
            <a:ln>
              <a:noFill/>
            </a:ln>
          </p:spPr>
        </p:sp>
        <p:sp>
          <p:nvSpPr>
            <p:cNvPr id="27" name="TextBox 27"/>
            <p:cNvSpPr txBox="1"/>
            <p:nvPr/>
          </p:nvSpPr>
          <p:spPr>
            <a:xfrm>
              <a:off x="1544288" y="4654868"/>
              <a:ext cx="1788224"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PEFT / 扩池两条腿并行</a:t>
              </a:r>
              <a:br/>
              <a:r>
                <a:rPr lang="zh-CN" sz="1350" dirty="0">
                  <a:solidFill>
                    <a:schemeClr val="dk1"/>
                  </a:solidFill>
                  <a:latin typeface="+mn-lt"/>
                  <a:ea typeface="+mn-ea"/>
                  <a:cs typeface="+mn-cs"/>
                </a:rPr>
                <a:t>冒烟与判决</a:t>
              </a:r>
            </a:p>
          </p:txBody>
        </p:sp>
        <p:sp>
          <p:nvSpPr>
            <p:cNvPr id="28" name="TextBox 28"/>
            <p:cNvSpPr txBox="1"/>
            <p:nvPr/>
          </p:nvSpPr>
          <p:spPr>
            <a:xfrm>
              <a:off x="5844540" y="3844290"/>
              <a:ext cx="502920"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下周</a:t>
              </a:r>
            </a:p>
          </p:txBody>
        </p:sp>
        <p:sp>
          <p:nvSpPr>
            <p:cNvPr id="29" name="Line 29"/>
            <p:cNvSpPr/>
            <p:nvPr/>
          </p:nvSpPr>
          <p:spPr>
            <a:xfrm>
              <a:off x="6096000" y="4171950"/>
              <a:ext cx="9525" cy="152400"/>
            </a:xfrm>
            <a:custGeom>
              <a:avLst/>
              <a:gdLst/>
              <a:ahLst/>
              <a:cxnLst/>
              <a:rect l="l" t="t" r="r" b="b"/>
              <a:pathLst>
                <a:path w="9525" h="152400">
                  <a:moveTo>
                    <a:pt x="0" y="0"/>
                  </a:moveTo>
                  <a:lnTo>
                    <a:pt x="0" y="152400"/>
                  </a:lnTo>
                </a:path>
              </a:pathLst>
            </a:custGeom>
            <a:noFill/>
            <a:ln w="19050">
              <a:solidFill>
                <a:schemeClr val="accent2"/>
              </a:solidFill>
            </a:ln>
          </p:spPr>
        </p:sp>
        <p:sp>
          <p:nvSpPr>
            <p:cNvPr id="30" name="Ellipse 30"/>
            <p:cNvSpPr/>
            <p:nvPr/>
          </p:nvSpPr>
          <p:spPr>
            <a:xfrm>
              <a:off x="6010275" y="4333875"/>
              <a:ext cx="171450" cy="171450"/>
            </a:xfrm>
            <a:prstGeom prst="ellipse">
              <a:avLst/>
            </a:prstGeom>
            <a:solidFill>
              <a:schemeClr val="accent2"/>
            </a:solidFill>
            <a:ln>
              <a:noFill/>
            </a:ln>
          </p:spPr>
        </p:sp>
        <p:sp>
          <p:nvSpPr>
            <p:cNvPr id="31" name="TextBox 31"/>
            <p:cNvSpPr txBox="1"/>
            <p:nvPr/>
          </p:nvSpPr>
          <p:spPr>
            <a:xfrm>
              <a:off x="5574792" y="4654868"/>
              <a:ext cx="1042416"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结构锚进训练</a:t>
              </a:r>
              <a:br/>
              <a:r>
                <a:rPr lang="zh-CN" sz="1350" dirty="0">
                  <a:solidFill>
                    <a:schemeClr val="dk1"/>
                  </a:solidFill>
                  <a:latin typeface="+mn-lt"/>
                  <a:ea typeface="+mn-ea"/>
                  <a:cs typeface="+mn-cs"/>
                </a:rPr>
                <a:t>做一致性损失</a:t>
              </a:r>
            </a:p>
          </p:txBody>
        </p:sp>
        <p:sp>
          <p:nvSpPr>
            <p:cNvPr id="32" name="TextBox 32"/>
            <p:cNvSpPr txBox="1"/>
            <p:nvPr/>
          </p:nvSpPr>
          <p:spPr>
            <a:xfrm>
              <a:off x="9017508" y="3844290"/>
              <a:ext cx="1472184"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数据到位即排</a:t>
              </a:r>
            </a:p>
          </p:txBody>
        </p:sp>
        <p:sp>
          <p:nvSpPr>
            <p:cNvPr id="33" name="Line 33"/>
            <p:cNvSpPr/>
            <p:nvPr/>
          </p:nvSpPr>
          <p:spPr>
            <a:xfrm>
              <a:off x="9753600" y="4171950"/>
              <a:ext cx="9525" cy="152400"/>
            </a:xfrm>
            <a:custGeom>
              <a:avLst/>
              <a:gdLst/>
              <a:ahLst/>
              <a:cxnLst/>
              <a:rect l="l" t="t" r="r" b="b"/>
              <a:pathLst>
                <a:path w="9525" h="152400">
                  <a:moveTo>
                    <a:pt x="0" y="0"/>
                  </a:moveTo>
                  <a:lnTo>
                    <a:pt x="0" y="152400"/>
                  </a:lnTo>
                </a:path>
              </a:pathLst>
            </a:custGeom>
            <a:noFill/>
            <a:ln w="19050">
              <a:solidFill>
                <a:schemeClr val="accent2"/>
              </a:solidFill>
            </a:ln>
          </p:spPr>
        </p:sp>
        <p:sp>
          <p:nvSpPr>
            <p:cNvPr id="34" name="Ellipse 34"/>
            <p:cNvSpPr/>
            <p:nvPr/>
          </p:nvSpPr>
          <p:spPr>
            <a:xfrm>
              <a:off x="9667875" y="4333875"/>
              <a:ext cx="171450" cy="171450"/>
            </a:xfrm>
            <a:prstGeom prst="ellipse">
              <a:avLst/>
            </a:prstGeom>
            <a:solidFill>
              <a:schemeClr val="accent2"/>
            </a:solidFill>
            <a:ln>
              <a:noFill/>
            </a:ln>
          </p:spPr>
        </p:sp>
        <p:sp>
          <p:nvSpPr>
            <p:cNvPr id="35" name="TextBox 35"/>
            <p:cNvSpPr txBox="1"/>
            <p:nvPr/>
          </p:nvSpPr>
          <p:spPr>
            <a:xfrm>
              <a:off x="9090946" y="4654868"/>
              <a:ext cx="1325309"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实拍 sanity 验证</a:t>
              </a:r>
              <a:br/>
              <a:r>
                <a:rPr lang="zh-CN" sz="1350" dirty="0">
                  <a:solidFill>
                    <a:schemeClr val="dk1"/>
                  </a:solidFill>
                  <a:latin typeface="+mn-lt"/>
                  <a:ea typeface="+mn-ea"/>
                  <a:cs typeface="+mn-cs"/>
                </a:rPr>
                <a:t>补定量缺口</a:t>
              </a:r>
            </a:p>
          </p:txBody>
        </p:sp>
      </p:grpSp>
      <p:grpSp>
        <p:nvGrpSpPr>
          <p:cNvPr id="39" name="page-footer"/>
          <p:cNvGrpSpPr/>
          <p:nvPr/>
        </p:nvGrpSpPr>
        <p:grpSpPr>
          <a:xfrm>
            <a:off x="603504" y="6252210"/>
            <a:ext cx="10984992" cy="234696"/>
            <a:chOff x="603504" y="6252210"/>
            <a:chExt cx="10984992" cy="234696"/>
          </a:xfrm>
        </p:grpSpPr>
        <p:sp>
          <p:nvSpPr>
            <p:cNvPr id="37" name="TextBox 37"/>
            <p:cNvSpPr txBox="1"/>
            <p:nvPr/>
          </p:nvSpPr>
          <p:spPr>
            <a:xfrm>
              <a:off x="603504" y="6252210"/>
              <a:ext cx="372770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风险如实说：主结论均为合成域结论，实拍定量待补</a:t>
              </a:r>
            </a:p>
          </p:txBody>
        </p:sp>
        <p:sp>
          <p:nvSpPr>
            <p:cNvPr id="38" name="TextBox 38"/>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17 / 17</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tintedglass_sept_review">
  <a:themeElements>
    <a:clrScheme name="tintedglass_sept_review">
      <a:dk1>
        <a:srgbClr val="17202A"/>
      </a:dk1>
      <a:lt1>
        <a:srgbClr val="FFFFFF"/>
      </a:lt1>
      <a:dk2>
        <a:srgbClr val="1F497D"/>
      </a:dk2>
      <a:lt2>
        <a:srgbClr val="F1F4F6"/>
      </a:lt2>
      <a:accent1>
        <a:srgbClr val="123A5C"/>
      </a:accent1>
      <a:accent2>
        <a:srgbClr val="0E7C86"/>
      </a:accent2>
      <a:accent3>
        <a:srgbClr val="C2410C"/>
      </a:accent3>
      <a:accent4>
        <a:srgbClr val="123A5C"/>
      </a:accent4>
      <a:accent5>
        <a:srgbClr val="5A6672"/>
      </a:accent5>
      <a:accent6>
        <a:srgbClr val="D5DCE2"/>
      </a:accent6>
      <a:hlink>
        <a:srgbClr val="0E7C86"/>
      </a:hlink>
      <a:folHlink>
        <a:srgbClr val="C2410C"/>
      </a:folHlink>
    </a:clrScheme>
    <a:fontScheme name="tintedglass_sept_review">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intedglass_sept_revie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intedglass_sept_review">
  <a:themeElements>
    <a:clrScheme name="tintedglass_sept_review">
      <a:dk1>
        <a:srgbClr val="17202A"/>
      </a:dk1>
      <a:lt1>
        <a:srgbClr val="FFFFFF"/>
      </a:lt1>
      <a:dk2>
        <a:srgbClr val="1F497D"/>
      </a:dk2>
      <a:lt2>
        <a:srgbClr val="F1F4F6"/>
      </a:lt2>
      <a:accent1>
        <a:srgbClr val="123A5C"/>
      </a:accent1>
      <a:accent2>
        <a:srgbClr val="0E7C86"/>
      </a:accent2>
      <a:accent3>
        <a:srgbClr val="C2410C"/>
      </a:accent3>
      <a:accent4>
        <a:srgbClr val="123A5C"/>
      </a:accent4>
      <a:accent5>
        <a:srgbClr val="5A6672"/>
      </a:accent5>
      <a:accent6>
        <a:srgbClr val="D5DCE2"/>
      </a:accent6>
      <a:hlink>
        <a:srgbClr val="0E7C86"/>
      </a:hlink>
      <a:folHlink>
        <a:srgbClr val="C2410C"/>
      </a:folHlink>
    </a:clrScheme>
    <a:fontScheme name="tintedglass_sept_review">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intedglass_sept_revie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2026-09-17T00:17:19Z</dcterms:created>
  <dcterms:modified xsi:type="dcterms:W3CDTF">2026-09-17T00:17:19Z</dcterms:modified>
  <cp:category/>
  <cp:contentStatus/>
</cp:coreProperties>
</file>